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38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1A2560">
              <a:alpha val="60000"/>
            </a:srgbClr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548640"/>
            <a:ext cx="3840480" cy="3840480"/>
          </a:xfrm>
          <a:prstGeom prst="ellipse">
            <a:avLst/>
          </a:prstGeom>
          <a:solidFill>
            <a:srgbClr val="1E2D7A">
              <a:alpha val="80000"/>
            </a:srgbClr>
          </a:solidFill>
          <a:ln w="12700">
            <a:solidFill>
              <a:srgbClr val="1E2D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73152" cy="27432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88720"/>
            <a:ext cx="2377440" cy="3474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</a:rPr>
              <a:t>AI × 政治策略 课程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AI是你的镜子</a:t>
            </a:r>
            <a:endParaRPr lang="en-US" sz="4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更是一把双面刃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EC8E3"/>
                </a:solidFill>
              </a:rPr>
              <a:t>政治团队如何用AI赢得选票（而非流失选票）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CC"/>
                </a:solidFill>
              </a:rPr>
              <a:t>~ By ChatGPT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0F2E"/>
                </a:solidFill>
              </a:rPr>
              <a:t>© AI Guru Course  |  版权所有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第一课 · 核心认知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你的团队正在用AI做什么？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210312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97D"/>
                </a:solidFill>
              </a:rPr>
              <a:t>写更多文案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CC"/>
                </a:solidFill>
              </a:rPr>
              <a:t>批量生产帖子、声明、新闻稿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210312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97D"/>
                </a:solidFill>
              </a:rPr>
              <a:t>做更多图片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880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CC"/>
                </a:solidFill>
              </a:rPr>
              <a:t>自动生成宣传海报与制图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606040" cy="210312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2423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97D"/>
                </a:solidFill>
              </a:rPr>
              <a:t>产更多视频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CC"/>
                </a:solidFill>
              </a:rPr>
              <a:t>AI短视频、配音、字幕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8138160" cy="731520"/>
          </a:xfrm>
          <a:prstGeom prst="rect">
            <a:avLst/>
          </a:prstGeom>
          <a:solidFill>
            <a:srgbClr val="3A0F14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862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B3B3"/>
                </a:solidFill>
              </a:rPr>
              <a:t>⚠️  这些都只是AI最表面的用法 — 如果原本的方法就是错误的，AI只会让你「更快犯同样的错误」。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第二课 · 镜子原理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0F2E"/>
                </a:solidFill>
              </a:rPr>
              <a:t>AI 不会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0F2E"/>
                </a:solidFill>
              </a:rPr>
              <a:t>让你变聪明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它只会放大你团队既有的操作模式，产生更大的效应。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4023360" cy="411480"/>
          </a:xfrm>
          <a:prstGeom prst="rect">
            <a:avLst/>
          </a:prstGeom>
          <a:solidFill>
            <a:srgbClr val="E8FFF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063240"/>
            <a:ext cx="64008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聪明的团队 → AI加速成功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4023360" cy="411480"/>
          </a:xfrm>
          <a:prstGeom prst="rect">
            <a:avLst/>
          </a:prstGeom>
          <a:solidFill>
            <a:srgbClr val="FFFBE8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566160"/>
            <a:ext cx="64008" cy="4114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平庸的团队 → AI复制平庸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402336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069080"/>
            <a:ext cx="64008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69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错误的团队 → AI放大失败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713232"/>
            <a:ext cx="3200400" cy="4114800"/>
          </a:xfrm>
          <a:prstGeom prst="rect">
            <a:avLst/>
          </a:prstGeom>
          <a:solidFill>
            <a:srgbClr val="1A2560"/>
          </a:solidFill>
          <a:ln w="254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7132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</a:rPr>
              <a:t>🪞  AI 的镜子效应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32120" y="1325880"/>
            <a:ext cx="2743200" cy="502920"/>
          </a:xfrm>
          <a:prstGeom prst="rect">
            <a:avLst/>
          </a:prstGeom>
          <a:solidFill>
            <a:srgbClr val="2A3D9E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你的操作模式（输入）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32120" y="2331720"/>
            <a:ext cx="27432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331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E"/>
                </a:solidFill>
              </a:rPr>
              <a:t>AI  ×  放大器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32120" y="3337560"/>
            <a:ext cx="27432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放大后的结果（×5）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6CC"/>
                </a:solidFill>
              </a:rPr>
              <a:t>正确方法的5倍成效  或  错误方法的5倍损害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第三课 · 放大效应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Amplifier Effect — 双向放大定律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3200400"/>
          </a:xfrm>
          <a:prstGeom prst="rect">
            <a:avLst/>
          </a:prstGeom>
          <a:solidFill>
            <a:srgbClr val="2A0A0E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</a:rPr>
              <a:t>错误方法 ×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=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3B3"/>
                </a:solidFill>
              </a:rPr>
              <a:t>加速走向荷兰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6CC"/>
                </a:solidFill>
              </a:rPr>
              <a:t>更快 · 更便宜 · 更有效率地犯错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133088"/>
            <a:ext cx="365760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33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Multiplier Effect（负向）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931920" cy="3200400"/>
          </a:xfrm>
          <a:prstGeom prst="rect">
            <a:avLst/>
          </a:prstGeom>
          <a:solidFill>
            <a:srgbClr val="0A2818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</a:rPr>
              <a:t>正确方法 ×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7249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=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FFE8"/>
                </a:solidFill>
              </a:rPr>
              <a:t>指数级赢得选票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6CC"/>
                </a:solidFill>
              </a:rPr>
              <a:t>更精准 · 更有影响力 · 更值得投入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4133088"/>
            <a:ext cx="365760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133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E"/>
                </a:solidFill>
              </a:rPr>
              <a:t>Multiplier Effect（正向）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24528" y="2560320"/>
            <a:ext cx="640080" cy="6400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E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第四课 · 正确起点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2E"/>
                </a:solidFill>
              </a:rPr>
              <a:t>应用AI的第一步，不是内容生产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931920" cy="3108960"/>
          </a:xfrm>
          <a:prstGeom prst="rect">
            <a:avLst/>
          </a:prstGeom>
          <a:solidFill>
            <a:srgbClr val="FFF1F1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❌  大多数团队这样问AI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74720" cy="438912"/>
          </a:xfrm>
          <a:prstGeom prst="rect">
            <a:avLst/>
          </a:prstGeom>
          <a:solidFill>
            <a:srgbClr val="FFE4E4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0000"/>
                </a:solidFill>
              </a:rPr>
              <a:t>"帮我写一篇选举文案"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474720" cy="438912"/>
          </a:xfrm>
          <a:prstGeom prst="rect">
            <a:avLst/>
          </a:prstGeom>
          <a:solidFill>
            <a:srgbClr val="FFE4E4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0000"/>
                </a:solidFill>
              </a:rPr>
              <a:t>"生成五张竞选海报"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474720" cy="438912"/>
          </a:xfrm>
          <a:prstGeom prst="rect">
            <a:avLst/>
          </a:prstGeom>
          <a:solidFill>
            <a:srgbClr val="FFE4E4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0000"/>
                </a:solidFill>
              </a:rPr>
              <a:t>"制作10条短视频脚本"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474720" cy="438912"/>
          </a:xfrm>
          <a:prstGeom prst="rect">
            <a:avLst/>
          </a:prstGeom>
          <a:solidFill>
            <a:srgbClr val="FFE4E4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490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0000"/>
                </a:solidFill>
              </a:rPr>
              <a:t>"写一篇攻击对手的帖子"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3931920" cy="3108960"/>
          </a:xfrm>
          <a:prstGeom prst="rect">
            <a:avLst/>
          </a:prstGeom>
          <a:solidFill>
            <a:srgbClr val="F0FFF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✅  应该先这样问AI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103120"/>
            <a:ext cx="3474720" cy="438912"/>
          </a:xfrm>
          <a:prstGeom prst="rect">
            <a:avLst/>
          </a:prstGeom>
          <a:solidFill>
            <a:srgbClr val="E0FFF5"/>
          </a:solidFill>
          <a:ln w="12700">
            <a:solidFill>
              <a:srgbClr val="B3F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1031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6644"/>
                </a:solidFill>
              </a:rPr>
              <a:t>"我们忽略了哪些选民的需求？"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2651760"/>
            <a:ext cx="3474720" cy="438912"/>
          </a:xfrm>
          <a:prstGeom prst="rect">
            <a:avLst/>
          </a:prstGeom>
          <a:solidFill>
            <a:srgbClr val="E0FFF5"/>
          </a:solidFill>
          <a:ln w="12700">
            <a:solidFill>
              <a:srgbClr val="B3FF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651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6644"/>
                </a:solidFill>
              </a:rPr>
              <a:t>"哪些方向最有影响力（impactful）？"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3474720" cy="438912"/>
          </a:xfrm>
          <a:prstGeom prst="rect">
            <a:avLst/>
          </a:prstGeom>
          <a:solidFill>
            <a:srgbClr val="E0FFF5"/>
          </a:solidFill>
          <a:ln w="12700">
            <a:solidFill>
              <a:srgbClr val="B3FF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00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6644"/>
                </a:solidFill>
              </a:rPr>
              <a:t>"最值得优先投入的资源是什么？"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937760" y="3749040"/>
            <a:ext cx="3474720" cy="438912"/>
          </a:xfrm>
          <a:prstGeom prst="rect">
            <a:avLst/>
          </a:prstGeom>
          <a:solidFill>
            <a:srgbClr val="E0FFF5"/>
          </a:solidFill>
          <a:ln w="12700">
            <a:solidFill>
              <a:srgbClr val="B3F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7490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6644"/>
                </a:solidFill>
              </a:rPr>
              <a:t>"什么是最可行的短期解决方案？"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33672" y="2788920"/>
            <a:ext cx="640080" cy="6400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E"/>
                </a:solidFill>
              </a:rPr>
              <a:t>VS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7274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4A"/>
                </a:solidFill>
              </a:rPr>
              <a:t>要求AI说老实话，才是应用AI的正确第一步。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第五课 · 真实案例 #1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围剿策略 × AI = 更大的反感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1371600"/>
          </a:xfrm>
          <a:prstGeom prst="rect">
            <a:avLst/>
          </a:prstGeom>
          <a:solidFill>
            <a:srgbClr val="3A0F14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B3"/>
                </a:solidFill>
              </a:rPr>
              <a:t>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B3B3"/>
                </a:solidFill>
              </a:rPr>
              <a:t>围剿制图策略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16916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B429"/>
                </a:solidFill>
              </a:rPr>
              <a:t>×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2011680" cy="1371600"/>
          </a:xfrm>
          <a:prstGeom prst="rect">
            <a:avLst/>
          </a:prstGeom>
          <a:solidFill>
            <a:srgbClr val="1A1F4A"/>
          </a:solidFill>
          <a:ln w="1905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4630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C8E3"/>
                </a:solidFill>
              </a:rPr>
              <a:t>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EC8E3"/>
                </a:solidFill>
              </a:rPr>
              <a:t>AI 批量生产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6916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B429"/>
                </a:solidFill>
              </a:rPr>
              <a:t>=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2926080" cy="1371600"/>
          </a:xfrm>
          <a:prstGeom prst="rect">
            <a:avLst/>
          </a:prstGeom>
          <a:solidFill>
            <a:srgbClr val="3A0F14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3B3"/>
                </a:solidFill>
              </a:rPr>
              <a:t>🔥  主流媒体反感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B3"/>
                </a:solidFill>
              </a:rPr>
              <a:t>🔥  网络舆论逆转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B3"/>
                </a:solidFill>
              </a:rPr>
              <a:t>🔥  马来社会反弹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960120"/>
          </a:xfrm>
          <a:prstGeom prst="rect">
            <a:avLst/>
          </a:prstGeom>
          <a:solidFill>
            <a:srgbClr val="1A2560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73152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3639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📌  核心教训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F"/>
                </a:solidFill>
              </a:rPr>
              <a:t>如果围剿策略已经在引发反感，AI生成更多同类内容只会把反效果放大数倍。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EEFF"/>
                </a:solidFill>
              </a:rPr>
              <a:t>更多≠更好。方向错误，速度越快，离目标越远。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</a:rPr>
              <a:t>错误策略 × AI加速 = 加速失败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第六课 · 真实案例 #2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F2E"/>
                </a:solidFill>
              </a:rPr>
              <a:t>No Entry Trigger — 品牌绑定的致命陷阱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560320" cy="3200400"/>
          </a:xfrm>
          <a:prstGeom prst="rect">
            <a:avLst/>
          </a:prstGeom>
          <a:solidFill>
            <a:srgbClr val="E8EE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👨‍💼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E"/>
                </a:solidFill>
              </a:rPr>
              <a:t>有素质的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0F2E"/>
                </a:solidFill>
              </a:rPr>
              <a:t>候选人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</a:rPr>
              <a:t>✓ 亲民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</a:rPr>
              <a:t>✓ 有政绩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</a:rPr>
              <a:t>✓ 讲道理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237744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选民愿意聆听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B429"/>
                </a:solidFill>
              </a:rPr>
              <a:t>➕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2560320" cy="3200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1188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负面品牌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绑定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0000"/>
                </a:solidFill>
              </a:rPr>
              <a:t>✗ 已成「No Entry」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0000"/>
                </a:solidFill>
              </a:rPr>
              <a:t>✗ 部分选民拒绝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0000"/>
                </a:solidFill>
              </a:rPr>
              <a:t>✗ 反感先于聆听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3840480"/>
            <a:ext cx="237744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选民直接关闭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B429"/>
                </a:solidFill>
              </a:rPr>
              <a:t>=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2103120" cy="3200400"/>
          </a:xfrm>
          <a:prstGeom prst="rect">
            <a:avLst/>
          </a:prstGeom>
          <a:solidFill>
            <a:srgbClr val="FFF8E8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2286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</a:rPr>
              <a:t>精美党宣图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</a:rPr>
              <a:t>反替候选人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</a:rPr>
              <a:t>扣  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6CC"/>
                </a:solidFill>
              </a:rPr>
              <a:t>AI生成更多，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896CC"/>
                </a:solidFill>
              </a:rPr>
              <a:t>扣分也更快。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840480"/>
            <a:ext cx="1920240" cy="59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840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E"/>
                </a:solidFill>
              </a:rPr>
              <a:t>⚠️ 反效果放大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第七课 · AI不只是宣传工具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AI的价值，远超过「写更多文案」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演讲教练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Microsoft Teams Speech Coach — 改善语速、停顿与表达流畅度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即时提词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450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演讲时结合提词功能，减少忘词、结巴与失言风险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战略分析师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450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让AI客观分析你的选区数据、选民情绪与竞争对手弱点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信息测试员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A/B测试政治信息，找出真正能打动中立选民的关键词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20040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8328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舆情监测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142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实时追踪社交媒体情绪，在危机扩大前预警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2743200" cy="150876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0936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7D"/>
                </a:solidFill>
              </a:rPr>
              <a:t>盲点揭示器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4142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CC"/>
                </a:solidFill>
              </a:rPr>
              <a:t>要AI扮演「反对派选民」，指出你忽略的关键问题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dirty="0">
                <a:solidFill>
                  <a:schemeClr val="accent1"/>
                </a:solidFill>
              </a:rPr>
              <a:t>❝</a:t>
            </a:r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自己一直在说的话，</a:t>
            </a:r>
            <a:endParaRPr lang="en-US" sz="3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究竟有没有人愿意听？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0B429"/>
                </a:solidFill>
              </a:rPr>
              <a:t>自己一直在做的事，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0B429"/>
                </a:solidFill>
              </a:rPr>
              <a:t>究竟是在争取选票，还是在流失选票？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73152" cy="7315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896CC"/>
                </a:solidFill>
              </a:rPr>
              <a:t>AI最大的价值，不是替政治人物说更多话，</a:t>
            </a:r>
            <a:endParaRPr lang="en-US" sz="1450" dirty="0"/>
          </a:p>
          <a:p>
            <a:pPr marL="0" indent="0">
              <a:buNone/>
            </a:pPr>
            <a:r>
              <a:rPr lang="en-US" sz="1450" i="1" dirty="0">
                <a:solidFill>
                  <a:srgbClr val="8896CC"/>
                </a:solidFill>
              </a:rPr>
              <a:t>而是帮助政治人物发现自己正在做什么。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</a:rPr>
              <a:t>⚠️  AI最危险的地方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8896CC"/>
                </a:solidFill>
              </a:rPr>
              <a:t>从来不是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55555"/>
                </a:solidFill>
              </a:rPr>
              <a:t>它会犯错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657600" cy="0"/>
          </a:xfrm>
          <a:prstGeom prst="line">
            <a:avLst/>
          </a:prstGeom>
          <a:noFill/>
          <a:ln w="31750">
            <a:solidFill>
              <a:srgbClr val="55555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896CC"/>
                </a:solidFill>
              </a:rPr>
              <a:t>而是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它会把人的错误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放大得</a:t>
            </a:r>
            <a:br>
              <a:rPr lang="en-US" sz="3400" dirty="0"/>
            </a:br>
            <a:r>
              <a:rPr lang="zh-CN" altLang="en-US" sz="4000" b="1" dirty="0">
                <a:solidFill>
                  <a:srgbClr val="E63946"/>
                </a:solidFill>
              </a:rPr>
              <a:t>更快、更大规模、更有效率</a:t>
            </a:r>
            <a:endParaRPr lang="en-US" sz="34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课程内容 · 你将学到什么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F2E"/>
                </a:solidFill>
              </a:rPr>
              <a:t>AI × 政治策略 — 完整课程模块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94360" cy="1005840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AI镜子原理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理解放大效应，评估你的团队现状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94360" cy="1005840"/>
          </a:xfrm>
          <a:prstGeom prst="rect">
            <a:avLst/>
          </a:prstGeom>
          <a:solidFill>
            <a:srgbClr val="165A4A"/>
          </a:solidFill>
          <a:ln w="12700">
            <a:solidFill>
              <a:srgbClr val="165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54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战略问题框架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如何向AI提出真正有价值的问题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06040"/>
            <a:ext cx="594360" cy="1005840"/>
          </a:xfrm>
          <a:prstGeom prst="rect">
            <a:avLst/>
          </a:prstGeom>
          <a:solidFill>
            <a:srgbClr val="7A2000"/>
          </a:solidFill>
          <a:ln w="12700">
            <a:solidFill>
              <a:srgbClr val="7A2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06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697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No Entry Trigger识别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找出你的品牌与信息中的隐形地雷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06040"/>
            <a:ext cx="594360" cy="1005840"/>
          </a:xfrm>
          <a:prstGeom prst="rect">
            <a:avLst/>
          </a:prstGeom>
          <a:solidFill>
            <a:srgbClr val="5A1A6A"/>
          </a:solidFill>
          <a:ln w="12700">
            <a:solidFill>
              <a:srgbClr val="5A1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06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697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选民情绪分析实战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用AI分析选区数据与舆情动态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49040"/>
            <a:ext cx="594360" cy="100584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840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AI演讲与沟通工具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251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Speech Coach、提词器的实际应用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49040"/>
            <a:ext cx="594360" cy="1005840"/>
          </a:xfrm>
          <a:prstGeom prst="rect">
            <a:avLst/>
          </a:prstGeom>
          <a:solidFill>
            <a:srgbClr val="4A4A00"/>
          </a:solidFill>
          <a:ln w="12700">
            <a:solidFill>
              <a:srgbClr val="4A4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490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840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</a:rPr>
              <a:t>从现状到行动计划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4251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77"/>
                </a:solidFill>
              </a:rPr>
              <a:t>不花大钱、不靠AI Guru，自己动手试错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A4A"/>
                </a:solidFill>
              </a:rPr>
              <a:t>🎯  不需要花大钱办分享会 · 只需保持好奇心、不断向AI提出建设性问题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5817" y="772668"/>
            <a:ext cx="4158183" cy="4370832"/>
          </a:xfrm>
          <a:prstGeom prst="ellipse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4158184" cy="4169664"/>
          </a:xfrm>
          <a:prstGeom prst="ellipse">
            <a:avLst/>
          </a:prstGeom>
          <a:solidFill>
            <a:srgbClr val="0A1235"/>
          </a:solidFill>
          <a:ln w="12700">
            <a:solidFill>
              <a:srgbClr val="0A1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</a:rPr>
              <a:t>实战篇 · 100个AI头脑风暴问题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8896CC"/>
                </a:solidFill>
              </a:rPr>
              <a:t>目标不是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44466"/>
                </a:solidFill>
              </a:rPr>
              <a:t>赢下网络留言区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2286000" y="2715768"/>
            <a:ext cx="4572000" cy="0"/>
          </a:xfrm>
          <a:prstGeom prst="line">
            <a:avLst/>
          </a:prstGeom>
          <a:noFill/>
          <a:ln w="25400">
            <a:solidFill>
              <a:srgbClr val="33335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6CC"/>
                </a:solidFill>
              </a:rPr>
              <a:t>而是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B429"/>
                </a:solidFill>
              </a:rPr>
              <a:t>赢下下一场州选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91A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CC"/>
                </a:solidFill>
              </a:rPr>
              <a:t>AI Guru Course  |  AI × 政治策略  |  版权所有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AI Brainstorming 框架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11个维度 × 100个战略问题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896CC"/>
                </a:solidFill>
              </a:rPr>
              <a:t>适用于：行动党州委会</a:t>
            </a:r>
            <a:r>
              <a:rPr lang="en-US" sz="1300" dirty="0">
                <a:solidFill>
                  <a:srgbClr val="8896CC"/>
                </a:solidFill>
              </a:rPr>
              <a:t> · 国州议员办公室 · 竞选委员会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0" cy="804672"/>
          </a:xfrm>
          <a:prstGeom prst="rect">
            <a:avLst/>
          </a:prstGeom>
          <a:solidFill>
            <a:srgbClr val="1A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739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17739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选民到底在意什么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157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Q1–10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2011680" cy="804672"/>
          </a:xfrm>
          <a:prstGeom prst="rect">
            <a:avLst/>
          </a:prstGeom>
          <a:solidFill>
            <a:srgbClr val="1A6A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7739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52928" y="17739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哪些选区最危险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2928" y="2157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Q11–20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737360"/>
            <a:ext cx="2011680" cy="804672"/>
          </a:xfrm>
          <a:prstGeom prst="rect">
            <a:avLst/>
          </a:prstGeom>
          <a:solidFill>
            <a:srgbClr val="6A3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7739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01768" y="17739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选民认识议员吗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01768" y="2157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Q21–27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737360"/>
            <a:ext cx="2011680" cy="804672"/>
          </a:xfrm>
          <a:prstGeom prst="rect">
            <a:avLst/>
          </a:prstGeom>
          <a:solidFill>
            <a:srgbClr val="5A1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7739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50608" y="17739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服务中心真的有效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0608" y="2157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Q28–37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697480"/>
            <a:ext cx="2011680" cy="804672"/>
          </a:xfrm>
          <a:prstGeom prst="rect">
            <a:avLst/>
          </a:prstGeom>
          <a:solidFill>
            <a:srgbClr val="6A5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资源用在对的地方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Q38–46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2697480"/>
            <a:ext cx="2011680" cy="804672"/>
          </a:xfrm>
          <a:prstGeom prst="rect">
            <a:avLst/>
          </a:prstGeom>
          <a:solidFill>
            <a:srgbClr val="003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52928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年轻选民分析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52928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Q47–54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697480"/>
            <a:ext cx="2011680" cy="804672"/>
          </a:xfrm>
          <a:prstGeom prst="rect">
            <a:avLst/>
          </a:prstGeom>
          <a:solidFill>
            <a:srgbClr val="4A0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01768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短视频传播审查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01768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Q55–63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697480"/>
            <a:ext cx="2011680" cy="804672"/>
          </a:xfrm>
          <a:prstGeom prst="rect">
            <a:avLst/>
          </a:prstGeom>
          <a:solidFill>
            <a:srgbClr val="3A0A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0608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马来票真实情况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0608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Q64–71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657600"/>
            <a:ext cx="2697480" cy="804672"/>
          </a:xfrm>
          <a:prstGeom prst="rect">
            <a:avLst/>
          </a:prstGeom>
          <a:solidFill>
            <a:srgbClr val="0A3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69417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" y="369417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基层组织强度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" y="40782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Q72–80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54680" y="3657600"/>
            <a:ext cx="2697480" cy="804672"/>
          </a:xfrm>
          <a:prstGeom prst="rect">
            <a:avLst/>
          </a:prstGeom>
          <a:solidFill>
            <a:srgbClr val="5A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369417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38728" y="369417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Team分析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38728" y="40782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Q81–88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3657600"/>
            <a:ext cx="2697480" cy="804672"/>
          </a:xfrm>
          <a:prstGeom prst="rect">
            <a:avLst/>
          </a:prstGeom>
          <a:solidFill>
            <a:srgbClr val="1A1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369417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73368" y="369417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AI时代资源重配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73368" y="40782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</a:rPr>
              <a:t>Q89–100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I &amp; II  ·  选民 + 选区风险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64008" cy="2057400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A0F2E"/>
                </a:solidFill>
              </a:rPr>
              <a:t>（</a:t>
            </a:r>
            <a:r>
              <a:rPr lang="en-US" sz="1600" b="1" dirty="0">
                <a:solidFill>
                  <a:srgbClr val="0A0F2E"/>
                </a:solidFill>
              </a:rPr>
              <a:t>一 </a:t>
            </a:r>
            <a:r>
              <a:rPr lang="zh-CN" altLang="en-US" sz="1600" b="1" dirty="0">
                <a:solidFill>
                  <a:srgbClr val="0A0F2E"/>
                </a:solidFill>
              </a:rPr>
              <a:t>）</a:t>
            </a:r>
            <a:r>
              <a:rPr lang="en-US" sz="1600" b="1" dirty="0" err="1">
                <a:solidFill>
                  <a:srgbClr val="0A0F2E"/>
                </a:solidFill>
              </a:rPr>
              <a:t>选民到底在意什么</a:t>
            </a:r>
            <a:r>
              <a:rPr lang="en-US" sz="1600" b="1" dirty="0">
                <a:solidFill>
                  <a:srgbClr val="0A0F2E"/>
                </a:solidFill>
              </a:rPr>
              <a:t>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</a:rPr>
              <a:t>很多政党最大的误判：以为社交媒体最吵的议题，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</a:rPr>
              <a:t>就是选民最在意的议题。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92608" cy="34747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3355"/>
                </a:solidFill>
              </a:rPr>
              <a:t>州各选区前十大民生投诉是什么</a:t>
            </a:r>
            <a:r>
              <a:rPr lang="en-US" sz="1150" dirty="0">
                <a:solidFill>
                  <a:srgbClr val="333355"/>
                </a:solidFill>
              </a:rPr>
              <a:t>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292608" cy="34747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2199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221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华人/马来/印裔最关注的问题是否相同？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292608" cy="34747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660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哪些问题已解决，但选民不知道？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292608" cy="34747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9981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99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年轻与退休选民最在意的有何不同？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292608" cy="34747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3872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538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城市与半城乡选区关注点有何差异？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658368"/>
            <a:ext cx="64008" cy="2057400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658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A0F2E"/>
                </a:solidFill>
              </a:rPr>
              <a:t>（</a:t>
            </a:r>
            <a:r>
              <a:rPr lang="en-US" sz="1600" b="1" dirty="0">
                <a:solidFill>
                  <a:srgbClr val="0A0F2E"/>
                </a:solidFill>
              </a:rPr>
              <a:t>二</a:t>
            </a:r>
            <a:r>
              <a:rPr lang="zh-CN" altLang="en-US" sz="1600" b="1" dirty="0">
                <a:solidFill>
                  <a:srgbClr val="0A0F2E"/>
                </a:solidFill>
              </a:rPr>
              <a:t>）</a:t>
            </a:r>
            <a:r>
              <a:rPr lang="en-US" sz="1600" b="1" dirty="0" err="1">
                <a:solidFill>
                  <a:srgbClr val="0A0F2E"/>
                </a:solidFill>
              </a:rPr>
              <a:t>哪些选区最危险</a:t>
            </a:r>
            <a:r>
              <a:rPr lang="en-US" sz="1600" b="1" dirty="0">
                <a:solidFill>
                  <a:srgbClr val="0A0F2E"/>
                </a:solidFill>
              </a:rPr>
              <a:t>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11155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</a:rPr>
              <a:t>如果明天解散州议会，风险评估应该围绕哪些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</a:rPr>
              <a:t>具体指标和地区？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1783080"/>
            <a:ext cx="292608" cy="347472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1783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哪些席位上届险胜，属高风险？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83480" y="2221992"/>
            <a:ext cx="292608" cy="347472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83480" y="222199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2221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哪些地区出现基层党员流失？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2660904"/>
            <a:ext cx="292608" cy="347472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6609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2660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哪些地区候选人面临接班危机？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83480" y="3099816"/>
            <a:ext cx="292608" cy="347472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09981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099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哪些地区议员满意度下滑？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83480" y="3538728"/>
            <a:ext cx="292608" cy="347472"/>
          </a:xfrm>
          <a:prstGeom prst="rect">
            <a:avLst/>
          </a:prstGeom>
          <a:solidFill>
            <a:srgbClr val="1A6A50"/>
          </a:solidFill>
          <a:ln w="12700">
            <a:solidFill>
              <a:srgbClr val="1A6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53872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538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哪些地区年轻选民支持率最不稳定？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B429"/>
                </a:solidFill>
              </a:rPr>
              <a:t>💡  把这20个问题输入AI，要求它生成一份你选区的「选民期望 vs 现实差距」分析报告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III &amp; IV  ·  议员品牌 + 服务中心KPI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200" b="1" dirty="0">
                <a:solidFill>
                  <a:srgbClr val="FFFFFF"/>
                </a:solidFill>
              </a:rPr>
              <a:t>（三）</a:t>
            </a:r>
            <a:r>
              <a:rPr lang="en-US" sz="2200" b="1" dirty="0" err="1">
                <a:solidFill>
                  <a:srgbClr val="FFFFFF"/>
                </a:solidFill>
              </a:rPr>
              <a:t>选民认识你的议员吗</a:t>
            </a:r>
            <a:r>
              <a:rPr lang="en-US" sz="2200" b="1" dirty="0">
                <a:solidFill>
                  <a:srgbClr val="FFFFFF"/>
                </a:solidFill>
              </a:rPr>
              <a:t>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78992" cy="914400"/>
          </a:xfrm>
          <a:prstGeom prst="rect">
            <a:avLst/>
          </a:prstGeom>
          <a:solidFill>
            <a:srgbClr val="1A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做事型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81912" y="1280160"/>
            <a:ext cx="1078992" cy="914400"/>
          </a:xfrm>
          <a:prstGeom prst="rect">
            <a:avLst/>
          </a:prstGeom>
          <a:solidFill>
            <a:srgbClr val="1A6A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81912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服务型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1078992" cy="914400"/>
          </a:xfrm>
          <a:prstGeom prst="rect">
            <a:avLst/>
          </a:prstGeom>
          <a:solidFill>
            <a:srgbClr val="5A1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98064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专业型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14216" y="1280160"/>
            <a:ext cx="1078992" cy="914400"/>
          </a:xfrm>
          <a:prstGeom prst="rect">
            <a:avLst/>
          </a:prstGeom>
          <a:solidFill>
            <a:srgbClr val="6A5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14216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学者型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30368" y="1280160"/>
            <a:ext cx="1078992" cy="914400"/>
          </a:xfrm>
          <a:prstGeom prst="rect">
            <a:avLst/>
          </a:prstGeom>
          <a:solidFill>
            <a:srgbClr val="4A0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30368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社区型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1280160"/>
            <a:ext cx="1078992" cy="914400"/>
          </a:xfrm>
          <a:prstGeom prst="rect">
            <a:avLst/>
          </a:prstGeom>
          <a:solidFill>
            <a:srgbClr val="003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网络型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62672" y="1280160"/>
            <a:ext cx="1078992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1325880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62672" y="176479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不知道是谁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6CC"/>
                </a:solidFill>
              </a:rPr>
              <a:t>Q21–27  支持你的是在支持「个人」还是「政党」？这个答案决定了议员退休后选票的去留。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12700">
            <a:solidFill>
              <a:srgbClr val="1A2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D97D"/>
                </a:solidFill>
              </a:rPr>
              <a:t>（四）</a:t>
            </a:r>
            <a:r>
              <a:rPr lang="en-US" sz="2000" b="1" dirty="0" err="1">
                <a:solidFill>
                  <a:srgbClr val="FFD97D"/>
                </a:solidFill>
              </a:rPr>
              <a:t>服务中心真的有效吗</a:t>
            </a:r>
            <a:r>
              <a:rPr lang="en-US" sz="2000" b="1" dirty="0">
                <a:solidFill>
                  <a:srgbClr val="FFD97D"/>
                </a:solidFill>
              </a:rPr>
              <a:t>？— Q28–37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1572768" cy="123444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758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38912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结案率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45171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CC"/>
                </a:solidFill>
              </a:rPr>
              <a:t>Q30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84832" y="3611880"/>
            <a:ext cx="1572768" cy="123444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36758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157984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平均处理时间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57984" y="45171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CC"/>
                </a:solidFill>
              </a:rPr>
              <a:t>Q29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03904" y="3611880"/>
            <a:ext cx="1572768" cy="123444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3904" y="36758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877056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重复投诉率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77056" y="45171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CC"/>
                </a:solidFill>
              </a:rPr>
              <a:t>Q31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22976" y="3611880"/>
            <a:ext cx="1572768" cy="123444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36758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🗃️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59612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是否有CRM系统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96128" y="45171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CC"/>
                </a:solidFill>
              </a:rPr>
              <a:t>Q33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42048" y="3611880"/>
            <a:ext cx="1572768" cy="1234440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36758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315200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7D"/>
                </a:solidFill>
              </a:rPr>
              <a:t>是否有数据分析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0" y="45171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CC"/>
                </a:solidFill>
              </a:rPr>
              <a:t>Q35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V &amp; VI  ·  资源效益 + 年轻选民分析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0A0F2E"/>
                </a:solidFill>
              </a:rPr>
              <a:t>（</a:t>
            </a:r>
            <a:r>
              <a:rPr lang="en-US" sz="1700" b="1" dirty="0">
                <a:solidFill>
                  <a:srgbClr val="0A0F2E"/>
                </a:solidFill>
              </a:rPr>
              <a:t>五</a:t>
            </a:r>
            <a:r>
              <a:rPr lang="zh-CN" altLang="en-US" sz="1700" b="1" dirty="0">
                <a:solidFill>
                  <a:srgbClr val="0A0F2E"/>
                </a:solidFill>
              </a:rPr>
              <a:t>）</a:t>
            </a:r>
            <a:r>
              <a:rPr lang="en-US" sz="1700" b="1" dirty="0" err="1">
                <a:solidFill>
                  <a:srgbClr val="0A0F2E"/>
                </a:solidFill>
              </a:rPr>
              <a:t>资源用在最有效的地方了吗</a:t>
            </a:r>
            <a:r>
              <a:rPr lang="en-US" sz="1700" b="1" dirty="0">
                <a:solidFill>
                  <a:srgbClr val="0A0F2E"/>
                </a:solidFill>
              </a:rPr>
              <a:t>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512064"/>
          </a:xfrm>
          <a:prstGeom prst="rect">
            <a:avLst/>
          </a:prstGeom>
          <a:solidFill>
            <a:srgbClr val="FF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54864" cy="5120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政治讲座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26187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接触有限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4023360" cy="512064"/>
          </a:xfrm>
          <a:prstGeom prst="rect">
            <a:avLst/>
          </a:prstGeom>
          <a:solidFill>
            <a:srgbClr val="FF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65376"/>
            <a:ext cx="54864" cy="5120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653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晚宴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1865376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成本最高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512064"/>
          </a:xfrm>
          <a:prstGeom prst="rect">
            <a:avLst/>
          </a:prstGeom>
          <a:solidFill>
            <a:srgbClr val="FFF4E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54864" cy="5120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68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惯性活动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46888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纯属自我感动？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4023360" cy="512064"/>
          </a:xfrm>
          <a:prstGeom prst="rect">
            <a:avLst/>
          </a:prstGeom>
          <a:solidFill>
            <a:srgbClr val="E8FFF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72384"/>
            <a:ext cx="54864" cy="5120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7238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短视频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072384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覆盖最广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4023360" cy="512064"/>
          </a:xfrm>
          <a:prstGeom prst="rect">
            <a:avLst/>
          </a:prstGeom>
          <a:solidFill>
            <a:srgbClr val="E8FFF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75888"/>
            <a:ext cx="54864" cy="5120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7588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社区项目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36758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最被记住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43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6CC"/>
                </a:solidFill>
              </a:rPr>
              <a:t>Q38–46  哪些活动最高成本、最低效果？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685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A0F2E"/>
                </a:solidFill>
              </a:rPr>
              <a:t>（</a:t>
            </a:r>
            <a:r>
              <a:rPr lang="en-US" sz="1600" b="1" dirty="0">
                <a:solidFill>
                  <a:srgbClr val="0A0F2E"/>
                </a:solidFill>
              </a:rPr>
              <a:t>六</a:t>
            </a:r>
            <a:r>
              <a:rPr lang="zh-CN" altLang="en-US" sz="1600" b="1" dirty="0">
                <a:solidFill>
                  <a:srgbClr val="0A0F2E"/>
                </a:solidFill>
              </a:rPr>
              <a:t>）</a:t>
            </a:r>
            <a:r>
              <a:rPr lang="en-US" sz="1600" b="1" dirty="0" err="1">
                <a:solidFill>
                  <a:srgbClr val="0A0F2E"/>
                </a:solidFill>
              </a:rPr>
              <a:t>年轻选民为什么（不）支持希盟</a:t>
            </a:r>
            <a:r>
              <a:rPr lang="en-US" sz="1600" b="1" dirty="0">
                <a:solidFill>
                  <a:srgbClr val="0A0F2E"/>
                </a:solidFill>
              </a:rPr>
              <a:t>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00600" y="1280160"/>
            <a:ext cx="1261872" cy="960120"/>
          </a:xfrm>
          <a:prstGeom prst="rect">
            <a:avLst/>
          </a:prstGeom>
          <a:solidFill>
            <a:srgbClr val="E8FFF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34416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</a:rPr>
              <a:t>房价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0" y="1335024"/>
            <a:ext cx="32004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 lIns="0" rIns="0"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69280" y="13350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F2E"/>
                </a:solidFill>
              </a:rPr>
              <a:t>HOT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90488" y="1280160"/>
            <a:ext cx="1261872" cy="960120"/>
          </a:xfrm>
          <a:prstGeom prst="rect">
            <a:avLst/>
          </a:prstGeom>
          <a:solidFill>
            <a:srgbClr val="E8FFF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134416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90488" y="1783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</a:rPr>
              <a:t>工作机会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059168" y="1335024"/>
            <a:ext cx="32004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13350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F2E"/>
                </a:solidFill>
              </a:rPr>
              <a:t>HOT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580376" y="1280160"/>
            <a:ext cx="1261872" cy="960120"/>
          </a:xfrm>
          <a:prstGeom prst="rect">
            <a:avLst/>
          </a:prstGeom>
          <a:solidFill>
            <a:srgbClr val="E8FFF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0376" y="134416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580376" y="1783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</a:rPr>
              <a:t>AI &amp; 科技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49056" y="1335024"/>
            <a:ext cx="32004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49056" y="13350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F2E"/>
                </a:solidFill>
              </a:rPr>
              <a:t>HOT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00600" y="2359152"/>
            <a:ext cx="1261872" cy="960120"/>
          </a:xfrm>
          <a:prstGeom prst="rect">
            <a:avLst/>
          </a:prstGeom>
          <a:solidFill>
            <a:srgbClr val="F0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42316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800600" y="28620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</a:rPr>
              <a:t>交通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90488" y="2359152"/>
            <a:ext cx="1261872" cy="960120"/>
          </a:xfrm>
          <a:prstGeom prst="rect">
            <a:avLst/>
          </a:prstGeom>
          <a:solidFill>
            <a:srgbClr val="F0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242316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190488" y="28620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</a:rPr>
              <a:t>教育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580376" y="2359152"/>
            <a:ext cx="1261872" cy="960120"/>
          </a:xfrm>
          <a:prstGeom prst="rect">
            <a:avLst/>
          </a:prstGeom>
          <a:solidFill>
            <a:srgbClr val="F0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0376" y="242316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580376" y="28620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</a:rPr>
              <a:t>创业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800600" y="35478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6CC"/>
                </a:solidFill>
              </a:rPr>
              <a:t>Q47–54  TikTok影响力是否已超越Facebook？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8896CC"/>
                </a:solidFill>
              </a:rPr>
              <a:t>年轻选民是否看完整场政治演讲？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00600" y="42245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Q54  哪些课题能够让年轻人「自发」分享？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VII &amp; VIII  ·  传播审查 + 马来票真实情况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（</a:t>
            </a:r>
            <a:r>
              <a:rPr lang="en-US" sz="1700" b="1" dirty="0">
                <a:solidFill>
                  <a:srgbClr val="FFFFFF"/>
                </a:solidFill>
              </a:rPr>
              <a:t>七</a:t>
            </a:r>
            <a:r>
              <a:rPr lang="zh-CN" altLang="en-US" sz="1700" b="1" dirty="0">
                <a:solidFill>
                  <a:srgbClr val="FFFFFF"/>
                </a:solidFill>
              </a:rPr>
              <a:t>）</a:t>
            </a:r>
            <a:r>
              <a:rPr lang="en-US" sz="1700" b="1" dirty="0" err="1">
                <a:solidFill>
                  <a:srgbClr val="FFFFFF"/>
                </a:solidFill>
              </a:rPr>
              <a:t>你的内容，选民真的在看吗</a:t>
            </a:r>
            <a:r>
              <a:rPr lang="en-US" sz="1700" b="1" dirty="0">
                <a:solidFill>
                  <a:srgbClr val="FFFFFF"/>
                </a:solidFill>
              </a:rPr>
              <a:t>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493776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Q55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36192" y="126187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F"/>
                </a:solidFill>
              </a:rPr>
              <a:t>选民主动观看？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3931920" cy="493776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Q56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36192" y="184708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F"/>
                </a:solidFill>
              </a:rPr>
              <a:t>只是党员转发？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3931920" cy="493776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32304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Q58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36192" y="243230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F"/>
                </a:solidFill>
              </a:rPr>
              <a:t>完播率最高的视频？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3931920" cy="493776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36192" y="301752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F"/>
                </a:solidFill>
              </a:rPr>
              <a:t>引起负面反应的视频？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3931920" cy="493776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602736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36192" y="36027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F"/>
                </a:solidFill>
              </a:rPr>
              <a:t>有人监测族群情绪吗？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685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（</a:t>
            </a:r>
            <a:r>
              <a:rPr lang="en-US" sz="1700" b="1" dirty="0">
                <a:solidFill>
                  <a:srgbClr val="FFFFFF"/>
                </a:solidFill>
              </a:rPr>
              <a:t>八</a:t>
            </a:r>
            <a:r>
              <a:rPr lang="zh-CN" altLang="en-US" sz="1700" b="1" dirty="0">
                <a:solidFill>
                  <a:srgbClr val="FFFFFF"/>
                </a:solidFill>
              </a:rPr>
              <a:t>）</a:t>
            </a:r>
            <a:r>
              <a:rPr lang="en-US" sz="1700" b="1" dirty="0" err="1">
                <a:solidFill>
                  <a:srgbClr val="FFFFFF"/>
                </a:solidFill>
              </a:rPr>
              <a:t>马来票的真实情况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800600" y="1261872"/>
            <a:ext cx="3931920" cy="493776"/>
          </a:xfrm>
          <a:prstGeom prst="rect">
            <a:avLst/>
          </a:prstGeom>
          <a:solidFill>
            <a:srgbClr val="1A3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618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126187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88736" y="126187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影响马来选民支持的因素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00600" y="1847088"/>
            <a:ext cx="3931920" cy="493776"/>
          </a:xfrm>
          <a:prstGeom prst="rect">
            <a:avLst/>
          </a:prstGeom>
          <a:solidFill>
            <a:srgbClr val="5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84708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184708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88736" y="184708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最容易引起反弹的课题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00600" y="2432304"/>
            <a:ext cx="3931920" cy="493776"/>
          </a:xfrm>
          <a:prstGeom prst="rect">
            <a:avLst/>
          </a:prstGeom>
          <a:solidFill>
            <a:srgbClr val="1A4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43230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94960" y="243230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88736" y="243230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最容易建立信任的课题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00600" y="3017520"/>
            <a:ext cx="3931920" cy="493776"/>
          </a:xfrm>
          <a:prstGeom prst="rect">
            <a:avLst/>
          </a:prstGeom>
          <a:solidFill>
            <a:srgbClr val="3A1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175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94960" y="3017520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88736" y="301752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哪些地方领袖最具影响力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3931920" cy="493776"/>
          </a:xfrm>
          <a:prstGeom prst="rect">
            <a:avLst/>
          </a:prstGeom>
          <a:solidFill>
            <a:srgbClr val="4A3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60273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94960" y="3602736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Q68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88736" y="36027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马来年轻 vs 年长选民差异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1A1A35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B429"/>
                </a:solidFill>
              </a:rPr>
              <a:t>💡  把Q64–71输入AI，附上你选区的人口结构数据，要求它生成「马来票风险地图」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IX &amp; X  ·  基层组织 + Red Team分析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0A0F2E"/>
                </a:solidFill>
              </a:rPr>
              <a:t>（</a:t>
            </a:r>
            <a:r>
              <a:rPr lang="en-US" sz="1800" b="1" dirty="0">
                <a:solidFill>
                  <a:srgbClr val="0A0F2E"/>
                </a:solidFill>
              </a:rPr>
              <a:t>九</a:t>
            </a:r>
            <a:r>
              <a:rPr lang="zh-CN" altLang="en-US" sz="1800" b="1" dirty="0">
                <a:solidFill>
                  <a:srgbClr val="0A0F2E"/>
                </a:solidFill>
              </a:rPr>
              <a:t>）</a:t>
            </a:r>
            <a:r>
              <a:rPr lang="en-US" sz="1800" b="1" dirty="0" err="1">
                <a:solidFill>
                  <a:srgbClr val="0A0F2E"/>
                </a:solidFill>
              </a:rPr>
              <a:t>基层组织是否足够强大</a:t>
            </a:r>
            <a:r>
              <a:rPr lang="en-US" sz="1800" b="1" dirty="0">
                <a:solidFill>
                  <a:srgbClr val="0A0F2E"/>
                </a:solidFill>
              </a:rPr>
              <a:t>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441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🧑‍🤝‍🧑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活跃党员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09928" y="128016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3441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09928" y="17556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志工人数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197510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Q73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9816" y="128016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13441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99816" y="17556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数据管理员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99816" y="197510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Q74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957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社团联系人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302666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Q75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09928" y="233172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9928" y="23957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0992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宗教团体联系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09928" y="302666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Q76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99816" y="2331720"/>
            <a:ext cx="1261872" cy="914400"/>
          </a:xfrm>
          <a:prstGeom prst="rect">
            <a:avLst/>
          </a:prstGeom>
          <a:solidFill>
            <a:srgbClr val="EAECFF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23957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099816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2E"/>
                </a:solidFill>
              </a:rPr>
              <a:t>接班情况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99816" y="302666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CC"/>
                </a:solidFill>
              </a:rPr>
              <a:t>Q80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3456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77"/>
                </a:solidFill>
              </a:rPr>
              <a:t>每个投票区，这6个数字你的团队都有掌握吗？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0040" y="3886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</a:rPr>
              <a:t>Q77–79  哪些地区组织最弱？哪些长期依赖老干部？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685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0A0F2E"/>
                </a:solidFill>
              </a:rPr>
              <a:t>（</a:t>
            </a:r>
            <a:r>
              <a:rPr lang="en-US" sz="1800" b="1" dirty="0">
                <a:solidFill>
                  <a:srgbClr val="0A0F2E"/>
                </a:solidFill>
              </a:rPr>
              <a:t>十</a:t>
            </a:r>
            <a:r>
              <a:rPr lang="zh-CN" altLang="en-US" sz="1800" b="1" dirty="0">
                <a:solidFill>
                  <a:srgbClr val="0A0F2E"/>
                </a:solidFill>
              </a:rPr>
              <a:t>）</a:t>
            </a:r>
            <a:r>
              <a:rPr lang="en-US" sz="1800" b="1" dirty="0">
                <a:solidFill>
                  <a:srgbClr val="0A0F2E"/>
                </a:solidFill>
              </a:rPr>
              <a:t> Red Team分析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54880" y="1261872"/>
            <a:ext cx="1938528" cy="676656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30759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153619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国盟获胜，最可能原因？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39712" y="1261872"/>
            <a:ext cx="1938528" cy="676656"/>
          </a:xfrm>
          <a:prstGeom prst="rect">
            <a:avLst/>
          </a:prstGeom>
          <a:solidFill>
            <a:srgbClr val="FFF0E8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130759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12864" y="153619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BN反弹，最可能原因？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066544"/>
            <a:ext cx="1938528" cy="676656"/>
          </a:xfrm>
          <a:prstGeom prst="rect">
            <a:avLst/>
          </a:prstGeom>
          <a:solidFill>
            <a:srgbClr val="FFF8E8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11226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第三势力，从哪切票？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39712" y="2066544"/>
            <a:ext cx="1938528" cy="676656"/>
          </a:xfrm>
          <a:prstGeom prst="rect">
            <a:avLst/>
          </a:prstGeom>
          <a:solidFill>
            <a:srgbClr val="FFE8F8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211226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12864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哪些弱点最容易被放大？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2871216"/>
            <a:ext cx="1938528" cy="676656"/>
          </a:xfrm>
          <a:prstGeom prst="rect">
            <a:avLst/>
          </a:prstGeom>
          <a:solidFill>
            <a:srgbClr val="F0E8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91693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28032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哪些课题最难辩护？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39712" y="2871216"/>
            <a:ext cx="1938528" cy="676656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291693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Q88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12864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哪些议题需提前止血？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703320"/>
            <a:ext cx="4160520" cy="502920"/>
          </a:xfrm>
          <a:prstGeom prst="rect">
            <a:avLst/>
          </a:prstGeom>
          <a:solidFill>
            <a:srgbClr val="FF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703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0000"/>
                </a:solidFill>
              </a:rPr>
              <a:t>🔴  把Q81–88给AI，要求它扮演国盟竞选总监，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0000"/>
                </a:solidFill>
              </a:rPr>
              <a:t>指出行动党最脆弱的三个攻击点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A4A"/>
          </a:solidFill>
          <a:ln w="12700">
            <a:solidFill>
              <a:srgbClr val="11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Section XI  ·  AI时代最重要的问题（Q89–100）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选战资源重新配置 — 你的团队准备好了吗？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377440" cy="1463040"/>
          </a:xfrm>
          <a:prstGeom prst="rect">
            <a:avLst/>
          </a:prstGeom>
          <a:solidFill>
            <a:srgbClr val="2A0A0E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63946"/>
                </a:solidFill>
              </a:rPr>
              <a:t>80%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B3"/>
                </a:solidFill>
              </a:rPr>
              <a:t>团队时间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B3B3"/>
                </a:solidFill>
              </a:rPr>
              <a:t>消耗在20%的工作？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32588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32588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32588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3258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哪些工作AI可以辅助完成？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32588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32588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13258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哪些报告仍在人工整理？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210312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10312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0312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是否有统一知识库？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210312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10312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10312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1031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是否有选民情绪数据库？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80360" y="288036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288036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88036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2880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是否有选区风险仪表板？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0" y="288036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88036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88036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880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是否有候选人接班地图？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80360" y="365760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365760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365760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36576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是否有议题预警系统？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0" y="3657600"/>
            <a:ext cx="2926080" cy="658368"/>
          </a:xfrm>
          <a:prstGeom prst="rect">
            <a:avLst/>
          </a:prstGeom>
          <a:solidFill>
            <a:srgbClr val="1A2560"/>
          </a:solidFill>
          <a:ln w="12700">
            <a:solidFill>
              <a:srgbClr val="2A3D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657600"/>
            <a:ext cx="530352" cy="65836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65760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</a:rPr>
              <a:t>Q99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36576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F"/>
                </a:solidFill>
              </a:rPr>
              <a:t>是否有多族群信息测试机制？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65760" y="4389120"/>
            <a:ext cx="8412480" cy="5669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891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F2E"/>
                </a:solidFill>
              </a:rPr>
              <a:t>Q100  如果明天举行州选，最值得优先投入的三项工作是什么？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0B429"/>
                </a:solidFill>
              </a:rPr>
              <a:t>最关键的问题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0B429"/>
                </a:solidFill>
              </a:rPr>
              <a:t>只有一个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8458200" cy="2286000"/>
          </a:xfrm>
          <a:prstGeom prst="rect">
            <a:avLst/>
          </a:prstGeom>
          <a:solidFill>
            <a:srgbClr val="0D1535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如果未来2个月完全禁止所有议员、助理、党员和网军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参与任何网络骂战、留言区缠斗、政治口水战，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877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C8E3"/>
                </a:solidFill>
              </a:rPr>
              <a:t>那么腾出来的人力、时间和预算，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C8E3"/>
                </a:solidFill>
              </a:rPr>
              <a:t>应该投入什么工作，才能在2026年州选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3814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B429"/>
                </a:solidFill>
              </a:rPr>
              <a:t>额外多赢  1%  ·  3%  ·  5%  甚至  10%  的选票？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CC"/>
                </a:solidFill>
              </a:rPr>
              <a:t>这个问题往往比「如何反击某个网红、某个KOL、某篇贴文」更接近真正的选举胜负。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0510"/>
          </a:solidFill>
          <a:ln w="12700">
            <a:solidFill>
              <a:srgbClr val="0205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CC"/>
                </a:solidFill>
              </a:rPr>
              <a:t>AI Guru Course  |  AI × 政治策略  |  版权所有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84217"/>
            <a:ext cx="4023360" cy="3984171"/>
          </a:xfrm>
          <a:prstGeom prst="ellipse">
            <a:avLst/>
          </a:prstGeom>
          <a:solidFill>
            <a:srgbClr val="0D1540"/>
          </a:solidFill>
          <a:ln w="12700">
            <a:solidFill>
              <a:srgbClr val="0D1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4042954"/>
          </a:xfrm>
          <a:prstGeom prst="ellipse">
            <a:avLst/>
          </a:prstGeom>
          <a:solidFill>
            <a:srgbClr val="1A2460"/>
          </a:solidFill>
          <a:ln w="12700">
            <a:solidFill>
              <a:srgbClr val="1A2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E"/>
                </a:solidFill>
              </a:rPr>
              <a:t>开始前，先让AI说实话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777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你的AI之旅</a:t>
            </a:r>
            <a:endParaRPr lang="en-US" sz="4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从这里开始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7EC8E3"/>
                </a:solidFill>
              </a:rPr>
              <a:t>不是让AI帮你说更多话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7EC8E3"/>
                </a:solidFill>
              </a:rPr>
              <a:t>而是让AI帮你看清楚自己在说什么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3840480"/>
            <a:ext cx="4023360" cy="6858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8404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0F2E"/>
                </a:solidFill>
              </a:rPr>
              <a:t>立即开始你的AI策略  </a:t>
            </a:r>
            <a:r>
              <a:rPr lang="en-US" sz="1600" b="1" dirty="0">
                <a:solidFill>
                  <a:srgbClr val="0A0F2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91A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CC"/>
                </a:solidFill>
              </a:rPr>
              <a:t>AI Guru Course  |  AI × 政治策略  |  版权所有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1032</Words>
  <Application>Microsoft Office PowerPoint</Application>
  <PresentationFormat>On-screen Show (16:9)</PresentationFormat>
  <Paragraphs>420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AI是你的镜子：政治团队的AI决策课</dc:title>
  <dc:subject>PptxGenJS Presentation</dc:subject>
  <dc:creator>PptxGenJS</dc:creator>
  <cp:lastModifiedBy>Yu Fuqi Fuqi</cp:lastModifiedBy>
  <cp:revision>16</cp:revision>
  <dcterms:created xsi:type="dcterms:W3CDTF">2026-06-03T09:01:23Z</dcterms:created>
  <dcterms:modified xsi:type="dcterms:W3CDTF">2026-06-03T14:09:46Z</dcterms:modified>
</cp:coreProperties>
</file>