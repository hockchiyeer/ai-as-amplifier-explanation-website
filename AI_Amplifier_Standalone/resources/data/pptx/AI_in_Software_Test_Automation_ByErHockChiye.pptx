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9" r:id="rId3"/>
    <p:sldId id="283" r:id="rId4"/>
    <p:sldId id="280" r:id="rId5"/>
    <p:sldId id="257" r:id="rId6"/>
    <p:sldId id="260" r:id="rId7"/>
    <p:sldId id="258" r:id="rId8"/>
    <p:sldId id="259" r:id="rId9"/>
    <p:sldId id="272" r:id="rId10"/>
    <p:sldId id="273" r:id="rId11"/>
    <p:sldId id="274" r:id="rId12"/>
    <p:sldId id="275" r:id="rId13"/>
    <p:sldId id="276" r:id="rId14"/>
    <p:sldId id="262" r:id="rId15"/>
    <p:sldId id="267" r:id="rId16"/>
    <p:sldId id="264" r:id="rId17"/>
    <p:sldId id="265" r:id="rId18"/>
    <p:sldId id="271" r:id="rId19"/>
    <p:sldId id="278" r:id="rId20"/>
    <p:sldId id="270" r:id="rId21"/>
    <p:sldId id="285" r:id="rId22"/>
    <p:sldId id="288" r:id="rId23"/>
    <p:sldId id="287" r:id="rId24"/>
    <p:sldId id="289" r:id="rId25"/>
    <p:sldId id="266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  <a:srgbClr val="F59E0B"/>
    <a:srgbClr val="FDE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32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A141-E2DA-4433-838A-AE8AF624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FD368-70F8-4092-03BA-97258EFFA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BFCFC-013D-EB5B-5C40-FFD652A51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2BC41-35D9-37B4-6891-B3A437BB6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040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5285A-1589-D1B8-42ED-E838F101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8FA18-800A-7B2F-6E99-E5380CDCC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EDB68-0F6A-7BA8-4067-7E01EA298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8DAE2-35BD-5D2B-0A32-345EF4611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767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8D7AD-5B4A-E99F-B771-D25279E59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51113-00EC-79AD-95DC-CF554C46D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A8BDE-1121-153E-CF28-7EF36C18D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50EB8-5EFF-567D-8BB7-75C8F1C5E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94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B696-28D3-CA4C-0DFB-85C4893C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9AF6B-6A46-3E09-6150-649F8382E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27105-5066-9E40-DEB1-012D30A54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4C439-D64E-C05C-292E-72BAE57E35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736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ckchiyeer/ai-powered-auto-bug-ticket-logger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istudio.google.com/apps/ce12cbda-aa17-405d-9018-96a8ef249d29?showPreview=true&amp;showAssistant=true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ckchiyeer/google-ai-studio-generated-agile-maturity-assessment-app/tree/task/branch-for-github-page-deployment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ockchiyeer.github.io/google-ai-studio-generated-agile-maturity-assessment-app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18288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8288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8288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8288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18288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18288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59436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59436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59436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59436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59436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59436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59436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00584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00584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00584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00584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00584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100584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100584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41732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41732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41732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141732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141732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141732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141732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182880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182880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182880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78040" y="182880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182880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0" y="182880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1828800"/>
            <a:ext cx="64008" cy="64008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0080"/>
            <a:ext cx="685800" cy="6858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365760" y="13716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Software</a:t>
            </a:r>
            <a:endParaRPr lang="en-US" sz="4600" dirty="0"/>
          </a:p>
        </p:txBody>
      </p:sp>
      <p:sp>
        <p:nvSpPr>
          <p:cNvPr id="40" name="Text 37"/>
          <p:cNvSpPr/>
          <p:nvPr/>
        </p:nvSpPr>
        <p:spPr>
          <a:xfrm>
            <a:off x="365760" y="2148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4600" dirty="0"/>
          </a:p>
        </p:txBody>
      </p:sp>
      <p:sp>
        <p:nvSpPr>
          <p:cNvPr id="41" name="Text 38"/>
          <p:cNvSpPr/>
          <p:nvPr/>
        </p:nvSpPr>
        <p:spPr>
          <a:xfrm>
            <a:off x="365760" y="3063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Realities, Limitations &amp; Practical Strategies from the Field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65760" y="4526280"/>
            <a:ext cx="8412480" cy="36576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Insights  |  Vibe Coding Experience  |  LLMs</a:t>
            </a:r>
            <a:endParaRPr lang="en-US" sz="1100" dirty="0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D8E3F198-17E4-522B-F60F-6C3188A013C6}"/>
              </a:ext>
            </a:extLst>
          </p:cNvPr>
          <p:cNvSpPr/>
          <p:nvPr/>
        </p:nvSpPr>
        <p:spPr>
          <a:xfrm>
            <a:off x="6355080" y="3639312"/>
            <a:ext cx="242315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r"/>
            <a:r>
              <a:rPr lang="en-US" altLang="zh-CN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Hock Chiye</a:t>
            </a:r>
          </a:p>
          <a:p>
            <a:pPr algn="r"/>
            <a:r>
              <a:rPr lang="en-US" sz="1400" dirty="0">
                <a:solidFill>
                  <a:schemeClr val="bg2"/>
                </a:solidFill>
              </a:rPr>
              <a:t>https://github.com/hockchiyeer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Paradigms of AI — Know Which One You're Using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75895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prompting strategy depends entirely on whether the AI is a Language Generator or a Task Executor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6032" y="1163505"/>
            <a:ext cx="4133088" cy="3767328"/>
          </a:xfrm>
          <a:prstGeom prst="rect">
            <a:avLst/>
          </a:prstGeom>
          <a:solidFill>
            <a:srgbClr val="061626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4133088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Generators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" y="153619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Conversation-Based Chatbots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920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38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139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95728" y="1920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938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7168" y="2139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2852928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" y="269166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rich, long-form text output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338328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56653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 reports, narratives,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commentary &amp; brainstorming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3913632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0778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and expands on conversational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across a dialogue thread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" y="4462272"/>
            <a:ext cx="3913632" cy="402336"/>
          </a:xfrm>
          <a:prstGeom prst="roundRect">
            <a:avLst>
              <a:gd name="adj" fmla="val 13636"/>
            </a:avLst>
          </a:prstGeom>
          <a:solidFill>
            <a:srgbClr val="0833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4462272"/>
            <a:ext cx="9144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448056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tip:  Precise, detailed, conversational prompts → richer output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170432"/>
            <a:ext cx="4133088" cy="3767328"/>
          </a:xfrm>
          <a:prstGeom prst="rect">
            <a:avLst/>
          </a:prstGeom>
          <a:solidFill>
            <a:srgbClr val="0D1A0D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54880" y="1170432"/>
            <a:ext cx="413308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170432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Executors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846320" y="153619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Agentic AI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82896" y="1920240"/>
            <a:ext cx="2029968" cy="457200"/>
          </a:xfrm>
          <a:prstGeom prst="roundRect">
            <a:avLst>
              <a:gd name="adj" fmla="val 12000"/>
            </a:avLst>
          </a:prstGeom>
          <a:solidFill>
            <a:srgbClr val="0A201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74336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/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82896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82896" y="28529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2767863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tools, APIs &amp; applications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multi-step workflows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82896" y="33832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3270507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Conversational/verbose prompts reduce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 — avoid rambling context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82896" y="391363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380778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but clearly-defined task prompts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and optimise output quality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46320" y="4462272"/>
            <a:ext cx="3913632" cy="402336"/>
          </a:xfrm>
          <a:prstGeom prst="roundRect">
            <a:avLst>
              <a:gd name="adj" fmla="val 13636"/>
            </a:avLst>
          </a:prstGeom>
          <a:solidFill>
            <a:srgbClr val="0520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4462272"/>
            <a:ext cx="9144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448056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tip:  Concise, task-focused prompts → maximum agentic output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Practical AI Tool Selection: Before You Start</a:t>
            </a:r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64592" cy="3927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048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096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90769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384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1069800"/>
            <a:ext cx="772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</a:rPr>
              <a:t>Use ChatGPT or Gemini for brainstorming, ideation &amp; long-form writing — not IDE-embedded AI coding agents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</a:rPr>
              <a:t>IDE coding agents incur higher token costs and licensing fees. LLM chatbots answer the same brainstorming questions more economically.</a:t>
            </a:r>
          </a:p>
        </p:txBody>
      </p:sp>
      <p:sp>
        <p:nvSpPr>
          <p:cNvPr id="9" name="Shape 7"/>
          <p:cNvSpPr/>
          <p:nvPr/>
        </p:nvSpPr>
        <p:spPr>
          <a:xfrm>
            <a:off x="320040" y="1855127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096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0027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9438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1900092"/>
            <a:ext cx="772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</a:rPr>
              <a:t>Give Claude concise, task-clear prompts — not long conversational dialogues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Claude AI is a task executor, not a text generator. Detailed but conversational prompts undermine output quality. A well-scoped task definition — not a dialogue — maximises results.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61976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096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28489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2259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6" name="Text 14"/>
          <p:cNvSpPr/>
          <p:nvPr/>
        </p:nvSpPr>
        <p:spPr>
          <a:xfrm>
            <a:off x="914400" y="2634201"/>
            <a:ext cx="772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</a:rPr>
              <a:t>Prefer rule-based logic wherever determinism, auditability, and root-cause tracing are non-negotiable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In test automation especially, human-authored rule logic offers clear boundaries and tractable failures. Use ML/LLMs to accelerate — not to replace — deterministic reasoning.</a:t>
            </a:r>
          </a:p>
        </p:txBody>
      </p:sp>
      <p:sp>
        <p:nvSpPr>
          <p:cNvPr id="17" name="Shape 15"/>
          <p:cNvSpPr/>
          <p:nvPr/>
        </p:nvSpPr>
        <p:spPr>
          <a:xfrm>
            <a:off x="320040" y="3417989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096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503881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920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0" name="Text 18"/>
          <p:cNvSpPr/>
          <p:nvPr/>
        </p:nvSpPr>
        <p:spPr>
          <a:xfrm>
            <a:off x="914400" y="3431401"/>
            <a:ext cx="772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</a:rPr>
              <a:t>When using LLMs at scale, account for data quality, compute cost, and security exposure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Data-driven AI scales only with abundant high-quality data, compute, and energy — while remaining vulnerable to prompt injection and adversarial inputs. Plan risk mitigations accordingly.</a:t>
            </a:r>
          </a:p>
        </p:txBody>
      </p:sp>
      <p:sp>
        <p:nvSpPr>
          <p:cNvPr id="21" name="Shape 19"/>
          <p:cNvSpPr/>
          <p:nvPr/>
        </p:nvSpPr>
        <p:spPr>
          <a:xfrm>
            <a:off x="164592" y="4154320"/>
            <a:ext cx="8814816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20040" y="4154320"/>
            <a:ext cx="8503920" cy="73152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</a:rPr>
              <a:t>Bottom Line: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</a:rPr>
              <a:t>Match your tool to your task type. AI accelerates — but </a:t>
            </a:r>
            <a:r>
              <a:rPr lang="en-US" sz="1300" b="1" dirty="0">
                <a:solidFill>
                  <a:srgbClr val="06B6D4"/>
                </a:solidFill>
                <a:latin typeface="Calibri" pitchFamily="34" charset="0"/>
              </a:rPr>
              <a:t>human engineers must own the strategy, logic, and quality bar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Prompt Strategy to AI Type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1042416"/>
            <a:ext cx="285292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42416"/>
            <a:ext cx="285292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1088136"/>
            <a:ext cx="384048" cy="38404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08813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&amp; Ideation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0896" y="16093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LLMs (ChatGPT · Gemini · </a:t>
            </a:r>
            <a:r>
              <a:rPr lang="en-US" sz="11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altLang="zh-CN" sz="11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eepseek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" y="1938528"/>
            <a:ext cx="263347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" y="1938528"/>
            <a:ext cx="64008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975104"/>
            <a:ext cx="2441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style: Conversational, exploratory,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open-ended questions with rich detail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" y="2688336"/>
            <a:ext cx="26334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chatbot LLMs handle ideation, analysis, and long-form generation better than IDE-embedded coding agents — at a fraction of the cost. Token consumption and monthly licensing fees for IDE agents are significantly higher.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" y="4169664"/>
            <a:ext cx="2633472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for money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1042416"/>
            <a:ext cx="285292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042416"/>
            <a:ext cx="285292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088136"/>
            <a:ext cx="384048" cy="38404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76472" y="108813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Analysis &amp; Reporting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291840" y="1938528"/>
            <a:ext cx="263347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193852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1975104"/>
            <a:ext cx="2441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style: Detailed, structured, include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context and desired output format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2688336"/>
            <a:ext cx="26334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and detailed prompts unlock the full potential of language generators — the richer the context you supply, the more accurate, thorough, and well-structured the output will be. Iterate via follow-up messages.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4169664"/>
            <a:ext cx="2633472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Depth over brevity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1042416"/>
            <a:ext cx="285292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1042416"/>
            <a:ext cx="285292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72784" y="1088136"/>
            <a:ext cx="384048" cy="38404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57416" y="108813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Automation &amp; Agentic Tasks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272784" y="16093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(Claude · Copilot · Codex)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2784" y="1938528"/>
            <a:ext cx="263347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2784" y="1938528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91656" y="1975104"/>
            <a:ext cx="2441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style: Concise, task-clear, specific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format — avoid verbose chat context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72784" y="2688336"/>
            <a:ext cx="26334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executes tasks autonomously across tools and files. Overly conversational prompts dilute task focus. Define the desired end-state clearly and briefly — let the agent reason about the steps to get there.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72784" y="4169664"/>
            <a:ext cx="2633472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64224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Clarity over verbosity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01168" y="5029200"/>
            <a:ext cx="8741664" cy="310896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" y="5029200"/>
            <a:ext cx="914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5047488"/>
            <a:ext cx="8467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 NOT use IDE-embedded coding agents for brainstorming — token consumption and licensing fees are expensive; free chatbot LLMs answer ideation questions faster and more cost-effectively.</a:t>
            </a:r>
            <a:endParaRPr lang="en-US" sz="11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E5427713-CB76-313F-3B26-2C97E0DCB848}"/>
              </a:ext>
            </a:extLst>
          </p:cNvPr>
          <p:cNvSpPr/>
          <p:nvPr/>
        </p:nvSpPr>
        <p:spPr>
          <a:xfrm>
            <a:off x="3314700" y="16184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LLMs (ChatGPT · Gemini · </a:t>
            </a:r>
            <a:r>
              <a:rPr lang="en-US" sz="1100" b="1" dirty="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Gap: AI as a Mirror of Its Training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64592" cy="41833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2801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8988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Excels At Writing Code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02920" y="251460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trained on vast software communities that prioritize building features — not testing them. They excel at 0-to-1 code generation, unit test stubs, and pure functions.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4160520"/>
            <a:ext cx="3611880" cy="32004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4178808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at feature development &amp; refactoring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46320" y="114300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937760" y="128016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3898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74920" y="2057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Testing Its Own Code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074920" y="251460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mirror of its training data. Because real-world communities underinvest in test culture, LLMs inherit that same bias — producing tests that are shallow, fragile, or outright broken.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74920" y="4160520"/>
            <a:ext cx="3611880" cy="3200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166360" y="4178808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Weak at producing reliable automated tests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Painful Reality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794760" cy="2560320"/>
          </a:xfrm>
          <a:prstGeom prst="rect">
            <a:avLst/>
          </a:prstGeom>
          <a:solidFill>
            <a:srgbClr val="0E2A47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4297680" y="17373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983480" y="1051560"/>
            <a:ext cx="3794760" cy="2560320"/>
          </a:xfrm>
          <a:prstGeom prst="rect">
            <a:avLst/>
          </a:prstGeom>
          <a:solidFill>
            <a:srgbClr val="3B0000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83480" y="118872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70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22192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excels at standard code generation. For UI automation — which demands absolute determinism with zero margin for error — AI's probabilistic nature becomes a liability, not an asset.</a:t>
            </a:r>
            <a:endParaRPr lang="en-US" sz="13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36A8312-F786-F620-3D23-AC6EB3B885C0}"/>
              </a:ext>
            </a:extLst>
          </p:cNvPr>
          <p:cNvSpPr/>
          <p:nvPr/>
        </p:nvSpPr>
        <p:spPr>
          <a:xfrm>
            <a:off x="347472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code</a:t>
            </a:r>
            <a:endParaRPr lang="en-US" sz="15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C79E7FF-054A-7BA7-E93B-52E283646A4B}"/>
              </a:ext>
            </a:extLst>
          </p:cNvPr>
          <p:cNvSpPr/>
          <p:nvPr/>
        </p:nvSpPr>
        <p:spPr>
          <a:xfrm>
            <a:off x="347472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· assertions · steps</a:t>
            </a:r>
            <a:endParaRPr lang="en-US" sz="11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7444494-6CB9-570B-FF1A-3BA69A570F5F}"/>
              </a:ext>
            </a:extLst>
          </p:cNvPr>
          <p:cNvSpPr/>
          <p:nvPr/>
        </p:nvSpPr>
        <p:spPr>
          <a:xfrm>
            <a:off x="347472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Confident. Fast. Unverified.</a:t>
            </a:r>
            <a:endParaRPr lang="en-US" sz="105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04A4D1F-D30B-2940-3D8B-7A222FF9A33C}"/>
              </a:ext>
            </a:extLst>
          </p:cNvPr>
          <p:cNvSpPr/>
          <p:nvPr/>
        </p:nvSpPr>
        <p:spPr>
          <a:xfrm>
            <a:off x="4956048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debugs the fallout</a:t>
            </a:r>
            <a:endParaRPr lang="en-US" sz="15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EC46747-546F-034D-722B-6BC274198591}"/>
              </a:ext>
            </a:extLst>
          </p:cNvPr>
          <p:cNvSpPr/>
          <p:nvPr/>
        </p:nvSpPr>
        <p:spPr>
          <a:xfrm>
            <a:off x="4956048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· CI re-runs · selector hunts</a:t>
            </a:r>
            <a:endParaRPr lang="en-US" sz="11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95228AC0-F3F7-A557-1C7D-E54FD7B3CCAD}"/>
              </a:ext>
            </a:extLst>
          </p:cNvPr>
          <p:cNvSpPr/>
          <p:nvPr/>
        </p:nvSpPr>
        <p:spPr>
          <a:xfrm>
            <a:off x="4956048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Tedious. Manual. Expensive.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 Automation: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Cost 3–5× More Than Building the Feature?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468880" cy="2377440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than feature development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on AI-generated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 scripts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12283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Outsider's Assumption: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749552"/>
            <a:ext cx="5669280" cy="667512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68554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AI can write business logic, writing a test should be a breeze."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2572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Reality:</a:t>
            </a:r>
            <a:endParaRPr lang="en-US" sz="130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3B8008D3-9171-1EF2-3CB9-C6111B8E1DA3}"/>
              </a:ext>
            </a:extLst>
          </p:cNvPr>
          <p:cNvSpPr/>
          <p:nvPr/>
        </p:nvSpPr>
        <p:spPr>
          <a:xfrm>
            <a:off x="3154680" y="30510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71C1D453-28DB-B775-2DCD-7BC88BFA6DE8}"/>
              </a:ext>
            </a:extLst>
          </p:cNvPr>
          <p:cNvSpPr/>
          <p:nvPr/>
        </p:nvSpPr>
        <p:spPr>
          <a:xfrm>
            <a:off x="3456432" y="3014472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 demands absolute determinism — zero tolerance for probabilistic output</a:t>
            </a:r>
            <a:endParaRPr lang="en-US" sz="12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F7EBC598-408C-5840-35B3-8C90A42E8AEC}"/>
              </a:ext>
            </a:extLst>
          </p:cNvPr>
          <p:cNvSpPr/>
          <p:nvPr/>
        </p:nvSpPr>
        <p:spPr>
          <a:xfrm>
            <a:off x="3154680" y="35082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F66AA9F3-CB4B-182F-FA3E-CDB705FBFB49}"/>
              </a:ext>
            </a:extLst>
          </p:cNvPr>
          <p:cNvSpPr/>
          <p:nvPr/>
        </p:nvSpPr>
        <p:spPr>
          <a:xfrm>
            <a:off x="3456432" y="3471672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selectors, async timing, and state chains are invisible to AI's static view</a:t>
            </a:r>
            <a:endParaRPr lang="en-US" sz="12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680004D6-C796-9D50-40DB-7A9F1ADE1673}"/>
              </a:ext>
            </a:extLst>
          </p:cNvPr>
          <p:cNvSpPr/>
          <p:nvPr/>
        </p:nvSpPr>
        <p:spPr>
          <a:xfrm>
            <a:off x="3154680" y="39654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8734D3B1-4149-2725-7296-12FD1FFDDBD4}"/>
              </a:ext>
            </a:extLst>
          </p:cNvPr>
          <p:cNvSpPr/>
          <p:nvPr/>
        </p:nvSpPr>
        <p:spPr>
          <a:xfrm>
            <a:off x="3456432" y="3928872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selectors cascade: one bad XPath kills the entire test suite</a:t>
            </a:r>
            <a:endParaRPr lang="en-US" sz="120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E7BFB0C7-F02D-E9FD-CA19-6241AB2CD36F}"/>
              </a:ext>
            </a:extLst>
          </p:cNvPr>
          <p:cNvSpPr/>
          <p:nvPr/>
        </p:nvSpPr>
        <p:spPr>
          <a:xfrm>
            <a:off x="3154680" y="44226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C7450ECB-C736-F213-E77B-F8B6FFD490EC}"/>
              </a:ext>
            </a:extLst>
          </p:cNvPr>
          <p:cNvSpPr/>
          <p:nvPr/>
        </p:nvSpPr>
        <p:spPr>
          <a:xfrm>
            <a:off x="3456432" y="4386072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flakiness from hallucinated waits wastes team cycles across sprints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Reasons Engineering Logic &amp; LLM Logic Clash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5029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DOM vs. Probabilistic Logic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61848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frontend is deterministic — you define the rules. Testing it means reverse-engineering a dynamic system. LLMs guess at selectors from dynamic Tailwind classes or deep nested divs. One wrong XPath breaks everything.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5029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Runtime Awareness &amp; Async Blindness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61848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enemies of UI testing are timing and async operations. Human engineers know where to add waitForSelector. AI agents only see static snapshots — generating 'hallucinated waits' that pass locally but cause widespread CI/CD flakiness.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017520"/>
            <a:ext cx="5029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Drift in Long State Chains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58444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 relies on tightly coupled chains (Login → Click → Fill → Validate). As steps grow, AI context drifts — building step 4 on a flawed assumption from step 3. The resulting script looks logical but is completely nonsensical.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5029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High-Latency Debugging Loops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58444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 has HMR for instant feedback. Test debugging requires launching a runner, opening a browser sandbox, and replaying every prior step just to validate one tweak. AI's speed advantage is completely eliminated in this slow loop.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Playbook: Using LLMs Effectively for Test Automation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874166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78992"/>
            <a:ext cx="493776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78992"/>
            <a:ext cx="493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86384" y="1197864"/>
            <a:ext cx="621792" cy="621792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316736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27048" y="1170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 Skeletons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434840" y="1133856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multiple LLMs with the same prompt, then synthesize their outputs into a comprehensive, non-redundant test suite covering diverse scenarios.</a:t>
            </a:r>
            <a:b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"Create 10 Playwright TypeScript tests for https://example.com"</a:t>
            </a:r>
            <a:endParaRPr lang="en-US" sz="11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70832" y="1188720"/>
            <a:ext cx="27432" cy="64922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" y="2057400"/>
            <a:ext cx="874166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1168" y="2057400"/>
            <a:ext cx="493776" cy="868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" y="2057400"/>
            <a:ext cx="493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86384" y="2176272"/>
            <a:ext cx="621792" cy="621792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295144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27048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Specific Syntax on Demand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434840" y="2112264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LLMs to retrieve exact command syntax (e.g., Playwright, Cypress, Selenium) rather than memorizing everything.</a:t>
            </a:r>
            <a:endParaRPr lang="en-US" sz="1100" dirty="0"/>
          </a:p>
          <a:p>
            <a:r>
              <a:rPr lang="en-US" sz="11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"List typical web page element assertion syntaxes for Playwright TypeScript."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370832" y="2167128"/>
            <a:ext cx="27432" cy="64922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01168" y="3035808"/>
            <a:ext cx="874166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01168" y="3035808"/>
            <a:ext cx="493776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01168" y="3035808"/>
            <a:ext cx="493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786384" y="3154680"/>
            <a:ext cx="621792" cy="621792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273552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527048" y="3127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and Troubleshoot Failing Tests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4434840" y="3090672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the full test script AND the complete error message, delimited by triple quotes, for targeted debugging suggestions that address root cause rather than symptoms.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370832" y="3145536"/>
            <a:ext cx="27432" cy="64922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01168" y="4014216"/>
            <a:ext cx="874166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01168" y="4014216"/>
            <a:ext cx="493776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01168" y="4014216"/>
            <a:ext cx="493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Shape 27"/>
          <p:cNvSpPr/>
          <p:nvPr/>
        </p:nvSpPr>
        <p:spPr>
          <a:xfrm>
            <a:off x="786384" y="4133088"/>
            <a:ext cx="621792" cy="621792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251960"/>
            <a:ext cx="402336" cy="40233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527048" y="4105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Between Frameworks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4434840" y="4069080"/>
            <a:ext cx="4389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existing Cypress JavaScript tests to Playwright TypeScript — or Playwright to Robot Framework — using a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one-shot agent migration prompt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decouple all dependencies.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4370832" y="4123944"/>
            <a:ext cx="27432" cy="64922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Generate Test Skeletons via Multi-LLM Synthesis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several LLMs in parallel → consolidate → create a comprehensive, non-redundant suite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LLM Sources: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474720" cy="530352"/>
          </a:xfrm>
          <a:prstGeom prst="rect">
            <a:avLst/>
          </a:prstGeom>
          <a:solidFill>
            <a:srgbClr val="0E1E2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09728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18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ChatGPT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8470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3474720" cy="530352"/>
          </a:xfrm>
          <a:prstGeom prst="rect">
            <a:avLst/>
          </a:prstGeom>
          <a:solidFill>
            <a:srgbClr val="0E1E2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31136"/>
            <a:ext cx="109728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76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5054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3474720" cy="530352"/>
          </a:xfrm>
          <a:prstGeom prst="rect">
            <a:avLst/>
          </a:prstGeom>
          <a:solidFill>
            <a:srgbClr val="0E1E2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9504"/>
            <a:ext cx="109728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35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1638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47872"/>
            <a:ext cx="3474720" cy="530352"/>
          </a:xfrm>
          <a:prstGeom prst="rect">
            <a:avLst/>
          </a:prstGeom>
          <a:solidFill>
            <a:srgbClr val="0E1E2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47872"/>
            <a:ext cx="10972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93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822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copilot.microsoft.com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60520" y="1170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60520" y="1536192"/>
            <a:ext cx="466344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60520" y="1536192"/>
            <a:ext cx="73152" cy="10241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5112" y="1627632"/>
            <a:ext cx="4407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10 Playwright TypeScript tests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https://www.example.com.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Cover: navigation, form submission,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flows, error states, and responsive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across viewport sizes.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Strategy: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60520" y="3063240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3035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identical prompts across all LLMs simultaneously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60520" y="3465576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4381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surfaces different edge cases and test patterns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60520" y="3867912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38404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unique ideas; discard near-duplicate tests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60520" y="4270248"/>
            <a:ext cx="182880" cy="1828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42428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skeleton as a coverage map, then fill in selectors manually</a:t>
            </a:r>
            <a:endParaRPr lang="en-US" sz="115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829D7239-5198-579B-5401-D6AAE2BCE5B6}"/>
              </a:ext>
            </a:extLst>
          </p:cNvPr>
          <p:cNvSpPr/>
          <p:nvPr/>
        </p:nvSpPr>
        <p:spPr>
          <a:xfrm>
            <a:off x="367486" y="4197109"/>
            <a:ext cx="3474720" cy="530352"/>
          </a:xfrm>
          <a:prstGeom prst="rect">
            <a:avLst/>
          </a:prstGeom>
          <a:solidFill>
            <a:srgbClr val="0E1E2F"/>
          </a:solidFill>
          <a:ln w="12700">
            <a:solidFill>
              <a:srgbClr val="FFF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E0D628BB-3EDC-F330-E9FE-45BCB4B7B4B9}"/>
              </a:ext>
            </a:extLst>
          </p:cNvPr>
          <p:cNvSpPr/>
          <p:nvPr/>
        </p:nvSpPr>
        <p:spPr>
          <a:xfrm>
            <a:off x="367486" y="4197109"/>
            <a:ext cx="109728" cy="530352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5AE5C477-936E-BAE3-23CB-E3BD6BC0399D}"/>
              </a:ext>
            </a:extLst>
          </p:cNvPr>
          <p:cNvSpPr/>
          <p:nvPr/>
        </p:nvSpPr>
        <p:spPr>
          <a:xfrm>
            <a:off x="568654" y="4242829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</a:t>
            </a:r>
            <a:r>
              <a:rPr lang="en-US" altLang="zh-CN" sz="13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eepseek</a:t>
            </a:r>
            <a:endParaRPr lang="en-US" sz="13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6E52596E-03DD-38FF-0693-6A1C0871FAED}"/>
              </a:ext>
            </a:extLst>
          </p:cNvPr>
          <p:cNvSpPr/>
          <p:nvPr/>
        </p:nvSpPr>
        <p:spPr>
          <a:xfrm>
            <a:off x="568654" y="4471429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deepseek.com</a:t>
            </a:r>
            <a:endParaRPr lang="en-US" sz="105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Request Specific Syntax on Demand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874166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24128"/>
            <a:ext cx="91440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60704"/>
            <a:ext cx="8458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frameworks offer hundreds of commands. LLMs eliminate documentation hunting — ask for the exact syntax you need, including custom utility functions tailored to your specific scenario.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1168" y="1719072"/>
            <a:ext cx="28529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719072"/>
            <a:ext cx="285292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719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Syntax Alternative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" y="2176272"/>
            <a:ext cx="2633472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12848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an alternative Playwright TypeScript wait syntax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`await page.waitForTimeout(3000);` fails?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" y="35204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" y="3776472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you networkidle, waitForLoadState, waitForSelector, polling strategies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82112" y="1719072"/>
            <a:ext cx="28529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719072"/>
            <a:ext cx="285292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719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Syntax Reference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176272"/>
            <a:ext cx="2633472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2212848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typical web page element assertion syntaxes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Playwright TypeScript.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35204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776472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toBeVisible, toHaveText, toHaveURL, toHaveCount, toBeEnabled…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1719072"/>
            <a:ext cx="28529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1719072"/>
            <a:ext cx="2852928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17190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Overlay Handler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2784" y="2176272"/>
            <a:ext cx="2633472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212848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Playwright TypeScript function to dismiss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 overlays sharing class name 'overlay'.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35204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3776472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reusable while-loop handler with configurable timeout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Debug Failing Tests with Full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supply both the test script AND the error message, separated by triple-quote delimiters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Failing Test Snippet: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41605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73152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72768"/>
            <a:ext cx="3904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Comparison using Regular Expression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page.locator(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"[class*='countAndSortByArticles']",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{timeout: 10000}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).toContainText(/^[1-9] Articles$/);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9992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Error Message: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337560"/>
            <a:ext cx="416052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337560"/>
            <a:ext cx="73152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429000"/>
            <a:ext cx="3904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Timed out 5000ms waiting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expect(locator).toContainText(expected)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 /^[1-9] Articles$/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Received: " 5 Articles Sort by: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(ascending)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(descending)..."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11430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81328"/>
            <a:ext cx="4069080" cy="1417320"/>
          </a:xfrm>
          <a:prstGeom prst="rect">
            <a:avLst/>
          </a:prstGeom>
          <a:solidFill>
            <a:srgbClr val="0E1E2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536192"/>
            <a:ext cx="37947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locator matches a container that includes both the article count and a dropdown menu. The regex /^[1-9] Articles$/ cannot match because the full string contains additional sort-order text appended to the count.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29992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LLM-Suggested Fix: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337560"/>
            <a:ext cx="406908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337560"/>
            <a:ext cx="73152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429000"/>
            <a:ext cx="3813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 1: Match first text node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expect(page.locator(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"[class*='countAndSortByArticles']"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).first()).toContainText(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/[1-9]\s+Articles/);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 2: Scope to text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.locator('xpath=./text()[1]')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4 — Framework Migration with AI Agents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1042416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 A: Cypress → Playwright TypeScript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" y="1444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(Cypress JS):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719072"/>
            <a:ext cx="4114800" cy="1289304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719072"/>
            <a:ext cx="91440" cy="1289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37360"/>
            <a:ext cx="38953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describe('Header check', () =&gt; {
  beforeEach(() =&gt; {
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cy.viewport(1920, 1080);
    cy.visit(Cypress.env('baseUrl'));
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
  it('shows Login', () =&gt; {
</a:t>
            </a: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cy.contains('Login').should('be.visible');
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
});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16552" y="2103120"/>
            <a:ext cx="438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(Playwright TS):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719072"/>
            <a:ext cx="4069080" cy="1289304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719072"/>
            <a:ext cx="73152" cy="1289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737360"/>
            <a:ext cx="38221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test.describe('Header check', () =&gt; {
  test.beforeEach(async ({ page }) =&gt; {
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page.setViewportSize({w:1920,h:1080});
    await page.goto(process.env.BASE_URL);
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
  test('shows Login', async ({ page }) =&gt; {
</a:t>
            </a: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expect(page.getByText('Login')).toBeVisible();
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
});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" y="3063240"/>
            <a:ext cx="8741664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3163824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 B: Playwright → Pure Native Robot Framework + Python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1168" y="3566160"/>
            <a:ext cx="8741664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3566160"/>
            <a:ext cx="91440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621024"/>
            <a:ext cx="84856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migrate all Playwright tests in this folder to the target RobotFramework repository using pure native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RobotFramework + Python — decoupled from all Playwright dependencies and plugins.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Rectify any existing Robot Framework code that still uses Playwright syntax and remove violating files.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a modular, maintainable, elegant pure-native RobotFramework + Python repository.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 Rankings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efficiency, accuracy &amp; meticulousness for vibe coding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609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Ultra High Thinking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1444752"/>
            <a:ext cx="50292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444752"/>
            <a:ext cx="4764505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4081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75688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20208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2331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High Thinking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20440" y="2167128"/>
            <a:ext cx="50292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2167128"/>
            <a:ext cx="4129238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1305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7.8/10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798064"/>
            <a:ext cx="457200" cy="457200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27432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Agents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cursor.com/agents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20440" y="2889504"/>
            <a:ext cx="50292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2889504"/>
            <a:ext cx="3599848" cy="2560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8529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6.8/10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520440"/>
            <a:ext cx="457200" cy="457200"/>
          </a:xfrm>
          <a:prstGeom prst="ellipse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34655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Free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68680" y="37764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20440" y="3611880"/>
            <a:ext cx="50292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3611880"/>
            <a:ext cx="3070459" cy="256032"/>
          </a:xfrm>
          <a:prstGeom prst="rect">
            <a:avLst/>
          </a:prstGeom>
          <a:solidFill>
            <a:srgbClr val="A5F3FC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35753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5.8/10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242816"/>
            <a:ext cx="457200" cy="457200"/>
          </a:xfrm>
          <a:prstGeom prst="ellipse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68680" y="418795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68680" y="4498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 3.1 High Thinking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520440" y="4334256"/>
            <a:ext cx="50292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0440" y="4334256"/>
            <a:ext cx="2964581" cy="256032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42976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5.6/10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Rankings reflect personal experience across Java, TypeScript, JavaScript, Python, HTML &amp; PostgreSQL projects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Maximising Free AI Tools for Vibe Coding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</a:rPr>
              <a:t>Use multiple Apple ID or Gmail accounts to rotate free quotas across models — replenished on 5-day, weekly, or monthly cycles</a:t>
            </a:r>
          </a:p>
        </p:txBody>
      </p:sp>
      <p:sp>
        <p:nvSpPr>
          <p:cNvPr id="5" name="Card1Bg"/>
          <p:cNvSpPr/>
          <p:nvPr/>
        </p:nvSpPr>
        <p:spPr>
          <a:xfrm>
            <a:off x="228600" y="1188720"/>
            <a:ext cx="2652120" cy="3657600"/>
          </a:xfrm>
          <a:prstGeom prst="rect">
            <a:avLst/>
          </a:prstGeom>
          <a:solidFill>
            <a:srgbClr val="0E1E2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Card1Accent"/>
          <p:cNvSpPr/>
          <p:nvPr/>
        </p:nvSpPr>
        <p:spPr>
          <a:xfrm>
            <a:off x="228600" y="1188720"/>
            <a:ext cx="502920" cy="3657600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7" name="Card1Title"/>
          <p:cNvSpPr/>
          <p:nvPr/>
        </p:nvSpPr>
        <p:spPr>
          <a:xfrm>
            <a:off x="822960" y="1280160"/>
            <a:ext cx="196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</a:rPr>
              <a:t>Tool Rotation Strategy</a:t>
            </a:r>
          </a:p>
        </p:txBody>
      </p:sp>
      <p:sp>
        <p:nvSpPr>
          <p:cNvPr id="8" name="Card1Body"/>
          <p:cNvSpPr/>
          <p:nvPr/>
        </p:nvSpPr>
        <p:spPr>
          <a:xfrm>
            <a:off x="822960" y="1828800"/>
            <a:ext cx="1966320" cy="292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Create separate Apple ID or Gmail accounts to access free tiers across multiple AI tools simultaneously. Quotas replenish on 5-day, weekly, or monthly cycles depending on the platform.
Tested languages: Java, TypeScript, JavaScript, Python, HTML, and PostgreSQL. Cross-referencing outputs from multiple models dramatically improves code quality and catches blind spots.</a:t>
            </a:r>
          </a:p>
        </p:txBody>
      </p:sp>
      <p:sp>
        <p:nvSpPr>
          <p:cNvPr id="9" name="Card2Bg"/>
          <p:cNvSpPr/>
          <p:nvPr/>
        </p:nvSpPr>
        <p:spPr>
          <a:xfrm>
            <a:off x="3246120" y="1188720"/>
            <a:ext cx="2652120" cy="3657600"/>
          </a:xfrm>
          <a:prstGeom prst="rect">
            <a:avLst/>
          </a:prstGeom>
          <a:solidFill>
            <a:srgbClr val="0E1E2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Card2Accent"/>
          <p:cNvSpPr/>
          <p:nvPr/>
        </p:nvSpPr>
        <p:spPr>
          <a:xfrm>
            <a:off x="3246120" y="1188720"/>
            <a:ext cx="502920" cy="3657600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1" name="Card2Title"/>
          <p:cNvSpPr/>
          <p:nvPr/>
        </p:nvSpPr>
        <p:spPr>
          <a:xfrm>
            <a:off x="3840480" y="1280160"/>
            <a:ext cx="196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</a:rPr>
              <a:t>Top Models (Ranked)</a:t>
            </a:r>
          </a:p>
        </p:txBody>
      </p:sp>
      <p:sp>
        <p:nvSpPr>
          <p:cNvPr id="12" name="Card2Body"/>
          <p:cNvSpPr/>
          <p:nvPr/>
        </p:nvSpPr>
        <p:spPr>
          <a:xfrm>
            <a:off x="3840480" y="1828800"/>
            <a:ext cx="1966320" cy="292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1. OpenAI Codex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GPT-5.5 Ultra High Thinking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2. Google Antigravity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Claude Sonnet 4.6 High Thinking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3. Cursor Agents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4. GitHub Copilot Free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GPT-4.1 mini model</a:t>
            </a:r>
          </a:p>
        </p:txBody>
      </p:sp>
      <p:sp>
        <p:nvSpPr>
          <p:cNvPr id="13" name="Card3Bg"/>
          <p:cNvSpPr/>
          <p:nvPr/>
        </p:nvSpPr>
        <p:spPr>
          <a:xfrm>
            <a:off x="6263640" y="1188720"/>
            <a:ext cx="2652120" cy="3657600"/>
          </a:xfrm>
          <a:prstGeom prst="rect">
            <a:avLst/>
          </a:prstGeom>
          <a:solidFill>
            <a:srgbClr val="0E1E2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Card3Accent"/>
          <p:cNvSpPr/>
          <p:nvPr/>
        </p:nvSpPr>
        <p:spPr>
          <a:xfrm>
            <a:off x="6263640" y="1188720"/>
            <a:ext cx="502920" cy="365760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5" name="Card3Title"/>
          <p:cNvSpPr/>
          <p:nvPr/>
        </p:nvSpPr>
        <p:spPr>
          <a:xfrm>
            <a:off x="6858000" y="1280160"/>
            <a:ext cx="196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</a:rPr>
              <a:t>Cross-Model Workflow</a:t>
            </a:r>
          </a:p>
        </p:txBody>
      </p:sp>
      <p:sp>
        <p:nvSpPr>
          <p:cNvPr id="16" name="Card3Body"/>
          <p:cNvSpPr/>
          <p:nvPr/>
        </p:nvSpPr>
        <p:spPr>
          <a:xfrm>
            <a:off x="6858000" y="1828800"/>
            <a:ext cx="1966320" cy="292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When one model is stuck, paste the problematic files into a separate chatbot-based LLM for independent analysis. Relay its path suggestions back into your IDE's AI chat to break the deadlock.
Multi-model collaboration across: Gemini 2.5 Flash, Gemini 3.1 Pro, Codex 5.4, Antigravity Claude and Opus — running in parallel over 6 weeks of continuous refinement.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Critical Observations from Production 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weeks of multi-tool AI-assisted development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822960"/>
          </a:xfrm>
          <a:prstGeom prst="rect">
            <a:avLst/>
          </a:prstGeom>
          <a:solidFill>
            <a:srgbClr val="0E1E2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" cy="82296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Drift Over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243584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interactions accumulate, context fragments across lengthy prompt threads. AI models drift from the original requirements, introducing regressions and breaking traceability.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6432" y="1298448"/>
            <a:ext cx="27432" cy="6035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39696"/>
            <a:ext cx="8595360" cy="822960"/>
          </a:xfrm>
          <a:prstGeom prst="rect">
            <a:avLst/>
          </a:prstGeom>
          <a:solidFill>
            <a:srgbClr val="0E1E2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39696"/>
            <a:ext cx="502920" cy="82296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39696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Are Not Test-Optimized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194560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are not trained or tuned for automated testing. They confidently produce broken tests, claiming they are 'thoroughly reviewed and tested.'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2249424"/>
            <a:ext cx="27432" cy="6035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90672"/>
            <a:ext cx="8595360" cy="822960"/>
          </a:xfrm>
          <a:prstGeom prst="rect">
            <a:avLst/>
          </a:prstGeom>
          <a:solidFill>
            <a:srgbClr val="0E1E2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90672"/>
            <a:ext cx="502920" cy="8229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9067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3163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Tests — Breadth Without Depth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314553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the elegant solutions delivered for new features, AI-generated tests are often superficial. They cover happy paths and miss edge cases that matter in production.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56432" y="3200400"/>
            <a:ext cx="27432" cy="6035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41648"/>
            <a:ext cx="8595360" cy="822960"/>
          </a:xfrm>
          <a:prstGeom prst="rect">
            <a:avLst/>
          </a:prstGeom>
          <a:solidFill>
            <a:srgbClr val="0E1E2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041648"/>
            <a:ext cx="502920" cy="8229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4164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4114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Hands-Off Trap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4096512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who fully outsource both development and testing to AI may deliver fast — but with no guarantee of system reliability. Speed and correctness are not the same thing.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56432" y="4151376"/>
            <a:ext cx="27432" cy="6035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Copilot: Power Tips &amp; Modes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78992"/>
            <a:ext cx="283464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3167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Q&amp;A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591056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interaction for explanations, design discussions, and code reviews — similar to ChatGPT but with IDE context awareness.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78992"/>
            <a:ext cx="283464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Mode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3167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File Authoring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0128" y="1591056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directly into your files without copy-paste. Creates, modifies, and removes code across multiple files simultaneously.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078992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78992"/>
            <a:ext cx="28346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3167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1928" y="1591056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IDE autonomously — planning, generating, and executing across the codebase in stages, requesting human approval at key checkpoints.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035808"/>
            <a:ext cx="2834640" cy="1810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035808"/>
            <a:ext cx="73152" cy="18105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" y="34747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architectural context in .github/copilot-instructions.md. Generate an initial version using Agent mode with a structured analysis prompt.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035808"/>
            <a:ext cx="2834640" cy="1810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035808"/>
            <a:ext cx="73152" cy="18105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Context Quality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383280" y="34747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all impacted files or drag-and-drop them into the chat window to give Copilot the deep, specific context it needs for accurate suggestions.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3035808"/>
            <a:ext cx="2834640" cy="1810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3035808"/>
            <a:ext cx="73152" cy="18105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Security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34747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server exposes tools and APIs via the Model Context Protocol. Always verify any MCP server is trusted and secure before using it on proprietary codebases.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Copilot: Custom Instructions for AI Agents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.github/copilot-instructions.md — the AI's persistent memory for your codebase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2704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90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Copilot your project's unique architecture and patterns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2938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92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critical developer workflows: build, test, debug commands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95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integration points and service boundaries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97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'why' decisions were made, not just 'what' exists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99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intelligently on update — preserves valuable content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1143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Agent Prompt to Generate It: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481328"/>
            <a:ext cx="420624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481328"/>
            <a:ext cx="73152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536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 this codebase to generate 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18304" y="17190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.github/copilot-instructions.md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1901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guiding AI coding agents.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18304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 on: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18304" y="23774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Architecture requiring multi-file reading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18304" y="2560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Build/test/debug workflows &amp; commands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18304" y="2743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Project-specific patterns vs. common practice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18304" y="2926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Integration points &amp; service boundaries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18304" y="32186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Guidelines: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18304" y="34015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~20-50 lines, markdown structure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18304" y="35844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Specific examples from THIS codebase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3767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generic advice ('write tests')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18304" y="39502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Document discoverable patterns only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18304" y="41330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Merge intelligently if file exists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292608"/>
          </a:xfrm>
          <a:prstGeom prst="roundRect">
            <a:avLst>
              <a:gd name="adj" fmla="val 15625"/>
            </a:avLst>
          </a:prstGeom>
          <a:solidFill>
            <a:srgbClr val="0E2A0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prompt once in Agent mode — Copilot will scan the codebase, generate the file, and ask for feedback to iterate.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Adds, Humans Must Subtract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8741664" cy="1170432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24128"/>
            <a:ext cx="109728" cy="1170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69848"/>
            <a:ext cx="84124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context window tokens or letting AI try more alternative paths won't rescue a model that has gone off-track. More compute on a flawed trajectory is simply brute-force in the wrong direction. The AI needs a reset — not more tokens.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2304288"/>
            <a:ext cx="285292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07008" y="2377440"/>
            <a:ext cx="841248" cy="8412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496312"/>
            <a:ext cx="603504" cy="6035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2608" y="333756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Reset to Clean State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2608" y="3767328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AI session goes off the rails, git reset to the last stable commit — or git checkout specific files from a known-good commit. Restart from a clean foundation rather than compounding bad decisions on top of each other.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2608" y="4608576"/>
            <a:ext cx="267004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460857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HEAD~N  ·  git checkout &lt;sha&gt; -- path/to/file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82112" y="2304288"/>
            <a:ext cx="285292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87952" y="2377440"/>
            <a:ext cx="841248" cy="8412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2496312"/>
            <a:ext cx="603504" cy="6035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73552" y="333756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Models for Fresh Perspective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273552" y="3767328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LLM could breaks through bottlenecks. Paste the problematic files into a chatbot-based model for independent analysis and path suggestions. The 'outsider perspective' often surfaces what the stuck model cannot see.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273552" y="4608576"/>
            <a:ext cx="267004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73552" y="460857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→ Claude → Codex → repeat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63056" y="2304288"/>
            <a:ext cx="285292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168896" y="2377440"/>
            <a:ext cx="841248" cy="8412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2496312"/>
            <a:ext cx="603504" cy="6035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54496" y="333756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External Insights Back to IDE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54496" y="3767328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the third-party model's recommendations back into your IDE's AI chat window. This 'insight injection' technique unblocks the stalled agent without losing the codebase context it has already built up.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254496" y="4608576"/>
            <a:ext cx="267004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54496" y="460857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suggestion → paste into IDE chat → resume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4 Field Principles: When AI Adds, Humans Must Subtract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</a:rPr>
              <a:t>Hard-won lessons from 6+ weeks of continuous multi-model AI-assisted development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822960"/>
          </a:xfrm>
          <a:prstGeom prst="rect">
            <a:avLst/>
          </a:prstGeom>
          <a:solidFill>
            <a:srgbClr val="0E1E2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" cy="82296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8" name="Text 6"/>
          <p:cNvSpPr/>
          <p:nvPr/>
        </p:nvSpPr>
        <p:spPr>
          <a:xfrm>
            <a:off x="896112" y="12618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Git Reset to a Clean State</a:t>
            </a:r>
          </a:p>
        </p:txBody>
      </p:sp>
      <p:sp>
        <p:nvSpPr>
          <p:cNvPr id="9" name="Text 7"/>
          <p:cNvSpPr/>
          <p:nvPr/>
        </p:nvSpPr>
        <p:spPr>
          <a:xfrm>
            <a:off x="3520440" y="1243584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</a:rPr>
              <a:t>When AI spirals, git reset to the last stable commit rather than letting it compound bad decisions. More tokens on a flawed trajectory is just brute-force in the wrong direction.</a:t>
            </a:r>
          </a:p>
        </p:txBody>
      </p:sp>
      <p:sp>
        <p:nvSpPr>
          <p:cNvPr id="10" name="Shape 8"/>
          <p:cNvSpPr/>
          <p:nvPr/>
        </p:nvSpPr>
        <p:spPr>
          <a:xfrm>
            <a:off x="3456432" y="1298448"/>
            <a:ext cx="27432" cy="6035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39696"/>
            <a:ext cx="8595360" cy="822960"/>
          </a:xfrm>
          <a:prstGeom prst="rect">
            <a:avLst/>
          </a:prstGeom>
          <a:solidFill>
            <a:srgbClr val="0E1E2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39696"/>
            <a:ext cx="502920" cy="82296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39696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14" name="Text 12"/>
          <p:cNvSpPr/>
          <p:nvPr/>
        </p:nvSpPr>
        <p:spPr>
          <a:xfrm>
            <a:off x="896112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Switch Models for Fresh Perspective</a:t>
            </a:r>
          </a:p>
        </p:txBody>
      </p:sp>
      <p:sp>
        <p:nvSpPr>
          <p:cNvPr id="15" name="Text 13"/>
          <p:cNvSpPr/>
          <p:nvPr/>
        </p:nvSpPr>
        <p:spPr>
          <a:xfrm>
            <a:off x="3520440" y="2194560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</a:rPr>
              <a:t>A different LLM often breaks through bottlenecks. Paste the problematic files into a chatbot-based LLM for independent analysis; bring those path suggestions back to your IDE.</a:t>
            </a:r>
          </a:p>
        </p:txBody>
      </p:sp>
      <p:sp>
        <p:nvSpPr>
          <p:cNvPr id="16" name="Shape 14"/>
          <p:cNvSpPr/>
          <p:nvPr/>
        </p:nvSpPr>
        <p:spPr>
          <a:xfrm>
            <a:off x="3456432" y="2249424"/>
            <a:ext cx="27432" cy="6035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90672"/>
            <a:ext cx="8595360" cy="822960"/>
          </a:xfrm>
          <a:prstGeom prst="rect">
            <a:avLst/>
          </a:prstGeom>
          <a:solidFill>
            <a:srgbClr val="0E1E2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90672"/>
            <a:ext cx="502920" cy="82296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09067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20" name="Text 18"/>
          <p:cNvSpPr/>
          <p:nvPr/>
        </p:nvSpPr>
        <p:spPr>
          <a:xfrm>
            <a:off x="896112" y="3163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Nail the Algorithm Early</a:t>
            </a:r>
          </a:p>
        </p:txBody>
      </p:sp>
      <p:sp>
        <p:nvSpPr>
          <p:cNvPr id="21" name="Text 19"/>
          <p:cNvSpPr/>
          <p:nvPr/>
        </p:nvSpPr>
        <p:spPr>
          <a:xfrm>
            <a:off x="3520440" y="314553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</a:rPr>
              <a:t>If core backend algorithms are not solid in the first few iterations, even restoring to a stable baseline compounds drift. AI excels at prototyping; it is not yet a reliable refactoring partner.</a:t>
            </a:r>
          </a:p>
        </p:txBody>
      </p:sp>
      <p:sp>
        <p:nvSpPr>
          <p:cNvPr id="22" name="Shape 20"/>
          <p:cNvSpPr/>
          <p:nvPr/>
        </p:nvSpPr>
        <p:spPr>
          <a:xfrm>
            <a:off x="3456432" y="3200400"/>
            <a:ext cx="27432" cy="6035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41648"/>
            <a:ext cx="8595360" cy="822960"/>
          </a:xfrm>
          <a:prstGeom prst="rect">
            <a:avLst/>
          </a:prstGeom>
          <a:solidFill>
            <a:srgbClr val="0E1E2F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041648"/>
            <a:ext cx="502920" cy="82296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4164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26" name="Text 24"/>
          <p:cNvSpPr/>
          <p:nvPr/>
        </p:nvSpPr>
        <p:spPr>
          <a:xfrm>
            <a:off x="896112" y="4114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Own the Strategy, Not Just the Prompt</a:t>
            </a:r>
          </a:p>
        </p:txBody>
      </p:sp>
      <p:sp>
        <p:nvSpPr>
          <p:cNvPr id="27" name="Text 25"/>
          <p:cNvSpPr/>
          <p:nvPr/>
        </p:nvSpPr>
        <p:spPr>
          <a:xfrm>
            <a:off x="3520440" y="4096512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</a:rPr>
              <a:t>Use AI to accelerate skeleton generation, syntax retrieval, and migration — but always own the test logic, selector strategy, and overall quality bar yourself. Speed without correctness is liability.</a:t>
            </a:r>
          </a:p>
        </p:txBody>
      </p:sp>
      <p:sp>
        <p:nvSpPr>
          <p:cNvPr id="28" name="Shape 26"/>
          <p:cNvSpPr/>
          <p:nvPr/>
        </p:nvSpPr>
        <p:spPr>
          <a:xfrm>
            <a:off x="3456432" y="4151376"/>
            <a:ext cx="27432" cy="6035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4A79B-2AB2-64CB-7B10-45543B23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EFA240-C814-8481-1036-FA2C0521A2F5}"/>
              </a:ext>
            </a:extLst>
          </p:cNvPr>
          <p:cNvSpPr/>
          <p:nvPr/>
        </p:nvSpPr>
        <p:spPr>
          <a:xfrm>
            <a:off x="0" y="0"/>
            <a:ext cx="4572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ACE6BE-C8AD-F560-9CB5-0E45182E117E}"/>
              </a:ext>
            </a:extLst>
          </p:cNvPr>
          <p:cNvSpPr/>
          <p:nvPr/>
        </p:nvSpPr>
        <p:spPr>
          <a:xfrm>
            <a:off x="4572000" y="0"/>
            <a:ext cx="4572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7CCC1A-D2A1-12DC-7EAA-CA633EAF9C75}"/>
              </a:ext>
            </a:extLst>
          </p:cNvPr>
          <p:cNvSpPr/>
          <p:nvPr/>
        </p:nvSpPr>
        <p:spPr>
          <a:xfrm>
            <a:off x="384048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in Action: Testing-Aiding Tools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A8D669-3BF9-787E-3587-4C2C2984029B}"/>
              </a:ext>
            </a:extLst>
          </p:cNvPr>
          <p:cNvSpPr/>
          <p:nvPr/>
        </p:nvSpPr>
        <p:spPr>
          <a:xfrm>
            <a:off x="384048" y="74980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AI-assisted tools built for testing facilitation — explore the live applications via the links below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2B377E-43DA-4A67-28E8-F9685CA68799}"/>
              </a:ext>
            </a:extLst>
          </p:cNvPr>
          <p:cNvSpPr/>
          <p:nvPr/>
        </p:nvSpPr>
        <p:spPr>
          <a:xfrm>
            <a:off x="256032" y="1185672"/>
            <a:ext cx="8540496" cy="3822192"/>
          </a:xfrm>
          <a:prstGeom prst="rect">
            <a:avLst/>
          </a:prstGeom>
          <a:solidFill>
            <a:srgbClr val="061626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96EC08C-3CFB-7086-840A-E96459BA1FC2}"/>
              </a:ext>
            </a:extLst>
          </p:cNvPr>
          <p:cNvSpPr/>
          <p:nvPr/>
        </p:nvSpPr>
        <p:spPr>
          <a:xfrm>
            <a:off x="256032" y="1170432"/>
            <a:ext cx="8540496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ABA7754-626D-259D-4404-7DFE0E7E0822}"/>
              </a:ext>
            </a:extLst>
          </p:cNvPr>
          <p:cNvSpPr/>
          <p:nvPr/>
        </p:nvSpPr>
        <p:spPr>
          <a:xfrm>
            <a:off x="347472" y="1170432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5527CE3-23C4-A72E-8C47-EA1D7557E148}"/>
              </a:ext>
            </a:extLst>
          </p:cNvPr>
          <p:cNvSpPr/>
          <p:nvPr/>
        </p:nvSpPr>
        <p:spPr>
          <a:xfrm>
            <a:off x="786384" y="13350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BugGenie AI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C2B8B8-1E77-207C-B418-90843F5FA7E0}"/>
              </a:ext>
            </a:extLst>
          </p:cNvPr>
          <p:cNvSpPr/>
          <p:nvPr/>
        </p:nvSpPr>
        <p:spPr>
          <a:xfrm>
            <a:off x="2729484" y="1399032"/>
            <a:ext cx="3960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Gemini–Powered Bug Ticket Drafting Tool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FE55430-68EC-64CF-7B60-5EB9F2C070F3}"/>
              </a:ext>
            </a:extLst>
          </p:cNvPr>
          <p:cNvSpPr/>
          <p:nvPr/>
        </p:nvSpPr>
        <p:spPr>
          <a:xfrm>
            <a:off x="384048" y="2011680"/>
            <a:ext cx="8247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BugGenie AI turns screenshots and supporting artefacts into structured, professional bug reports — directly in the browser, with no backend or installation required.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E438BAB-CBD8-1D7C-A33A-B3F88AF28BFC}"/>
              </a:ext>
            </a:extLst>
          </p:cNvPr>
          <p:cNvSpPr/>
          <p:nvPr/>
        </p:nvSpPr>
        <p:spPr>
          <a:xfrm>
            <a:off x="384048" y="2761488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7B1232D-2BA5-71B8-5CD8-9990102DD4B6}"/>
              </a:ext>
            </a:extLst>
          </p:cNvPr>
          <p:cNvSpPr/>
          <p:nvPr/>
        </p:nvSpPr>
        <p:spPr>
          <a:xfrm>
            <a:off x="640080" y="265633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via AI Studio</a:t>
            </a:r>
            <a:endParaRPr lang="en-US" sz="11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E786A3C-D422-5090-8C35-C50A971974E5}"/>
              </a:ext>
            </a:extLst>
          </p:cNvPr>
          <p:cNvSpPr/>
          <p:nvPr/>
        </p:nvSpPr>
        <p:spPr>
          <a:xfrm>
            <a:off x="384048" y="3163824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D780207-A636-ADDE-6516-0CAD7617F27C}"/>
              </a:ext>
            </a:extLst>
          </p:cNvPr>
          <p:cNvSpPr/>
          <p:nvPr/>
        </p:nvSpPr>
        <p:spPr>
          <a:xfrm>
            <a:off x="640080" y="304342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— no install, no build step</a:t>
            </a:r>
            <a:endParaRPr lang="en-US" sz="11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96B95EB-C8B8-0EB5-8E4C-624533C04412}"/>
              </a:ext>
            </a:extLst>
          </p:cNvPr>
          <p:cNvSpPr/>
          <p:nvPr/>
        </p:nvSpPr>
        <p:spPr>
          <a:xfrm>
            <a:off x="384048" y="35661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A72B883-E45E-1A06-CDC1-4EF08B01C2F3}"/>
              </a:ext>
            </a:extLst>
          </p:cNvPr>
          <p:cNvSpPr/>
          <p:nvPr/>
        </p:nvSpPr>
        <p:spPr>
          <a:xfrm>
            <a:off x="640080" y="3453384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screenshots &amp; supporting artefacts</a:t>
            </a:r>
            <a:endParaRPr lang="en-US" sz="11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EFCDC3E-4B4B-4C7B-0A31-1026DEE7A2CF}"/>
              </a:ext>
            </a:extLst>
          </p:cNvPr>
          <p:cNvSpPr/>
          <p:nvPr/>
        </p:nvSpPr>
        <p:spPr>
          <a:xfrm>
            <a:off x="384048" y="3968496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D12806B-5CF6-D381-8A84-E3132AC9318A}"/>
              </a:ext>
            </a:extLst>
          </p:cNvPr>
          <p:cNvSpPr/>
          <p:nvPr/>
        </p:nvSpPr>
        <p:spPr>
          <a:xfrm>
            <a:off x="640080" y="386334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structured, ready-to-file bug tickets</a:t>
            </a:r>
            <a:endParaRPr lang="en-US" sz="11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A3C6D02-6F8F-9646-D704-2E6A69135295}"/>
              </a:ext>
            </a:extLst>
          </p:cNvPr>
          <p:cNvSpPr/>
          <p:nvPr/>
        </p:nvSpPr>
        <p:spPr>
          <a:xfrm>
            <a:off x="384048" y="4271772"/>
            <a:ext cx="8119872" cy="292608"/>
          </a:xfrm>
          <a:prstGeom prst="roundRect">
            <a:avLst>
              <a:gd name="adj" fmla="val 15625"/>
            </a:avLst>
          </a:prstGeom>
          <a:solidFill>
            <a:srgbClr val="0E2A47"/>
          </a:solidFill>
          <a:ln w="12700">
            <a:solidFill>
              <a:srgbClr val="30638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E37DCBD-85DB-E4F4-7809-2E6899398671}"/>
              </a:ext>
            </a:extLst>
          </p:cNvPr>
          <p:cNvSpPr/>
          <p:nvPr/>
        </p:nvSpPr>
        <p:spPr>
          <a:xfrm>
            <a:off x="384048" y="4271772"/>
            <a:ext cx="91440" cy="292608"/>
          </a:xfrm>
          <a:prstGeom prst="rect">
            <a:avLst/>
          </a:prstGeom>
          <a:solidFill>
            <a:srgbClr val="30638E"/>
          </a:solidFill>
          <a:ln w="12700">
            <a:solidFill>
              <a:srgbClr val="30638E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95886CE-5E02-0A4C-7FE5-B39E29D0D092}"/>
              </a:ext>
            </a:extLst>
          </p:cNvPr>
          <p:cNvSpPr/>
          <p:nvPr/>
        </p:nvSpPr>
        <p:spPr>
          <a:xfrm>
            <a:off x="548640" y="4290060"/>
            <a:ext cx="686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⌥ </a:t>
            </a:r>
            <a:r>
              <a:rPr lang="en-US" sz="9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Source Code Repository: </a:t>
            </a: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https://github.com/hockchiyeer/ai-powered-auto-bug-ticket-logger</a:t>
            </a:r>
            <a:endParaRPr lang="en-US" sz="950" dirty="0">
              <a:solidFill>
                <a:schemeClr val="accent2"/>
              </a:solidFill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1D3828D-548A-623A-A681-E52E6E585638}"/>
              </a:ext>
            </a:extLst>
          </p:cNvPr>
          <p:cNvSpPr/>
          <p:nvPr/>
        </p:nvSpPr>
        <p:spPr>
          <a:xfrm>
            <a:off x="384048" y="4600956"/>
            <a:ext cx="8119872" cy="292608"/>
          </a:xfrm>
          <a:prstGeom prst="roundRect">
            <a:avLst>
              <a:gd name="adj" fmla="val 15625"/>
            </a:avLst>
          </a:prstGeom>
          <a:solidFill>
            <a:srgbClr val="0833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52E43E0-B707-D2BF-CD4F-66CA53B6A409}"/>
              </a:ext>
            </a:extLst>
          </p:cNvPr>
          <p:cNvSpPr/>
          <p:nvPr/>
        </p:nvSpPr>
        <p:spPr>
          <a:xfrm>
            <a:off x="384048" y="4600956"/>
            <a:ext cx="914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ED98432-8AA7-0230-1AAA-EB76528365B0}"/>
              </a:ext>
            </a:extLst>
          </p:cNvPr>
          <p:cNvSpPr/>
          <p:nvPr/>
        </p:nvSpPr>
        <p:spPr>
          <a:xfrm>
            <a:off x="548640" y="4604004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Live App: </a:t>
            </a: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https://aistudio.google.com/apps/ce12cbda-aa17-405d-9018-96a8ef249d29?showPreview=true&amp;showAssistant=true</a:t>
            </a:r>
            <a:endParaRPr lang="en-US" sz="95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328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820C5-C4E5-68F5-D4AE-BE15C50A4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8439DAD7-7E26-28D3-B44F-5BCCEC14D240}"/>
              </a:ext>
            </a:extLst>
          </p:cNvPr>
          <p:cNvSpPr/>
          <p:nvPr/>
        </p:nvSpPr>
        <p:spPr>
          <a:xfrm>
            <a:off x="256032" y="423672"/>
            <a:ext cx="8540496" cy="4657344"/>
          </a:xfrm>
          <a:prstGeom prst="rect">
            <a:avLst/>
          </a:prstGeom>
          <a:solidFill>
            <a:srgbClr val="061626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AA765D5-A609-A12B-E8B7-F1A70A34D136}"/>
              </a:ext>
            </a:extLst>
          </p:cNvPr>
          <p:cNvSpPr/>
          <p:nvPr/>
        </p:nvSpPr>
        <p:spPr>
          <a:xfrm>
            <a:off x="256032" y="39624"/>
            <a:ext cx="8540496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DD92FE5-194D-B33A-658C-92FCA452FEA1}"/>
              </a:ext>
            </a:extLst>
          </p:cNvPr>
          <p:cNvSpPr/>
          <p:nvPr/>
        </p:nvSpPr>
        <p:spPr>
          <a:xfrm>
            <a:off x="347472" y="1170432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8E1DE9-5338-AB35-4DA4-15CB022ECBED}"/>
              </a:ext>
            </a:extLst>
          </p:cNvPr>
          <p:cNvSpPr/>
          <p:nvPr/>
        </p:nvSpPr>
        <p:spPr>
          <a:xfrm>
            <a:off x="786384" y="624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BugGenie AI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CAF4A7C-BE0B-80F6-7141-72C3A5DFDA92}"/>
              </a:ext>
            </a:extLst>
          </p:cNvPr>
          <p:cNvSpPr/>
          <p:nvPr/>
        </p:nvSpPr>
        <p:spPr>
          <a:xfrm>
            <a:off x="2729484" y="1399032"/>
            <a:ext cx="3960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Gemini–Powered Bug Ticket Drafting Tool</a:t>
            </a:r>
            <a:endParaRPr lang="en-US" sz="1400" dirty="0"/>
          </a:p>
        </p:txBody>
      </p:sp>
      <p:pic>
        <p:nvPicPr>
          <p:cNvPr id="20" name="AI-enabled_BugGine">
            <a:hlinkClick r:id="" action="ppaction://media"/>
            <a:extLst>
              <a:ext uri="{FF2B5EF4-FFF2-40B4-BE49-F238E27FC236}">
                <a16:creationId xmlns:a16="http://schemas.microsoft.com/office/drawing/2014/main" id="{C4051924-7B61-A5A9-8580-0761E3783A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6385" y="438913"/>
            <a:ext cx="7598790" cy="463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7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878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81D19-8176-9F6C-A2C2-D0E7C9C46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E53C23-3E46-4145-A4EB-A57AF33F7FFF}"/>
              </a:ext>
            </a:extLst>
          </p:cNvPr>
          <p:cNvSpPr/>
          <p:nvPr/>
        </p:nvSpPr>
        <p:spPr>
          <a:xfrm>
            <a:off x="0" y="0"/>
            <a:ext cx="4572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BECC84-E55F-1330-7F8D-8FA95E1BB810}"/>
              </a:ext>
            </a:extLst>
          </p:cNvPr>
          <p:cNvSpPr/>
          <p:nvPr/>
        </p:nvSpPr>
        <p:spPr>
          <a:xfrm>
            <a:off x="4572000" y="0"/>
            <a:ext cx="4572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F9EF8A-FD7A-3B66-1997-8EA5CE70282A}"/>
              </a:ext>
            </a:extLst>
          </p:cNvPr>
          <p:cNvSpPr/>
          <p:nvPr/>
        </p:nvSpPr>
        <p:spPr>
          <a:xfrm>
            <a:off x="384048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in Action: Testing-Aiding Tools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9093E1-7E0F-462D-649C-14363B0B08BB}"/>
              </a:ext>
            </a:extLst>
          </p:cNvPr>
          <p:cNvSpPr/>
          <p:nvPr/>
        </p:nvSpPr>
        <p:spPr>
          <a:xfrm>
            <a:off x="384048" y="74980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AI-assisted tools built for testing facilitation — explore the live applications via the links below</a:t>
            </a:r>
            <a:endParaRPr lang="en-US" sz="12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9C2CBC9-E64B-C4BA-8ADA-4DC69235C874}"/>
              </a:ext>
            </a:extLst>
          </p:cNvPr>
          <p:cNvSpPr/>
          <p:nvPr/>
        </p:nvSpPr>
        <p:spPr>
          <a:xfrm>
            <a:off x="256032" y="1185672"/>
            <a:ext cx="8540496" cy="3822192"/>
          </a:xfrm>
          <a:prstGeom prst="rect">
            <a:avLst/>
          </a:prstGeom>
          <a:solidFill>
            <a:srgbClr val="061626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12B757-AAF6-7D2B-25ED-EC59F01B7D42}"/>
              </a:ext>
            </a:extLst>
          </p:cNvPr>
          <p:cNvSpPr/>
          <p:nvPr/>
        </p:nvSpPr>
        <p:spPr>
          <a:xfrm>
            <a:off x="256032" y="1170432"/>
            <a:ext cx="8540496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6A92FAB4-AA14-E1D0-59F5-5B5CD7D4DC4F}"/>
              </a:ext>
            </a:extLst>
          </p:cNvPr>
          <p:cNvSpPr/>
          <p:nvPr/>
        </p:nvSpPr>
        <p:spPr>
          <a:xfrm>
            <a:off x="347472" y="1170432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</a:t>
            </a:r>
            <a:endParaRPr lang="en-US" sz="15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C9BE3AD0-A535-5B04-EB42-63E13D2A7599}"/>
              </a:ext>
            </a:extLst>
          </p:cNvPr>
          <p:cNvSpPr/>
          <p:nvPr/>
        </p:nvSpPr>
        <p:spPr>
          <a:xfrm>
            <a:off x="786384" y="13350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Maturity Assessment A</a:t>
            </a:r>
            <a:r>
              <a:rPr lang="en-US" altLang="zh-CN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20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B46D3A24-5F42-E0C1-C5D3-1AB8DC419D86}"/>
              </a:ext>
            </a:extLst>
          </p:cNvPr>
          <p:cNvSpPr/>
          <p:nvPr/>
        </p:nvSpPr>
        <p:spPr>
          <a:xfrm>
            <a:off x="4291584" y="1391412"/>
            <a:ext cx="3960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Browser-Native Static JavaScript Application</a:t>
            </a: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65AADB41-B3A4-A199-65A7-A1D62B08DC6E}"/>
              </a:ext>
            </a:extLst>
          </p:cNvPr>
          <p:cNvSpPr/>
          <p:nvPr/>
        </p:nvSpPr>
        <p:spPr>
          <a:xfrm>
            <a:off x="384048" y="2011680"/>
            <a:ext cx="8247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self-contained Agile maturity assessment app that runs by simply opening index.html — no build step, no package install, no dev server, and no deployment wrapper required.</a:t>
            </a:r>
            <a:endParaRPr lang="en-US" sz="12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2F8A518C-C092-CD36-907E-E39E16AED42D}"/>
              </a:ext>
            </a:extLst>
          </p:cNvPr>
          <p:cNvSpPr/>
          <p:nvPr/>
        </p:nvSpPr>
        <p:spPr>
          <a:xfrm>
            <a:off x="384048" y="27614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2BC90E43-BBE2-D6B3-BA91-CEDAB067103A}"/>
              </a:ext>
            </a:extLst>
          </p:cNvPr>
          <p:cNvSpPr/>
          <p:nvPr/>
        </p:nvSpPr>
        <p:spPr>
          <a:xfrm>
            <a:off x="384048" y="31638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DD8961A6-F5C9-9FC1-0A1F-6A8BE6F1E392}"/>
              </a:ext>
            </a:extLst>
          </p:cNvPr>
          <p:cNvSpPr/>
          <p:nvPr/>
        </p:nvSpPr>
        <p:spPr>
          <a:xfrm>
            <a:off x="384048" y="35661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9F38C569-34A1-3C19-9E59-9020F83C7610}"/>
              </a:ext>
            </a:extLst>
          </p:cNvPr>
          <p:cNvSpPr/>
          <p:nvPr/>
        </p:nvSpPr>
        <p:spPr>
          <a:xfrm>
            <a:off x="384048" y="39684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B4836DDD-CCD4-C68F-205E-8922B3DA77B9}"/>
              </a:ext>
            </a:extLst>
          </p:cNvPr>
          <p:cNvSpPr/>
          <p:nvPr/>
        </p:nvSpPr>
        <p:spPr>
          <a:xfrm>
            <a:off x="384048" y="4271772"/>
            <a:ext cx="8119872" cy="292608"/>
          </a:xfrm>
          <a:prstGeom prst="roundRect">
            <a:avLst>
              <a:gd name="adj" fmla="val 15625"/>
            </a:avLst>
          </a:prstGeom>
          <a:solidFill>
            <a:srgbClr val="0E2A4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28DE9E1C-185C-61E3-B9AA-09F6350B7F43}"/>
              </a:ext>
            </a:extLst>
          </p:cNvPr>
          <p:cNvSpPr/>
          <p:nvPr/>
        </p:nvSpPr>
        <p:spPr>
          <a:xfrm>
            <a:off x="384048" y="4271772"/>
            <a:ext cx="91440" cy="292608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BE022A23-56CD-C20D-F8F5-875A80A2D5C9}"/>
              </a:ext>
            </a:extLst>
          </p:cNvPr>
          <p:cNvSpPr/>
          <p:nvPr/>
        </p:nvSpPr>
        <p:spPr>
          <a:xfrm>
            <a:off x="548640" y="4290060"/>
            <a:ext cx="784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⌥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Source Code Repository: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https://github.com/hockchiyeer/google-ai-studio-generated-agile-maturity-assessment-app/tree/task/branch-for-github-page-deployment</a:t>
            </a:r>
            <a:endParaRPr lang="en-US" sz="950" dirty="0">
              <a:solidFill>
                <a:schemeClr val="accent2"/>
              </a:solidFill>
            </a:endParaRPr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16CF6B7B-6428-87AA-FAEE-A4029280E735}"/>
              </a:ext>
            </a:extLst>
          </p:cNvPr>
          <p:cNvSpPr/>
          <p:nvPr/>
        </p:nvSpPr>
        <p:spPr>
          <a:xfrm>
            <a:off x="384048" y="4631436"/>
            <a:ext cx="8119872" cy="292608"/>
          </a:xfrm>
          <a:prstGeom prst="roundRect">
            <a:avLst>
              <a:gd name="adj" fmla="val 15625"/>
            </a:avLst>
          </a:prstGeom>
          <a:solidFill>
            <a:srgbClr val="0833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EF991340-5C64-F8F3-CFC6-EDD6E519877D}"/>
              </a:ext>
            </a:extLst>
          </p:cNvPr>
          <p:cNvSpPr/>
          <p:nvPr/>
        </p:nvSpPr>
        <p:spPr>
          <a:xfrm>
            <a:off x="384048" y="4631436"/>
            <a:ext cx="914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D42CA0CA-21D1-3E11-4E35-A453E83CCA40}"/>
              </a:ext>
            </a:extLst>
          </p:cNvPr>
          <p:cNvSpPr/>
          <p:nvPr/>
        </p:nvSpPr>
        <p:spPr>
          <a:xfrm>
            <a:off x="548640" y="4634484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Live App: </a:t>
            </a:r>
            <a:r>
              <a:rPr lang="en-US" sz="9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https://hockchiyeer.github.io/google-ai-studio-generated-agile-maturity-assessment-app/</a:t>
            </a:r>
            <a:endParaRPr lang="en-US" sz="950" dirty="0">
              <a:solidFill>
                <a:schemeClr val="accent2"/>
              </a:solidFill>
            </a:endParaRPr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FE51F9E2-A8DF-C6F9-AD1D-80E9E7DECCBF}"/>
              </a:ext>
            </a:extLst>
          </p:cNvPr>
          <p:cNvSpPr/>
          <p:nvPr/>
        </p:nvSpPr>
        <p:spPr>
          <a:xfrm>
            <a:off x="640080" y="264795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browser-native — pure HTML, CSS &amp; JS</a:t>
            </a:r>
            <a:endParaRPr lang="en-US" sz="1150" dirty="0"/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AD18B367-89B9-F9DD-1F55-9DC8C3FFAF5E}"/>
              </a:ext>
            </a:extLst>
          </p:cNvPr>
          <p:cNvSpPr/>
          <p:nvPr/>
        </p:nvSpPr>
        <p:spPr>
          <a:xfrm>
            <a:off x="640080" y="305028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Zero-dependency: no npm, no bundler, no server</a:t>
            </a:r>
            <a:endParaRPr lang="en-US" sz="1150" dirty="0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398DDEC2-54BD-77CE-CF05-A1067D3732FF}"/>
              </a:ext>
            </a:extLst>
          </p:cNvPr>
          <p:cNvSpPr/>
          <p:nvPr/>
        </p:nvSpPr>
        <p:spPr>
          <a:xfrm>
            <a:off x="640080" y="345262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directly to run locally</a:t>
            </a:r>
            <a:endParaRPr lang="en-US" sz="1150" dirty="0"/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15F0BB75-A481-3B9A-F5C0-0AFF3B7CE62F}"/>
              </a:ext>
            </a:extLst>
          </p:cNvPr>
          <p:cNvSpPr/>
          <p:nvPr/>
        </p:nvSpPr>
        <p:spPr>
          <a:xfrm>
            <a:off x="640080" y="385495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to GitHub Pages in one step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112510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4888D-FD10-79E9-2D8D-19C82EF4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505CF081-8F29-8B1C-09A3-9E01C4CDFDCB}"/>
              </a:ext>
            </a:extLst>
          </p:cNvPr>
          <p:cNvSpPr/>
          <p:nvPr/>
        </p:nvSpPr>
        <p:spPr>
          <a:xfrm>
            <a:off x="256032" y="423672"/>
            <a:ext cx="8540496" cy="4657344"/>
          </a:xfrm>
          <a:prstGeom prst="rect">
            <a:avLst/>
          </a:prstGeom>
          <a:solidFill>
            <a:srgbClr val="061626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1D8334-624C-A816-A8CA-BE2EB74B6CD1}"/>
              </a:ext>
            </a:extLst>
          </p:cNvPr>
          <p:cNvSpPr/>
          <p:nvPr/>
        </p:nvSpPr>
        <p:spPr>
          <a:xfrm>
            <a:off x="256032" y="39624"/>
            <a:ext cx="8540496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B4D551-674B-8870-4109-0A851D474F07}"/>
              </a:ext>
            </a:extLst>
          </p:cNvPr>
          <p:cNvSpPr/>
          <p:nvPr/>
        </p:nvSpPr>
        <p:spPr>
          <a:xfrm>
            <a:off x="347472" y="1170432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AF3A80-3ACF-2535-380B-FB9FEC8FEE68}"/>
              </a:ext>
            </a:extLst>
          </p:cNvPr>
          <p:cNvSpPr/>
          <p:nvPr/>
        </p:nvSpPr>
        <p:spPr>
          <a:xfrm>
            <a:off x="786384" y="624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Maturity Assessment A</a:t>
            </a:r>
            <a:r>
              <a:rPr lang="en-US" altLang="zh-CN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9635D1-B7FC-0538-A1B6-93760EE2E3D2}"/>
              </a:ext>
            </a:extLst>
          </p:cNvPr>
          <p:cNvSpPr/>
          <p:nvPr/>
        </p:nvSpPr>
        <p:spPr>
          <a:xfrm>
            <a:off x="2729484" y="1399032"/>
            <a:ext cx="3960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Gemini–Powered Bug Ticket Drafting Tool</a:t>
            </a:r>
            <a:endParaRPr lang="en-US" sz="1400" dirty="0"/>
          </a:p>
        </p:txBody>
      </p:sp>
      <p:pic>
        <p:nvPicPr>
          <p:cNvPr id="2" name="Codex_Rewote_JS-backed_Maturity_Assessment_App">
            <a:hlinkClick r:id="" action="ppaction://media"/>
            <a:extLst>
              <a:ext uri="{FF2B5EF4-FFF2-40B4-BE49-F238E27FC236}">
                <a16:creationId xmlns:a16="http://schemas.microsoft.com/office/drawing/2014/main" id="{5F445B07-7B0A-6A7C-C02F-39AF712C44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8752" y="461772"/>
            <a:ext cx="8045535" cy="45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2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57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64592" cy="50337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969264"/>
            <a:ext cx="8458200" cy="850392"/>
          </a:xfrm>
          <a:prstGeom prst="rect">
            <a:avLst/>
          </a:prstGeom>
          <a:solidFill>
            <a:srgbClr val="0E1E2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78992"/>
            <a:ext cx="640080" cy="640080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1887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60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Prototype Powerhouse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950208" y="1042416"/>
            <a:ext cx="4709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AI tools are outstanding for rapid prototyping and POC development, but are not yet reliable partners for long-term refactoring and maintenance.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86200" y="1106424"/>
            <a:ext cx="27432" cy="5760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1965960"/>
            <a:ext cx="8458200" cy="850392"/>
          </a:xfrm>
          <a:prstGeom prst="rect">
            <a:avLst/>
          </a:prstGeom>
          <a:solidFill>
            <a:srgbClr val="0E1E2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048" y="2075688"/>
            <a:ext cx="640080" cy="64008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1854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057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 Exposes AI's Limits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950208" y="2039112"/>
            <a:ext cx="4709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models fundamentally clash with the deterministic, zero-tolerance nature of reliable UI test automation. Expect humans to close the gap.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886200" y="2103120"/>
            <a:ext cx="27432" cy="5760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" y="2962656"/>
            <a:ext cx="8458200" cy="850392"/>
          </a:xfrm>
          <a:prstGeom prst="rect">
            <a:avLst/>
          </a:prstGeom>
          <a:solidFill>
            <a:srgbClr val="0E1E2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4048" y="3072384"/>
            <a:ext cx="640080" cy="64008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18211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0540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Subtract Principle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950208" y="3035808"/>
            <a:ext cx="4709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starts compounding complexity, the correct response is to simplify — reset to a clean state, switch models, and inject external insights.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886200" y="3099816"/>
            <a:ext cx="27432" cy="5760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20040" y="3959352"/>
            <a:ext cx="8458200" cy="850392"/>
          </a:xfrm>
          <a:prstGeom prst="rect">
            <a:avLst/>
          </a:prstGeom>
          <a:solidFill>
            <a:srgbClr val="0E1E2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84048" y="4069080"/>
            <a:ext cx="640080" cy="64008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4178808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4050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LLMs as Accelerators, Not Authorities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950208" y="4032504"/>
            <a:ext cx="4709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skeletons, retrieve syntax, debug with context, migrate frameworks — but always own the logic, the selectors, and the test strategy yourself.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886200" y="4096512"/>
            <a:ext cx="27432" cy="5760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0040" y="4754880"/>
            <a:ext cx="8458200" cy="91440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3596</Words>
  <Application>Microsoft Office PowerPoint</Application>
  <PresentationFormat>On-screen Show (16:9)</PresentationFormat>
  <Paragraphs>391</Paragraphs>
  <Slides>25</Slides>
  <Notes>22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Er Hock Chiye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Software Test Automation</dc:title>
  <dc:subject>PptxGenJS Presentation</dc:subject>
  <dc:creator>Practitioner Insights</dc:creator>
  <cp:lastModifiedBy>Yu Fuqi Fuqi</cp:lastModifiedBy>
  <cp:revision>41</cp:revision>
  <dcterms:created xsi:type="dcterms:W3CDTF">2026-06-04T08:17:46Z</dcterms:created>
  <dcterms:modified xsi:type="dcterms:W3CDTF">2026-06-05T08:17:56Z</dcterms:modified>
</cp:coreProperties>
</file>