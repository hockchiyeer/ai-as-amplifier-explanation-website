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89" r:id="rId4"/>
    <p:sldId id="258" r:id="rId5"/>
    <p:sldId id="284" r:id="rId6"/>
    <p:sldId id="259" r:id="rId7"/>
    <p:sldId id="260" r:id="rId8"/>
    <p:sldId id="261" r:id="rId9"/>
    <p:sldId id="262" r:id="rId10"/>
    <p:sldId id="286" r:id="rId11"/>
    <p:sldId id="263" r:id="rId12"/>
    <p:sldId id="281" r:id="rId13"/>
    <p:sldId id="264" r:id="rId14"/>
    <p:sldId id="265" r:id="rId15"/>
    <p:sldId id="266" r:id="rId16"/>
    <p:sldId id="267" r:id="rId17"/>
    <p:sldId id="282" r:id="rId18"/>
    <p:sldId id="269" r:id="rId19"/>
    <p:sldId id="290" r:id="rId20"/>
    <p:sldId id="291" r:id="rId21"/>
    <p:sldId id="270" r:id="rId22"/>
    <p:sldId id="271" r:id="rId23"/>
    <p:sldId id="272" r:id="rId24"/>
    <p:sldId id="273" r:id="rId25"/>
    <p:sldId id="287" r:id="rId26"/>
    <p:sldId id="274" r:id="rId27"/>
    <p:sldId id="275" r:id="rId28"/>
    <p:sldId id="276" r:id="rId29"/>
    <p:sldId id="283" r:id="rId30"/>
    <p:sldId id="277" r:id="rId31"/>
    <p:sldId id="268" r:id="rId32"/>
    <p:sldId id="278" r:id="rId33"/>
    <p:sldId id="279" r:id="rId34"/>
    <p:sldId id="285" r:id="rId35"/>
    <p:sldId id="280" r:id="rId3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A3B8"/>
    <a:srgbClr val="22D3EE"/>
    <a:srgbClr val="405154"/>
    <a:srgbClr val="0D1B2A"/>
    <a:srgbClr val="848B96"/>
    <a:srgbClr val="0F22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44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174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Set the frame — AI is not a neutral productivity tool. It operates as an amplifier, multiplier, and compounder. The outcome depends entirely on the strategic quality of what you feed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insight: AI has no moral compass or strategic judgment. It simply amplifies whatever it receives. The responsibility for direction lies entirely with the leadership team, not with the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rankings reflect real-world vibe coding sessions. Key insight: using multiple models in rotation dramatically improves output quality and catches blind spots that a single model misses.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this question. Give the audience time to sit with it. The shift from reactive to proactive, from output-focused to outcome-focused, is the core transformation that AI enables — but only if leadership chooses it consciously.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675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notebooklm.google.com/" TargetMode="Externa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ithub.com/hockchiyeer/ai-powered-auto-bug-ticket-logger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hockchiyeer.github.io/google-ai-studio-generated-agile-maturity-assessment-app" TargetMode="External"/><Relationship Id="rId5" Type="http://schemas.openxmlformats.org/officeDocument/2006/relationships/hyperlink" Target="https://www.github.com/hockchiyeer/google-ai-studio-generated-agile-maturity-assessment-app/tree/task/branch-for-github-page-deployment" TargetMode="External"/><Relationship Id="rId4" Type="http://schemas.openxmlformats.org/officeDocument/2006/relationships/hyperlink" Target="https://aistudio.google.com/apps/ce12cbda-aa17-405d-9018-96a8ef249d29?showPreview=true&amp;showAssistant=true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i.com/codex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features/copilot" TargetMode="External"/><Relationship Id="rId5" Type="http://schemas.openxmlformats.org/officeDocument/2006/relationships/hyperlink" Target="https://cursor.com/" TargetMode="External"/><Relationship Id="rId4" Type="http://schemas.openxmlformats.org/officeDocument/2006/relationships/hyperlink" Target="https://antigravity.google/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3B82F6">
              <a:alpha val="13000"/>
            </a:srgbClr>
          </a:solidFill>
          <a:ln w="12700">
            <a:solidFill>
              <a:srgbClr val="3B82F6">
                <a:alpha val="13000"/>
              </a:srgbClr>
            </a:solidFill>
            <a:prstDash val="solid"/>
          </a:ln>
        </p:spPr>
        <p:txBody>
          <a:bodyPr/>
          <a:lstStyle/>
          <a:p>
            <a:endParaRPr lang="en-US">
              <a:cs typeface="Calibri" panose="020F050202020403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498080" y="1097280"/>
            <a:ext cx="2743200" cy="2743200"/>
          </a:xfrm>
          <a:prstGeom prst="ellipse">
            <a:avLst/>
          </a:prstGeom>
          <a:solidFill>
            <a:srgbClr val="22D3EE">
              <a:alpha val="17000"/>
            </a:srgbClr>
          </a:solidFill>
          <a:ln w="12700">
            <a:solidFill>
              <a:srgbClr val="22D3EE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en-US"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3108960" cy="329184"/>
          </a:xfrm>
          <a:prstGeom prst="roundRect">
            <a:avLst>
              <a:gd name="adj" fmla="val 2777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950" b="1" kern="0" spc="200" dirty="0">
                <a:solidFill>
                  <a:srgbClr val="FFFFFF"/>
                </a:solidFill>
                <a:cs typeface="Calibri" panose="020F0502020204030204" pitchFamily="34" charset="0"/>
              </a:rPr>
              <a:t>企业AI战略</a:t>
            </a:r>
            <a:endParaRPr lang="en-US" sz="950" dirty="0"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4200" b="1" dirty="0">
                <a:solidFill>
                  <a:srgbClr val="FFFFFF"/>
                </a:solidFill>
                <a:cs typeface="Calibri" panose="020F0502020204030204" pitchFamily="34" charset="0"/>
              </a:rPr>
              <a:t>AI × 企业战略</a:t>
            </a:r>
            <a:endParaRPr lang="en-US" sz="4200" dirty="0"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3600" b="1" dirty="0">
                <a:solidFill>
                  <a:srgbClr val="22D3EE"/>
                </a:solidFill>
                <a:cs typeface="Calibri" panose="020F0502020204030204" pitchFamily="34" charset="0"/>
              </a:rPr>
              <a:t>放大器、倍增器</a:t>
            </a:r>
            <a:endParaRPr lang="en-US" sz="3600" dirty="0"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zh-CN" altLang="en-US" sz="3600" b="1" dirty="0">
                <a:solidFill>
                  <a:srgbClr val="22D3EE"/>
                </a:solidFill>
                <a:cs typeface="Calibri" panose="020F0502020204030204" pitchFamily="34" charset="0"/>
              </a:rPr>
              <a:t>与复利器</a:t>
            </a:r>
            <a:endParaRPr lang="en-US" sz="3600" dirty="0"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50" i="1" dirty="0">
                <a:solidFill>
                  <a:srgbClr val="848B96"/>
                </a:solidFill>
                <a:cs typeface="Calibri" panose="020F0502020204030204" pitchFamily="34" charset="0"/>
              </a:rPr>
              <a:t>AI如何放大、倍增并复利你的竞争优势</a:t>
            </a:r>
            <a:endParaRPr lang="en-US" sz="1350" dirty="0">
              <a:solidFill>
                <a:srgbClr val="848B96"/>
              </a:solidFill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zh-CN" altLang="en-US" sz="1350" i="1" dirty="0">
                <a:solidFill>
                  <a:srgbClr val="848B96"/>
                </a:solidFill>
                <a:cs typeface="Calibri" panose="020F0502020204030204" pitchFamily="34" charset="0"/>
              </a:rPr>
              <a:t>——以及你的战略失误</a:t>
            </a:r>
            <a:endParaRPr lang="en-US" sz="1350" dirty="0">
              <a:solidFill>
                <a:srgbClr val="848B96"/>
              </a:solidFill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4434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400" dirty="0">
                <a:solidFill>
                  <a:srgbClr val="22D3EE"/>
                </a:solidFill>
                <a:cs typeface="Calibri" panose="020F0502020204030204" pitchFamily="34" charset="0"/>
              </a:rPr>
              <a:t>余福祺  </a:t>
            </a:r>
            <a:r>
              <a:rPr lang="en-US" sz="1200" dirty="0">
                <a:solidFill>
                  <a:srgbClr val="94A3B8"/>
                </a:solidFill>
                <a:cs typeface="Calibri" panose="020F0502020204030204" pitchFamily="34" charset="0"/>
              </a:rPr>
              <a:t>|  </a:t>
            </a:r>
            <a:r>
              <a:rPr lang="en-US" sz="1400" dirty="0">
                <a:solidFill>
                  <a:srgbClr val="848B96"/>
                </a:solidFill>
                <a:cs typeface="Calibri" panose="020F0502020204030204" pitchFamily="34" charset="0"/>
              </a:rPr>
              <a:t>AI</a:t>
            </a:r>
            <a:r>
              <a:rPr lang="zh-CN" altLang="en-US" sz="1400" dirty="0">
                <a:solidFill>
                  <a:srgbClr val="848B96"/>
                </a:solidFill>
                <a:cs typeface="Calibri" panose="020F0502020204030204" pitchFamily="34" charset="0"/>
              </a:rPr>
              <a:t>日常用例实践者</a:t>
            </a:r>
            <a:endParaRPr lang="en-US" sz="1200" dirty="0">
              <a:solidFill>
                <a:srgbClr val="848B96"/>
              </a:solidFill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2600" b="1" dirty="0">
                <a:solidFill>
                  <a:srgbClr val="1E293B"/>
                </a:solidFill>
                <a:cs typeface="Calibri" panose="020F0502020204030204" pitchFamily="34" charset="0"/>
              </a:rPr>
              <a:t>AI对企业的三大复合效应</a:t>
            </a:r>
            <a:endParaRPr lang="en-US" sz="2600" dirty="0"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300" i="1" dirty="0">
                <a:solidFill>
                  <a:srgbClr val="64748B"/>
                </a:solidFill>
                <a:cs typeface="Calibri" panose="020F0502020204030204" pitchFamily="34" charset="0"/>
              </a:rPr>
              <a:t>组织中的每一次AI部署,都同时通过三种相互关联的机制运作。</a:t>
            </a:r>
            <a:endParaRPr lang="en-US" sz="1300" dirty="0"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743200" cy="3520440"/>
          </a:xfrm>
          <a:prstGeom prst="roundRect">
            <a:avLst>
              <a:gd name="adj" fmla="val 4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126187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cs typeface="Calibri" panose="020F0502020204030204" pitchFamily="34" charset="0"/>
              </a:rPr>
              <a:t>⚡</a:t>
            </a:r>
            <a:endParaRPr lang="en-US" sz="3200" dirty="0"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9768" y="182880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900" b="1" kern="0" spc="200" dirty="0">
                <a:solidFill>
                  <a:srgbClr val="FFFFFF"/>
                </a:solidFill>
                <a:cs typeface="Calibri" panose="020F0502020204030204" pitchFamily="34" charset="0"/>
              </a:rPr>
              <a:t>效应一</a:t>
            </a:r>
            <a:endParaRPr lang="en-US" sz="900" dirty="0"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205740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FFFFFF"/>
                </a:solidFill>
                <a:cs typeface="Calibri" panose="020F0502020204030204" pitchFamily="34" charset="0"/>
              </a:rPr>
              <a:t>放大器</a:t>
            </a:r>
            <a:endParaRPr lang="en-US" sz="2000" dirty="0">
              <a:cs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94360" y="2542032"/>
            <a:ext cx="219456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29768" y="2633472"/>
            <a:ext cx="2523744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150" dirty="0">
                <a:solidFill>
                  <a:srgbClr val="FFFFFF"/>
                </a:solidFill>
                <a:cs typeface="Calibri" panose="020F0502020204030204" pitchFamily="34" charset="0"/>
              </a:rPr>
              <a:t>AI会放大每一个行动的影响——无论好坏。正确的战略会产生超额回报;有缺陷的战略则会加速失败,并放大其后果。</a:t>
            </a:r>
            <a:endParaRPr lang="en-US" sz="1150" dirty="0">
              <a:cs typeface="Calibri" panose="020F050202020403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743200" cy="3520440"/>
          </a:xfrm>
          <a:prstGeom prst="roundRect">
            <a:avLst>
              <a:gd name="adj" fmla="val 4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46120" y="126187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cs typeface="Calibri" panose="020F0502020204030204" pitchFamily="34" charset="0"/>
              </a:rPr>
              <a:t>✖</a:t>
            </a:r>
            <a:endParaRPr lang="en-US" sz="3200" dirty="0"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355848" y="182880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900" b="1" kern="0" spc="200" dirty="0">
                <a:solidFill>
                  <a:srgbClr val="FFFFFF"/>
                </a:solidFill>
                <a:cs typeface="Calibri" panose="020F0502020204030204" pitchFamily="34" charset="0"/>
              </a:rPr>
              <a:t>效应二</a:t>
            </a:r>
            <a:endParaRPr lang="en-US" sz="900" dirty="0"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46120" y="205740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FFFFFF"/>
                </a:solidFill>
                <a:cs typeface="Calibri" panose="020F0502020204030204" pitchFamily="34" charset="0"/>
              </a:rPr>
              <a:t>倍增器</a:t>
            </a:r>
            <a:endParaRPr lang="en-US" sz="2000" dirty="0">
              <a:cs typeface="Calibri" panose="020F050202020403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520440" y="2542032"/>
            <a:ext cx="219456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>
              <a:cs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55848" y="2633472"/>
            <a:ext cx="2523744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150" dirty="0">
                <a:solidFill>
                  <a:srgbClr val="FFFFFF"/>
                </a:solidFill>
                <a:cs typeface="Calibri" panose="020F0502020204030204" pitchFamily="34" charset="0"/>
              </a:rPr>
              <a:t>AI能倍增团队在各渠道、市场和职能领域的有效产出与覆盖范围——在人力无法兼顾之处同时运作。但当AI出错时,也会在整个组织中复制错误、错误信息和糟糕的决策。</a:t>
            </a:r>
            <a:endParaRPr lang="en-US" sz="1150" dirty="0">
              <a:cs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72200" y="1143000"/>
            <a:ext cx="2743200" cy="3520440"/>
          </a:xfrm>
          <a:prstGeom prst="roundRect">
            <a:avLst>
              <a:gd name="adj" fmla="val 4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172200" y="126187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cs typeface="Calibri" panose="020F0502020204030204" pitchFamily="34" charset="0"/>
              </a:rPr>
              <a:t>📈</a:t>
            </a:r>
            <a:endParaRPr lang="en-US" sz="3200" dirty="0"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81928" y="182880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900" b="1" kern="0" spc="200" dirty="0">
                <a:solidFill>
                  <a:srgbClr val="FFFFFF"/>
                </a:solidFill>
                <a:cs typeface="Calibri" panose="020F0502020204030204" pitchFamily="34" charset="0"/>
              </a:rPr>
              <a:t>效应三</a:t>
            </a:r>
            <a:endParaRPr lang="en-US" sz="900" dirty="0"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172200" y="205740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FFFFFF"/>
                </a:solidFill>
                <a:cs typeface="Calibri" panose="020F0502020204030204" pitchFamily="34" charset="0"/>
              </a:rPr>
              <a:t>复利器</a:t>
            </a:r>
            <a:endParaRPr lang="en-US" sz="2000" dirty="0">
              <a:cs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46520" y="2542032"/>
            <a:ext cx="219456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>
              <a:cs typeface="Calibri" panose="020F050202020403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81928" y="2633472"/>
            <a:ext cx="2523744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150" dirty="0">
                <a:solidFill>
                  <a:srgbClr val="FFFFFF"/>
                </a:solidFill>
                <a:cs typeface="Calibri" panose="020F0502020204030204" pitchFamily="34" charset="0"/>
              </a:rPr>
              <a:t>AI带来的优势会随时间复利累积。今天构建AI系统的团队,将比仍依赖线性人工流程的竞争对手获得指数级领先优势。但若建立在有缺陷的战略之上,AI同样会让错误随时间复利累积,把组织推向代价越来越高、越来越难以逆转的结局。</a:t>
            </a:r>
            <a:endParaRPr lang="en-US" sz="1150" dirty="0">
              <a:cs typeface="Calibri" panose="020F050202020403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7200" y="47731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i="1" dirty="0">
                <a:solidFill>
                  <a:srgbClr val="64748B"/>
                </a:solidFill>
                <a:cs typeface="Calibri" panose="020F0502020204030204" pitchFamily="34" charset="0"/>
              </a:rPr>
              <a:t>这三种效应并非各自独立——它们同时发生,并相互强化。</a:t>
            </a:r>
            <a:endParaRPr lang="en-US" sz="1200" dirty="0"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2200" b="1" dirty="0" err="1">
                <a:solidFill>
                  <a:srgbClr val="0F22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算力</a:t>
            </a:r>
            <a:r>
              <a:rPr lang="zh-CN" altLang="en-US" sz="2200" b="1" dirty="0" err="1">
                <a:solidFill>
                  <a:srgbClr val="1E293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充裕时代:</a:t>
            </a:r>
            <a:r>
              <a:rPr lang="en-US" sz="2400" b="1" dirty="0" err="1">
                <a:solidFill>
                  <a:srgbClr val="1E293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AI</a:t>
            </a:r>
            <a:r>
              <a:rPr lang="zh-CN" altLang="en-US" sz="2200" b="1" dirty="0" err="1">
                <a:solidFill>
                  <a:srgbClr val="1E293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创造“一体多面,一法通万法通</a:t>
            </a:r>
            <a:r>
              <a:rPr lang="en-US" sz="2200" b="1" dirty="0">
                <a:solidFill>
                  <a:srgbClr val="1E293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"/>
          <p:cNvSpPr/>
          <p:nvPr/>
        </p:nvSpPr>
        <p:spPr>
          <a:xfrm>
            <a:off x="457200" y="6553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50" i="1" dirty="0">
                <a:solidFill>
                  <a:srgbClr val="64748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在算力、模型与知识资源日益充裕(Abundance of Resources)的时代,掌握一种AI应用框架,往往能够快速迁移到多个行业与领域。</a:t>
            </a:r>
            <a:endParaRPr lang="en-US" sz="12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aseLabel"/>
          <p:cNvSpPr/>
          <p:nvPr/>
        </p:nvSpPr>
        <p:spPr>
          <a:xfrm>
            <a:off x="457200" y="114780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案例</a:t>
            </a:r>
            <a:r>
              <a:rPr lang="en-US" sz="1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CN" altLang="en-US" sz="1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同一套</a:t>
            </a:r>
            <a:r>
              <a:rPr lang="en-US" sz="1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AI</a:t>
            </a:r>
            <a:r>
              <a:rPr lang="zh-CN" altLang="en-US" sz="1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应用框架</a:t>
            </a:r>
            <a:r>
              <a:rPr lang="en-US" sz="1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zh-CN" altLang="en-US" sz="1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跨领域变通迁移</a:t>
            </a:r>
            <a:endParaRPr lang="en-US" sz="16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ard_TestAuto"/>
          <p:cNvSpPr/>
          <p:nvPr/>
        </p:nvSpPr>
        <p:spPr>
          <a:xfrm>
            <a:off x="457200" y="1440360"/>
            <a:ext cx="2621280" cy="822960"/>
          </a:xfrm>
          <a:prstGeom prst="roundRect">
            <a:avLst>
              <a:gd name="adj" fmla="val 6000"/>
            </a:avLst>
          </a:prstGeom>
          <a:solidFill>
            <a:srgbClr val="EDF6FF"/>
          </a:solidFill>
          <a:ln w="13970">
            <a:solidFill>
              <a:srgbClr val="2563EB"/>
            </a:solidFill>
          </a:ln>
        </p:spPr>
        <p:txBody>
          <a:bodyPr wrap="square" lIns="91440" tIns="60960" rIns="91440" bIns="60960" rtlCol="0" anchor="ctr"/>
          <a:lstStyle/>
          <a:p>
            <a:pPr algn="ctr">
              <a:buNone/>
            </a:pPr>
            <a:r>
              <a:rPr lang="en-US" sz="1350" b="1" dirty="0">
                <a:solidFill>
                  <a:srgbClr val="0F22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AI in Test Automation</a:t>
            </a:r>
          </a:p>
          <a:p>
            <a:pPr algn="ctr">
              <a:buNone/>
            </a:pPr>
            <a:r>
              <a:rPr lang="zh-CN" altLang="en-US" sz="1100" dirty="0">
                <a:solidFill>
                  <a:srgbClr val="33415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软件测试自动化的AI实战</a:t>
            </a:r>
          </a:p>
        </p:txBody>
      </p:sp>
      <p:sp>
        <p:nvSpPr>
          <p:cNvPr id="6" name="Arrow1"/>
          <p:cNvSpPr/>
          <p:nvPr/>
        </p:nvSpPr>
        <p:spPr>
          <a:xfrm>
            <a:off x="3032760" y="1748760"/>
            <a:ext cx="274320" cy="206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rd_Politics"/>
          <p:cNvSpPr/>
          <p:nvPr/>
        </p:nvSpPr>
        <p:spPr>
          <a:xfrm>
            <a:off x="3261360" y="1440360"/>
            <a:ext cx="2621280" cy="82296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3970">
            <a:solidFill>
              <a:srgbClr val="F59E0B"/>
            </a:solidFill>
          </a:ln>
        </p:spPr>
        <p:txBody>
          <a:bodyPr wrap="square" lIns="91440" tIns="60960" rIns="91440" bIns="60960" rtlCol="0" anchor="ctr"/>
          <a:lstStyle/>
          <a:p>
            <a:pPr algn="ctr">
              <a:buNone/>
            </a:pPr>
            <a:r>
              <a:rPr lang="en-US" sz="1350" b="1" dirty="0">
                <a:solidFill>
                  <a:srgbClr val="0F22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AI in Politics Maneuver</a:t>
            </a:r>
          </a:p>
          <a:p>
            <a:pPr algn="ctr"/>
            <a:r>
              <a:rPr lang="zh-CN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选举与政治组织动员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Arrow2"/>
          <p:cNvSpPr/>
          <p:nvPr/>
        </p:nvSpPr>
        <p:spPr>
          <a:xfrm>
            <a:off x="5836920" y="1748760"/>
            <a:ext cx="274320" cy="206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Card_Business"/>
          <p:cNvSpPr/>
          <p:nvPr/>
        </p:nvSpPr>
        <p:spPr>
          <a:xfrm>
            <a:off x="6065520" y="1440360"/>
            <a:ext cx="2621280" cy="82296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3970">
            <a:solidFill>
              <a:srgbClr val="16A34A"/>
            </a:solidFill>
          </a:ln>
        </p:spPr>
        <p:txBody>
          <a:bodyPr wrap="square" lIns="91440" tIns="60960" rIns="91440" bIns="60960" rtlCol="0" anchor="ctr"/>
          <a:lstStyle/>
          <a:p>
            <a:pPr algn="ctr">
              <a:buNone/>
            </a:pPr>
            <a:r>
              <a:rPr lang="en-US" sz="1350" b="1" dirty="0">
                <a:solidFill>
                  <a:srgbClr val="0F22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AI in Business Strategy</a:t>
            </a:r>
          </a:p>
          <a:p>
            <a:pPr algn="ctr">
              <a:buNone/>
            </a:pPr>
            <a:r>
              <a:rPr lang="zh-CN" altLang="en-US" sz="1100" dirty="0">
                <a:solidFill>
                  <a:srgbClr val="33415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企业战略制定与决策辅助</a:t>
            </a:r>
          </a:p>
        </p:txBody>
      </p:sp>
      <p:sp>
        <p:nvSpPr>
          <p:cNvPr id="10" name="AbilityLabel"/>
          <p:cNvSpPr/>
          <p:nvPr/>
        </p:nvSpPr>
        <p:spPr>
          <a:xfrm>
            <a:off x="457200" y="2461128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0F22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共同底层能力</a:t>
            </a:r>
            <a:endParaRPr lang="en-US" sz="1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Ability1"/>
          <p:cNvSpPr/>
          <p:nvPr/>
        </p:nvSpPr>
        <p:spPr>
          <a:xfrm>
            <a:off x="457200" y="2753688"/>
            <a:ext cx="157276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 wrap="square" lIns="73152" tIns="73152" rIns="73152" bIns="73152" rtlCol="0" anchor="ctr"/>
          <a:lstStyle/>
          <a:p>
            <a:pPr algn="ctr">
              <a:buNone/>
            </a:pPr>
            <a:r>
              <a:rPr lang="zh-CN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📥</a:t>
            </a:r>
          </a:p>
          <a:p>
            <a:pPr algn="ctr">
              <a:buNone/>
            </a:pPr>
            <a:r>
              <a:rPr lang="zh-CN" altLang="en-US" sz="1100" b="1" dirty="0">
                <a:solidFill>
                  <a:srgbClr val="1E293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信息收集与</a:t>
            </a:r>
          </a:p>
          <a:p>
            <a:pPr algn="ctr">
              <a:buNone/>
            </a:pPr>
            <a:r>
              <a:rPr lang="zh-CN" altLang="en-US" sz="1100" b="1" dirty="0">
                <a:solidFill>
                  <a:srgbClr val="1E293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知识整合</a:t>
            </a:r>
          </a:p>
        </p:txBody>
      </p:sp>
      <p:sp>
        <p:nvSpPr>
          <p:cNvPr id="12" name="Ability2"/>
          <p:cNvSpPr/>
          <p:nvPr/>
        </p:nvSpPr>
        <p:spPr>
          <a:xfrm>
            <a:off x="2121408" y="2753688"/>
            <a:ext cx="157276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 wrap="square" lIns="73152" tIns="73152" rIns="73152" bIns="73152" rtlCol="0" anchor="ctr"/>
          <a:lstStyle/>
          <a:p>
            <a:pPr algn="ctr">
              <a:buNone/>
            </a:pPr>
            <a:r>
              <a:rPr lang="zh-CN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🧩</a:t>
            </a:r>
          </a:p>
          <a:p>
            <a:pPr algn="ctr">
              <a:buNone/>
            </a:pPr>
            <a:r>
              <a:rPr lang="zh-CN" altLang="en-US" sz="1100" b="1" dirty="0">
                <a:solidFill>
                  <a:srgbClr val="1E293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模式识别与</a:t>
            </a:r>
          </a:p>
          <a:p>
            <a:pPr algn="ctr">
              <a:buNone/>
            </a:pPr>
            <a:r>
              <a:rPr lang="zh-CN" altLang="en-US" sz="1100" b="1" dirty="0">
                <a:solidFill>
                  <a:srgbClr val="1E293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推理</a:t>
            </a:r>
          </a:p>
        </p:txBody>
      </p:sp>
      <p:sp>
        <p:nvSpPr>
          <p:cNvPr id="13" name="Ability3"/>
          <p:cNvSpPr/>
          <p:nvPr/>
        </p:nvSpPr>
        <p:spPr>
          <a:xfrm>
            <a:off x="3785616" y="2753688"/>
            <a:ext cx="157276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 wrap="square" lIns="73152" tIns="73152" rIns="73152" bIns="73152" rtlCol="0" anchor="ctr"/>
          <a:lstStyle/>
          <a:p>
            <a:pPr algn="ctr">
              <a:buNone/>
            </a:pPr>
            <a:r>
              <a:rPr lang="zh-CN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⚙</a:t>
            </a:r>
          </a:p>
          <a:p>
            <a:pPr algn="ctr">
              <a:buNone/>
            </a:pPr>
            <a:r>
              <a:rPr lang="zh-CN" altLang="en-US" sz="1100" b="1" dirty="0" err="1">
                <a:solidFill>
                  <a:srgbClr val="1E293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工作流程</a:t>
            </a:r>
            <a:endParaRPr lang="en-US" sz="1400" b="1" dirty="0">
              <a:solidFill>
                <a:srgbClr val="1E293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buNone/>
            </a:pPr>
            <a:r>
              <a:rPr lang="zh-CN" altLang="en-US" sz="1100" b="1" dirty="0" err="1">
                <a:solidFill>
                  <a:srgbClr val="1E293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辅助与优化</a:t>
            </a:r>
            <a:endParaRPr lang="en-US" sz="1100" b="1" dirty="0">
              <a:solidFill>
                <a:srgbClr val="1E293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Ability4"/>
          <p:cNvSpPr/>
          <p:nvPr/>
        </p:nvSpPr>
        <p:spPr>
          <a:xfrm>
            <a:off x="5449824" y="2753688"/>
            <a:ext cx="157276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 wrap="square" lIns="73152" tIns="73152" rIns="73152" bIns="73152" rtlCol="0" anchor="ctr"/>
          <a:lstStyle/>
          <a:p>
            <a:pPr algn="ctr">
              <a:buNone/>
            </a:pPr>
            <a:r>
              <a:rPr lang="zh-CN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🧭</a:t>
            </a:r>
          </a:p>
          <a:p>
            <a:pPr algn="ctr">
              <a:buNone/>
            </a:pPr>
            <a:r>
              <a:rPr lang="zh-CN" altLang="en-US" sz="1100" b="1" dirty="0">
                <a:solidFill>
                  <a:srgbClr val="1E293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决策辅助与</a:t>
            </a:r>
          </a:p>
          <a:p>
            <a:pPr algn="ctr">
              <a:buNone/>
            </a:pPr>
            <a:r>
              <a:rPr lang="zh-CN" altLang="en-US" sz="1100" b="1" dirty="0">
                <a:solidFill>
                  <a:srgbClr val="1E293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情景分析</a:t>
            </a:r>
          </a:p>
        </p:txBody>
      </p:sp>
      <p:sp>
        <p:nvSpPr>
          <p:cNvPr id="15" name="Ability5"/>
          <p:cNvSpPr/>
          <p:nvPr/>
        </p:nvSpPr>
        <p:spPr>
          <a:xfrm>
            <a:off x="7114032" y="2753688"/>
            <a:ext cx="157276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 wrap="square" lIns="73152" tIns="73152" rIns="73152" bIns="73152" rtlCol="0" anchor="ctr"/>
          <a:lstStyle/>
          <a:p>
            <a:pPr algn="ctr">
              <a:buNone/>
            </a:pPr>
            <a:r>
              <a:rPr lang="zh-CN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📢</a:t>
            </a:r>
          </a:p>
          <a:p>
            <a:pPr algn="ctr">
              <a:buNone/>
            </a:pPr>
            <a:r>
              <a:rPr lang="zh-CN" altLang="en-US" sz="1100" b="1" dirty="0">
                <a:solidFill>
                  <a:srgbClr val="1E293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内容生成与</a:t>
            </a:r>
          </a:p>
          <a:p>
            <a:pPr algn="ctr">
              <a:buNone/>
            </a:pPr>
            <a:r>
              <a:rPr lang="zh-CN" altLang="en-US" sz="1100" b="1" dirty="0">
                <a:solidFill>
                  <a:srgbClr val="1E293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传播优化</a:t>
            </a:r>
          </a:p>
        </p:txBody>
      </p:sp>
      <p:sp>
        <p:nvSpPr>
          <p:cNvPr id="16" name="InsightBar"/>
          <p:cNvSpPr/>
          <p:nvPr/>
        </p:nvSpPr>
        <p:spPr>
          <a:xfrm>
            <a:off x="457200" y="4157472"/>
            <a:ext cx="8229600" cy="73152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</p:spPr>
        <p:txBody>
          <a:bodyPr wrap="square" lIns="182880" tIns="91440" rIns="182880" bIns="91440" rtlCol="0" anchor="ctr"/>
          <a:lstStyle/>
          <a:p>
            <a:r>
              <a:rPr lang="zh-CN" altLang="en-US" sz="1400" b="1" dirty="0" err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关键洞察</a:t>
            </a: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CN" altLang="en-US" sz="1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掌握一种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AI</a:t>
            </a:r>
            <a:r>
              <a:rPr lang="zh-CN" altLang="en-US" sz="1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应用框架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zh-CN" altLang="en-US" sz="1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往往能够快速变通迁移到多个行业与领域。</a:t>
            </a:r>
            <a:endParaRPr lang="en-US" sz="14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000" b="1" kern="0" spc="300" dirty="0">
                <a:solidFill>
                  <a:srgbClr val="3B82F6"/>
                </a:solidFill>
              </a:rPr>
              <a:t>镜像原理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3800" b="1" dirty="0">
                <a:solidFill>
                  <a:srgbClr val="FFFFFF"/>
                </a:solidFill>
              </a:rPr>
              <a:t>AI不会让你变得更聪明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1627632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400" i="1" dirty="0">
                <a:solidFill>
                  <a:srgbClr val="94A3B8"/>
                </a:solidFill>
              </a:rPr>
              <a:t>它只会放大你组织现有的运作模式——产生更大的效果。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212848"/>
            <a:ext cx="2377440" cy="1234440"/>
          </a:xfrm>
          <a:prstGeom prst="roundRect">
            <a:avLst>
              <a:gd name="adj" fmla="val 7407"/>
            </a:avLst>
          </a:prstGeom>
          <a:solidFill>
            <a:srgbClr val="1A2E4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30428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10B981"/>
                </a:solidFill>
              </a:rPr>
              <a:t>✅ 聪明的组织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734056"/>
            <a:ext cx="201168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779776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100" dirty="0">
                <a:solidFill>
                  <a:srgbClr val="94A3B8"/>
                </a:solidFill>
              </a:rPr>
              <a:t>AI加速成功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2212848"/>
            <a:ext cx="2377440" cy="1234440"/>
          </a:xfrm>
          <a:prstGeom prst="roundRect">
            <a:avLst>
              <a:gd name="adj" fmla="val 7407"/>
            </a:avLst>
          </a:prstGeom>
          <a:solidFill>
            <a:srgbClr val="1A2E4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29000" y="230428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F59E0B"/>
                </a:solidFill>
              </a:rPr>
              <a:t>⚠️ 平庸的组织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20440" y="2734056"/>
            <a:ext cx="201168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29000" y="2779776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100" dirty="0">
                <a:solidFill>
                  <a:srgbClr val="94A3B8"/>
                </a:solidFill>
              </a:rPr>
              <a:t>AI复制平庸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212848"/>
            <a:ext cx="2377440" cy="1234440"/>
          </a:xfrm>
          <a:prstGeom prst="roundRect">
            <a:avLst>
              <a:gd name="adj" fmla="val 7407"/>
            </a:avLst>
          </a:prstGeom>
          <a:solidFill>
            <a:srgbClr val="1A2E45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230428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EF4444"/>
                </a:solidFill>
              </a:rPr>
              <a:t>❌ 有缺陷的组织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2734056"/>
            <a:ext cx="2011680" cy="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2779776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100" dirty="0">
                <a:solidFill>
                  <a:srgbClr val="94A3B8"/>
                </a:solidFill>
              </a:rPr>
              <a:t>AI放大失败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7033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350" b="1" dirty="0">
                <a:solidFill>
                  <a:srgbClr val="22D3EE"/>
                </a:solidFill>
              </a:rPr>
              <a:t>你的运作模式  →  AI × 放大器  →  放大后的结果(×5甚至更多)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EF4444"/>
                </a:solidFill>
              </a:rPr>
              <a:t>🪞 如果方法本身就是错的,AI只会让你更快、更廉价、更大规模地失败。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7765" y="843789"/>
            <a:ext cx="534633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475569"/>
                </a:solidFill>
                <a:latin typeface="Aptos"/>
              </a:rPr>
              <a:t>AI不会创造战略。它只会暴露并放大你原本已有的战略。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0780"/>
            <a:ext cx="2875662" cy="72009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76200" rIns="95250" bIns="76200" rtlCol="0" anchor="ctr"/>
          <a:lstStyle/>
          <a:p>
            <a:pPr algn="ctr">
              <a:spcAft>
                <a:spcPts val="300"/>
              </a:spcAft>
            </a:pPr>
            <a:r>
              <a:rPr sz="1350" b="1" dirty="0">
                <a:solidFill>
                  <a:srgbClr val="0F2240"/>
                </a:solidFill>
                <a:latin typeface="Aptos Display"/>
              </a:rPr>
              <a:t>你当前的运作模式</a:t>
            </a:r>
          </a:p>
          <a:p>
            <a:pPr>
              <a:defRPr sz="1200">
                <a:solidFill>
                  <a:srgbClr val="0F172A"/>
                </a:solidFill>
                <a:latin typeface="Aptos"/>
              </a:defRPr>
            </a:pPr>
            <a:r>
              <a:rPr sz="1200" dirty="0"/>
              <a:t>定位 • 流程 • 数据 • 判断</a:t>
            </a:r>
          </a:p>
        </p:txBody>
      </p:sp>
      <p:sp>
        <p:nvSpPr>
          <p:cNvPr id="7" name="Chevron 6"/>
          <p:cNvSpPr/>
          <p:nvPr/>
        </p:nvSpPr>
        <p:spPr>
          <a:xfrm>
            <a:off x="3664408" y="1473650"/>
            <a:ext cx="822960" cy="514350"/>
          </a:xfrm>
          <a:prstGeom prst="chevr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TextBox 7"/>
          <p:cNvSpPr txBox="1"/>
          <p:nvPr/>
        </p:nvSpPr>
        <p:spPr>
          <a:xfrm>
            <a:off x="3935598" y="1599786"/>
            <a:ext cx="32092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 Display"/>
              </a:rPr>
              <a:t>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68647" y="1370780"/>
            <a:ext cx="4030756" cy="720090"/>
          </a:xfrm>
          <a:prstGeom prst="roundRect">
            <a:avLst/>
          </a:prstGeom>
          <a:solidFill>
            <a:srgbClr val="EDF6FF"/>
          </a:solidFill>
          <a:ln w="1397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76200" rIns="95250" bIns="76200" rtlCol="0" anchor="ctr"/>
          <a:lstStyle/>
          <a:p>
            <a:pPr algn="ctr">
              <a:spcAft>
                <a:spcPts val="300"/>
              </a:spcAft>
            </a:pPr>
            <a:r>
              <a:rPr sz="1350" b="1" dirty="0">
                <a:solidFill>
                  <a:srgbClr val="0F2240"/>
                </a:solidFill>
                <a:latin typeface="Aptos Display"/>
              </a:rPr>
              <a:t>放大后的产出</a:t>
            </a:r>
          </a:p>
          <a:p>
            <a:pPr>
              <a:defRPr sz="1200">
                <a:solidFill>
                  <a:srgbClr val="0F172A"/>
                </a:solidFill>
                <a:latin typeface="Aptos"/>
              </a:defRPr>
            </a:pPr>
            <a:r>
              <a:rPr sz="1200" dirty="0"/>
              <a:t>更快的速度 • 更大的量 • 更广的覆盖 • 更高的可见度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" y="2365190"/>
            <a:ext cx="2537460" cy="1075765"/>
          </a:xfrm>
          <a:prstGeom prst="roundRect">
            <a:avLst/>
          </a:prstGeom>
          <a:solidFill>
            <a:srgbClr val="ECFDF5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76200" rIns="95250" bIns="76200" rtlCol="0" anchor="ctr"/>
          <a:lstStyle/>
          <a:p>
            <a:pPr algn="ctr">
              <a:spcAft>
                <a:spcPts val="300"/>
              </a:spcAft>
            </a:pPr>
            <a:r>
              <a:rPr sz="1350" b="1" dirty="0">
                <a:solidFill>
                  <a:srgbClr val="0F2240"/>
                </a:solidFill>
                <a:latin typeface="Aptos Display"/>
              </a:rPr>
              <a:t>强模式</a:t>
            </a:r>
          </a:p>
          <a:p>
            <a:pPr>
              <a:defRPr sz="1200">
                <a:solidFill>
                  <a:srgbClr val="0F172A"/>
                </a:solidFill>
                <a:latin typeface="Aptos"/>
              </a:defRPr>
            </a:pPr>
            <a:r>
              <a:rPr sz="1200" dirty="0"/>
              <a:t>AI加速清晰度、学习与增长。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2434" y="2365190"/>
            <a:ext cx="2537460" cy="1075764"/>
          </a:xfrm>
          <a:prstGeom prst="roundRect">
            <a:avLst/>
          </a:prstGeom>
          <a:solidFill>
            <a:srgbClr val="FFF7ED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76200" rIns="95250" bIns="76200" rtlCol="0" anchor="ctr"/>
          <a:lstStyle/>
          <a:p>
            <a:pPr algn="ctr">
              <a:spcAft>
                <a:spcPts val="300"/>
              </a:spcAft>
            </a:pPr>
            <a:r>
              <a:rPr sz="1350" b="1" dirty="0">
                <a:solidFill>
                  <a:srgbClr val="0F2240"/>
                </a:solidFill>
                <a:latin typeface="Aptos Display"/>
              </a:rPr>
              <a:t>平庸模式</a:t>
            </a:r>
          </a:p>
          <a:p>
            <a:pPr>
              <a:defRPr sz="1200">
                <a:solidFill>
                  <a:srgbClr val="0F172A"/>
                </a:solidFill>
                <a:latin typeface="Aptos"/>
              </a:defRPr>
            </a:pPr>
            <a:r>
              <a:rPr sz="1200" dirty="0"/>
              <a:t>AI产生更多产出,但未必带来更多优势。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4200" y="2365190"/>
            <a:ext cx="2537460" cy="1075764"/>
          </a:xfrm>
          <a:prstGeom prst="roundRect">
            <a:avLst/>
          </a:prstGeom>
          <a:solidFill>
            <a:srgbClr val="FEF2F2"/>
          </a:solidFill>
          <a:ln w="1397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76200" rIns="95250" bIns="76200" rtlCol="0" anchor="ctr"/>
          <a:lstStyle/>
          <a:p>
            <a:pPr algn="ctr">
              <a:spcAft>
                <a:spcPts val="300"/>
              </a:spcAft>
            </a:pPr>
            <a:r>
              <a:rPr sz="1350" b="1" dirty="0">
                <a:solidFill>
                  <a:srgbClr val="0F2240"/>
                </a:solidFill>
                <a:latin typeface="Aptos Display"/>
              </a:rPr>
              <a:t>薄弱模式</a:t>
            </a:r>
          </a:p>
          <a:p>
            <a:pPr>
              <a:defRPr sz="1200">
                <a:solidFill>
                  <a:srgbClr val="0F172A"/>
                </a:solidFill>
                <a:latin typeface="Aptos"/>
              </a:defRPr>
            </a:pPr>
            <a:r>
              <a:rPr sz="1200" dirty="0"/>
              <a:t>AI会放大浪费、混乱与内部摩擦。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510" y="3725360"/>
            <a:ext cx="7783830" cy="75438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76200" rIns="95250" bIns="76200" rtlCol="0" anchor="ctr"/>
          <a:lstStyle/>
          <a:p>
            <a:pPr algn="ctr">
              <a:spcAft>
                <a:spcPts val="300"/>
              </a:spcAft>
            </a:pPr>
            <a:r>
              <a:rPr sz="1500" b="1" dirty="0">
                <a:solidFill>
                  <a:srgbClr val="0F2240"/>
                </a:solidFill>
                <a:latin typeface="Aptos Display"/>
              </a:rPr>
              <a:t>规律</a:t>
            </a:r>
          </a:p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rPr sz="1200" dirty="0"/>
              <a:t>AI不会修复薄弱的商业战略,它只会让后果更快显现——无论好坏。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8821" y="4848606"/>
            <a:ext cx="1947970" cy="2135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88" dirty="0">
                <a:solidFill>
                  <a:srgbClr val="475569"/>
                </a:solidFill>
                <a:latin typeface="Aptos"/>
              </a:rPr>
              <a:t>AI:放大器 / 倍增器 / 复利器</a:t>
            </a:r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8B5F40FC-95F0-ECB8-F413-88D62776883C}"/>
              </a:ext>
            </a:extLst>
          </p:cNvPr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1E293B"/>
                </a:solidFill>
              </a:rPr>
              <a:t>镜像效应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1E293B"/>
                </a:solidFill>
              </a:rPr>
              <a:t>放大器效应——双向法则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3886200" cy="3931920"/>
          </a:xfrm>
          <a:prstGeom prst="roundRect">
            <a:avLst>
              <a:gd name="adj" fmla="val 2824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EF4444"/>
                </a:solidFill>
              </a:rPr>
              <a:t>❌ 有缺陷的战略 × AI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31673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EF4444"/>
                </a:solidFill>
              </a:rPr>
              <a:t>=  加速走向失败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8249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i="1" dirty="0">
                <a:solidFill>
                  <a:srgbClr val="EF4444"/>
                </a:solidFill>
              </a:rPr>
              <a:t>更快  ·  更便宜  ·  更高效地错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474720" cy="0"/>
          </a:xfrm>
          <a:prstGeom prst="line">
            <a:avLst/>
          </a:prstGeom>
          <a:noFill/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0848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991B1B"/>
                </a:solidFill>
              </a:rPr>
              <a:t>倍增效应(负向)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377440"/>
            <a:ext cx="34747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zh-CN" altLang="en-US" sz="1100" dirty="0">
                <a:solidFill>
                  <a:srgbClr val="991B1B"/>
                </a:solidFill>
              </a:rPr>
              <a:t>错误的品牌信息被放大传播给10倍的受众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zh-CN" altLang="en-US" sz="1100" dirty="0">
                <a:solidFill>
                  <a:srgbClr val="991B1B"/>
                </a:solidFill>
              </a:rPr>
              <a:t>糟糕的产品定位被推送到每一个细分市场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zh-CN" altLang="en-US" sz="1100" dirty="0">
                <a:solidFill>
                  <a:srgbClr val="991B1B"/>
                </a:solidFill>
              </a:rPr>
              <a:t>有缺陷的定价策略被快速复制到所有SKU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zh-CN" altLang="en-US" sz="1100" dirty="0">
                <a:solidFill>
                  <a:srgbClr val="991B1B"/>
                </a:solidFill>
              </a:rPr>
              <a:t>负面品牌联想通过AI内容病毒式传播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zh-CN" altLang="en-US" sz="1100" dirty="0">
                <a:solidFill>
                  <a:srgbClr val="991B1B"/>
                </a:solidFill>
              </a:rPr>
              <a:t>引发反弹的竞争对手攻击——如今规模化发生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92040" y="777240"/>
            <a:ext cx="3886200" cy="3931920"/>
          </a:xfrm>
          <a:prstGeom prst="roundRect">
            <a:avLst>
              <a:gd name="adj" fmla="val 2824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74920" y="91440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66534"/>
                </a:solidFill>
              </a:rPr>
              <a:t>✅ 正确的战略 × AI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74920" y="131673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166534"/>
                </a:solidFill>
              </a:rPr>
              <a:t>=  指数级的竞争优势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74920" y="168249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i="1" dirty="0">
                <a:solidFill>
                  <a:srgbClr val="166534"/>
                </a:solidFill>
              </a:rPr>
              <a:t>精准  ·  高影响力  ·  物超所值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74920" y="2011680"/>
            <a:ext cx="3474720" cy="0"/>
          </a:xfrm>
          <a:prstGeom prst="line">
            <a:avLst/>
          </a:prstGeom>
          <a:noFill/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74920" y="20848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166534"/>
                </a:solidFill>
              </a:rPr>
              <a:t>倍增效应(正向)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2377440"/>
            <a:ext cx="34747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zh-CN" altLang="en-US" sz="1100" dirty="0">
                <a:solidFill>
                  <a:srgbClr val="166534"/>
                </a:solidFill>
              </a:rPr>
              <a:t>经验证的价值主张扩展到10倍的潜在市场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zh-CN" altLang="en-US" sz="1100" dirty="0">
                <a:solidFill>
                  <a:srgbClr val="166534"/>
                </a:solidFill>
              </a:rPr>
              <a:t>成功的客户洞察被应用到每一条产品线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zh-CN" altLang="en-US" sz="1100" dirty="0">
                <a:solidFill>
                  <a:srgbClr val="166534"/>
                </a:solidFill>
              </a:rPr>
              <a:t>高效销售话术以零边际成本被复制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zh-CN" altLang="en-US" sz="1100" dirty="0">
                <a:solidFill>
                  <a:srgbClr val="166534"/>
                </a:solidFill>
              </a:rPr>
              <a:t>突破性定位复利累积为持久的品牌资产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zh-CN" altLang="en-US" sz="1100" dirty="0">
                <a:solidFill>
                  <a:srgbClr val="166534"/>
                </a:solidFill>
              </a:rPr>
              <a:t>客户情报持续反哺、不断改进AI循环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24528" y="2331720"/>
            <a:ext cx="713232" cy="7132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9"/>
          <p:cNvSpPr/>
          <p:nvPr/>
        </p:nvSpPr>
        <p:spPr>
          <a:xfrm>
            <a:off x="4211828" y="232537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1E293B"/>
                </a:solidFill>
              </a:rPr>
              <a:t>正确的起点:先有战略,后有执行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50" i="1" dirty="0">
                <a:solidFill>
                  <a:srgbClr val="64748B"/>
                </a:solidFill>
              </a:rPr>
              <a:t>运用AI的第一步,不是生产内容或执行任务——而是提出正确的战略问题。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3886200" cy="3611880"/>
          </a:xfrm>
          <a:prstGeom prst="roundRect">
            <a:avLst>
              <a:gd name="adj" fmla="val 2532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252728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50" b="1" dirty="0">
                <a:solidFill>
                  <a:srgbClr val="EF4444"/>
                </a:solidFill>
              </a:rPr>
              <a:t>❌ 多数组织如何使用AI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00" i="1" dirty="0">
                <a:solidFill>
                  <a:srgbClr val="991B1B"/>
                </a:solidFill>
              </a:rPr>
              <a:t>“写一份产品发布新闻稿”</a:t>
            </a:r>
            <a:endParaRPr lang="en-US" sz="1200" dirty="0"/>
          </a:p>
          <a:p>
            <a:pPr marL="0" indent="0">
              <a:buNone/>
            </a:pPr>
            <a:r>
              <a:rPr lang="zh-CN" altLang="en-US" sz="1200" i="1" dirty="0">
                <a:solidFill>
                  <a:srgbClr val="991B1B"/>
                </a:solidFill>
              </a:rPr>
              <a:t>“为我们的品牌生成20条社媒帖文”</a:t>
            </a:r>
            <a:endParaRPr lang="en-US" sz="1200" dirty="0"/>
          </a:p>
          <a:p>
            <a:pPr marL="0" indent="0">
              <a:buNone/>
            </a:pPr>
            <a:r>
              <a:rPr lang="zh-CN" altLang="en-US" sz="1200" i="1" dirty="0">
                <a:solidFill>
                  <a:srgbClr val="991B1B"/>
                </a:solidFill>
              </a:rPr>
              <a:t>“为领英起草攻击竞争对手的内容”</a:t>
            </a:r>
            <a:endParaRPr lang="en-US" sz="1200" dirty="0"/>
          </a:p>
          <a:p>
            <a:pPr marL="0" indent="0">
              <a:buNone/>
            </a:pPr>
            <a:r>
              <a:rPr lang="zh-CN" altLang="en-US" sz="1200" i="1" dirty="0">
                <a:solidFill>
                  <a:srgbClr val="991B1B"/>
                </a:solidFill>
              </a:rPr>
              <a:t>“为销售团队制作10份邮件模板”</a:t>
            </a:r>
            <a:endParaRPr lang="en-US" sz="1200" dirty="0"/>
          </a:p>
          <a:p>
            <a:pPr marL="0" indent="0">
              <a:buNone/>
            </a:pPr>
            <a:r>
              <a:rPr lang="zh-CN" altLang="en-US" sz="1200" i="1" dirty="0">
                <a:solidFill>
                  <a:srgbClr val="991B1B"/>
                </a:solidFill>
              </a:rPr>
              <a:t>“为这条产品线做一份提案演示文稿”</a:t>
            </a:r>
            <a:endParaRPr lang="en-US" sz="1200" dirty="0"/>
          </a:p>
          <a:p>
            <a:pPr marL="0" indent="0">
              <a:buNone/>
            </a:pPr>
            <a:r>
              <a:rPr lang="zh-CN" altLang="en-US" sz="1200" i="1" dirty="0">
                <a:solidFill>
                  <a:srgbClr val="991B1B"/>
                </a:solidFill>
              </a:rPr>
              <a:t>“写我们的Q3投资者通讯”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92040" y="1115568"/>
            <a:ext cx="3886200" cy="3611880"/>
          </a:xfrm>
          <a:prstGeom prst="roundRect">
            <a:avLst>
              <a:gd name="adj" fmla="val 2532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1252728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50" b="1" dirty="0">
                <a:solidFill>
                  <a:srgbClr val="166534"/>
                </a:solidFill>
              </a:rPr>
              <a:t>✅ 领导者应该如何开始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074920" y="1527048"/>
            <a:ext cx="3566160" cy="31275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00" i="1" dirty="0">
                <a:solidFill>
                  <a:srgbClr val="166534"/>
                </a:solidFill>
              </a:rPr>
              <a:t>“我们现在正在忽视哪些客户需求?”</a:t>
            </a:r>
            <a:endParaRPr lang="en-US" sz="1200" dirty="0"/>
          </a:p>
          <a:p>
            <a:pPr marL="0" indent="0">
              <a:buNone/>
            </a:pPr>
            <a:r>
              <a:rPr lang="zh-CN" altLang="en-US" sz="1200" i="1" dirty="0">
                <a:solidFill>
                  <a:srgbClr val="166534"/>
                </a:solidFill>
              </a:rPr>
              <a:t>“哪些战略押注的影响力/投入比最高?”</a:t>
            </a:r>
            <a:endParaRPr lang="en-US" sz="1200" dirty="0"/>
          </a:p>
          <a:p>
            <a:pPr marL="0" indent="0">
              <a:buNone/>
            </a:pPr>
            <a:r>
              <a:rPr lang="zh-CN" altLang="en-US" sz="1200" i="1" dirty="0">
                <a:solidFill>
                  <a:srgbClr val="166534"/>
                </a:solidFill>
              </a:rPr>
              <a:t>“我们最容易受到竞争颠覆的地方在哪里?”</a:t>
            </a:r>
            <a:endParaRPr lang="en-US" sz="1200" dirty="0"/>
          </a:p>
          <a:p>
            <a:pPr marL="0" indent="0">
              <a:buNone/>
            </a:pPr>
            <a:r>
              <a:rPr lang="zh-CN" altLang="en-US" sz="1200" i="1" dirty="0">
                <a:solidFill>
                  <a:srgbClr val="166534"/>
                </a:solidFill>
              </a:rPr>
              <a:t>“老实告诉我,我们的战略有哪些盲点。”</a:t>
            </a:r>
            <a:endParaRPr lang="en-US" sz="1200" dirty="0"/>
          </a:p>
          <a:p>
            <a:pPr marL="0" indent="0">
              <a:buNone/>
            </a:pPr>
            <a:r>
              <a:rPr lang="zh-CN" altLang="en-US" sz="1200" i="1" dirty="0">
                <a:solidFill>
                  <a:srgbClr val="166534"/>
                </a:solidFill>
              </a:rPr>
              <a:t>“未来90天内最可行的速赢机会是什么?”</a:t>
            </a:r>
            <a:endParaRPr lang="en-US" sz="1200" dirty="0"/>
          </a:p>
          <a:p>
            <a:r>
              <a:rPr lang="zh-CN" altLang="en-US" sz="1200" i="1" dirty="0">
                <a:solidFill>
                  <a:srgbClr val="166534"/>
                </a:solidFill>
              </a:rPr>
              <a:t>“哪些被忽视的资产能保护我们的利润底线、放大我们的议价能力,我们又该如何严谨地衡量其价值与投资回报?”</a:t>
            </a:r>
          </a:p>
          <a:p>
            <a:r>
              <a:rPr lang="zh-CN" altLang="en-US" sz="1200" i="1" dirty="0">
                <a:solidFill>
                  <a:srgbClr val="166534"/>
                </a:solidFill>
              </a:rPr>
              <a:t>“哪些未被充分利用的资源能为我们的核心业务提供缓冲、增强我们的谈判筹码,我们又该如何准确衡量其财务回报?”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24528" y="2743200"/>
            <a:ext cx="713232" cy="7132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24528" y="27432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8188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i="1" dirty="0">
                <a:solidFill>
                  <a:srgbClr val="64748B"/>
                </a:solidFill>
              </a:rPr>
              <a:t>要求AI给出诚实、清晰的战略判断,才是正确的第一步——而不是生产内容。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1E293B"/>
                </a:solidFill>
              </a:rPr>
              <a:t>两种AI范式——先弄清楚你用的是哪一种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50" i="1" dirty="0">
                <a:solidFill>
                  <a:srgbClr val="64748B"/>
                </a:solidFill>
              </a:rPr>
              <a:t>最佳的提示方式,完全取决于这个AI是“语言生成器”还是“任务执行者”。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4023360" cy="3749040"/>
          </a:xfrm>
          <a:prstGeom prst="roundRect">
            <a:avLst>
              <a:gd name="adj" fmla="val 2927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25272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3B82F6"/>
                </a:solidFill>
              </a:rPr>
              <a:t>语言生成器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6550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i="1" dirty="0">
                <a:solidFill>
                  <a:srgbClr val="64748B"/>
                </a:solidFill>
              </a:rPr>
              <a:t>基于对话的聊天机器人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9293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B82F6"/>
                </a:solidFill>
              </a:rPr>
              <a:t>ChatGPT  ·  Google Gemini  ·  DeepSeek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3042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1E293B"/>
                </a:solidFill>
              </a:rPr>
              <a:t>最适合: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587752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zh-CN" altLang="en-US" sz="1100" dirty="0">
                <a:solidFill>
                  <a:srgbClr val="1E293B"/>
                </a:solidFill>
              </a:rPr>
              <a:t>头脑风暴与战略构思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zh-CN" altLang="en-US" sz="1100" dirty="0">
                <a:solidFill>
                  <a:srgbClr val="1E293B"/>
                </a:solidFill>
              </a:rPr>
              <a:t>长篇写作:报告、分析、叙述性文章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zh-CN" altLang="en-US" sz="1100" dirty="0">
                <a:solidFill>
                  <a:srgbClr val="1E293B"/>
                </a:solidFill>
              </a:rPr>
              <a:t>在长对话线程中进行解读与扩展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zh-CN" altLang="en-US" sz="1100" dirty="0">
                <a:solidFill>
                  <a:srgbClr val="1E293B"/>
                </a:solidFill>
              </a:rPr>
              <a:t>比IDE内置智能体更经济的替代方案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858768"/>
            <a:ext cx="3749040" cy="713232"/>
          </a:xfrm>
          <a:prstGeom prst="roundRect">
            <a:avLst>
              <a:gd name="adj" fmla="val 8974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3895344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FFFFFF"/>
                </a:solidFill>
              </a:rPr>
              <a:t>提示技巧:详细、对话式、上下文丰富的提示 → 更丰富、更全面的输出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115568"/>
            <a:ext cx="4023360" cy="3749040"/>
          </a:xfrm>
          <a:prstGeom prst="roundRect">
            <a:avLst>
              <a:gd name="adj" fmla="val 2927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92040" y="125272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166534"/>
                </a:solidFill>
              </a:rPr>
              <a:t>任务执行者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16550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i="1" dirty="0">
                <a:solidFill>
                  <a:srgbClr val="64748B"/>
                </a:solidFill>
              </a:rPr>
              <a:t>基于任务的智能体AI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9293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6534"/>
                </a:solidFill>
              </a:rPr>
              <a:t>Claude AI  ·  GitHub Copilot  ·  Cursor Agents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92040" y="23042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1E293B"/>
                </a:solidFill>
              </a:rPr>
              <a:t>最适合: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587752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zh-CN" altLang="en-US" sz="1100" dirty="0">
                <a:solidFill>
                  <a:srgbClr val="1E293B"/>
                </a:solidFill>
              </a:rPr>
              <a:t>自主执行多步骤工作流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zh-CN" altLang="en-US" sz="1100" dirty="0">
                <a:solidFill>
                  <a:srgbClr val="1E293B"/>
                </a:solidFill>
              </a:rPr>
              <a:t>协调工具、API、文件与系统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zh-CN" altLang="en-US" sz="1100" dirty="0">
                <a:solidFill>
                  <a:srgbClr val="1E293B"/>
                </a:solidFill>
              </a:rPr>
              <a:t>编程、自动化与智能体操作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zh-CN" altLang="en-US" sz="1100" dirty="0">
                <a:solidFill>
                  <a:srgbClr val="1E293B"/>
                </a:solidFill>
              </a:rPr>
              <a:t>具有明确终态的任务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3858768"/>
            <a:ext cx="3749040" cy="713232"/>
          </a:xfrm>
          <a:prstGeom prst="roundRect">
            <a:avLst>
              <a:gd name="adj" fmla="val 8974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3895344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FFFFFF"/>
                </a:solidFill>
              </a:rPr>
              <a:t>提示技巧:简洁、聚焦任务、明确输出格式 → 最大化智能体输出质量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1E293B"/>
                </a:solidFill>
              </a:rPr>
              <a:t>实用AI工具选择:让工具匹配任务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50" i="1" dirty="0">
                <a:solidFill>
                  <a:srgbClr val="64748B"/>
                </a:solidFill>
              </a:rPr>
              <a:t>你怎么提示,就得到什么结果。工具与任务类型不匹配,是最常见、也最昂贵的AI错误之一。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30352" y="1261872"/>
            <a:ext cx="502920" cy="5029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261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70432" y="1143000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1E293B"/>
                </a:solidFill>
              </a:rPr>
              <a:t>用聊天型大语言模型做头脑风暴与长篇写作——而非智能体工具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1472184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64748B"/>
                </a:solidFill>
              </a:rPr>
              <a:t>聊天型大语言模型(ChatGPT、Gemini)回答头脑风暴与战略规划问题,比IDE内置智能体更经济。在同等输出质量下,IDE编程智能体会产生更高的token成本和许可费用。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84248"/>
            <a:ext cx="841248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30352" y="2148840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70432" y="2029968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1E293B"/>
                </a:solidFill>
              </a:rPr>
              <a:t>给任务执行者简洁、任务清晰的提示——而非对话式聊天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2359152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64748B"/>
                </a:solidFill>
              </a:rPr>
              <a:t>Claude AI及其他智能体模型是任务执行者,而非文本生成器。明确界定的任务定义能最大化结果;过于详细的对话式上下文会稀释任务焦点,降低输出质量。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71216"/>
            <a:ext cx="841248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0352" y="3035808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352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70432" y="2916936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1E293B"/>
                </a:solidFill>
              </a:rPr>
              <a:t>在确定性不可妥协的场景中,优先采用规则化逻辑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3246120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64748B"/>
                </a:solidFill>
              </a:rPr>
              <a:t>在金融、合规、安全和法务等需要可追溯性与零容错的领域,人工编写的规则逻辑更为可靠。应用AI来加速确定性推理,而不是取代它。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758184"/>
            <a:ext cx="841248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30352" y="3922776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0352" y="39227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70432" y="3803904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1E293B"/>
                </a:solidFill>
              </a:rPr>
              <a:t>充分考量规模化下的数据质量、计算成本与安全风险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70432" y="4133088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64748B"/>
                </a:solidFill>
              </a:rPr>
              <a:t>大规模应用AI需要充足的高质量数据、算力与能源——同时也容易受到提示注入和对抗性输入的攻击。务必将风险缓解机制纳入你的AI部署战略。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681728"/>
            <a:ext cx="8412480" cy="347472"/>
          </a:xfrm>
          <a:prstGeom prst="roundRect">
            <a:avLst>
              <a:gd name="adj" fmla="val 1842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150" b="1" dirty="0">
                <a:solidFill>
                  <a:srgbClr val="FFFFFF"/>
                </a:solidFill>
              </a:rPr>
              <a:t>结论:让工具匹配任务类型。AI负责加速——但战略、逻辑与质量标准必须由人来掌控。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gline"/>
          <p:cNvSpPr/>
          <p:nvPr/>
        </p:nvSpPr>
        <p:spPr>
          <a:xfrm>
            <a:off x="457200" y="787400"/>
            <a:ext cx="82296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b="0" i="1" dirty="0">
                <a:solidFill>
                  <a:srgbClr val="64748B"/>
                </a:solidFill>
              </a:rPr>
              <a:t>大语言模型是基于token的文本预测器——不是逻辑计算引擎。要善用它们的强项:编写确定性的代码。</a:t>
            </a:r>
          </a:p>
        </p:txBody>
      </p:sp>
      <p:sp>
        <p:nvSpPr>
          <p:cNvPr id="4" name="LeftHeaderBg"/>
          <p:cNvSpPr/>
          <p:nvPr/>
        </p:nvSpPr>
        <p:spPr>
          <a:xfrm>
            <a:off x="365760" y="1270000"/>
            <a:ext cx="4114800" cy="381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LeftHeaderText"/>
          <p:cNvSpPr/>
          <p:nvPr/>
        </p:nvSpPr>
        <p:spPr>
          <a:xfrm>
            <a:off x="365760" y="1276350"/>
            <a:ext cx="41148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B91C1C"/>
                </a:solidFill>
              </a:rPr>
              <a:t>✘ 错误的做法</a:t>
            </a:r>
          </a:p>
        </p:txBody>
      </p:sp>
      <p:sp>
        <p:nvSpPr>
          <p:cNvPr id="6" name="RightHeaderBg"/>
          <p:cNvSpPr/>
          <p:nvPr/>
        </p:nvSpPr>
        <p:spPr>
          <a:xfrm>
            <a:off x="4662360" y="1276350"/>
            <a:ext cx="4114800" cy="3810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9050">
            <a:solidFill>
              <a:srgbClr val="22C55E"/>
            </a:solidFill>
          </a:ln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ightHeaderText"/>
          <p:cNvSpPr/>
          <p:nvPr/>
        </p:nvSpPr>
        <p:spPr>
          <a:xfrm>
            <a:off x="4662360" y="1276350"/>
            <a:ext cx="41148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15803D"/>
                </a:solidFill>
              </a:rPr>
              <a:t>✓ 正确的做法</a:t>
            </a:r>
          </a:p>
        </p:txBody>
      </p:sp>
      <p:sp>
        <p:nvSpPr>
          <p:cNvPr id="8" name="LeftCard1Bg"/>
          <p:cNvSpPr/>
          <p:nvPr/>
        </p:nvSpPr>
        <p:spPr>
          <a:xfrm>
            <a:off x="365760" y="1733550"/>
            <a:ext cx="41148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ECACA"/>
            </a:solidFill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LeftIcon1"/>
          <p:cNvSpPr/>
          <p:nvPr/>
        </p:nvSpPr>
        <p:spPr>
          <a:xfrm>
            <a:off x="533400" y="1809750"/>
            <a:ext cx="381000" cy="3810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LeftIconTxt1"/>
          <p:cNvSpPr/>
          <p:nvPr/>
        </p:nvSpPr>
        <p:spPr>
          <a:xfrm>
            <a:off x="533400" y="1803400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Σ</a:t>
            </a:r>
          </a:p>
        </p:txBody>
      </p:sp>
      <p:sp>
        <p:nvSpPr>
          <p:cNvPr id="11" name="LeftCardContent1"/>
          <p:cNvSpPr/>
          <p:nvPr/>
        </p:nvSpPr>
        <p:spPr>
          <a:xfrm>
            <a:off x="990600" y="1771620"/>
            <a:ext cx="3403800" cy="1066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1E293B"/>
                </a:solidFill>
              </a:rPr>
              <a:t>“4,823的17%是多少?”</a:t>
            </a:r>
          </a:p>
          <a:p>
            <a:pPr marL="0" indent="0">
              <a:buNone/>
            </a:pPr>
            <a:r>
              <a:rPr lang="zh-CN" altLang="en-US" sz="1050" dirty="0">
                <a:solidFill>
                  <a:srgbClr val="64748B"/>
                </a:solidFill>
              </a:rPr>
              <a:t>直接让AI进行计算。结果:看似合理,但可能是错的。</a:t>
            </a:r>
          </a:p>
        </p:txBody>
      </p:sp>
      <p:sp>
        <p:nvSpPr>
          <p:cNvPr id="12" name="LeftCard2Bg"/>
          <p:cNvSpPr/>
          <p:nvPr/>
        </p:nvSpPr>
        <p:spPr>
          <a:xfrm>
            <a:off x="365760" y="2952750"/>
            <a:ext cx="41148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ECACA"/>
            </a:solidFill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LeftIcon2"/>
          <p:cNvSpPr/>
          <p:nvPr/>
        </p:nvSpPr>
        <p:spPr>
          <a:xfrm>
            <a:off x="533400" y="3035300"/>
            <a:ext cx="381000" cy="3810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LeftIconTxt2"/>
          <p:cNvSpPr/>
          <p:nvPr/>
        </p:nvSpPr>
        <p:spPr>
          <a:xfrm>
            <a:off x="533400" y="3028950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Aa</a:t>
            </a:r>
          </a:p>
        </p:txBody>
      </p:sp>
      <p:sp>
        <p:nvSpPr>
          <p:cNvPr id="15" name="LeftCardContent2"/>
          <p:cNvSpPr/>
          <p:nvPr/>
        </p:nvSpPr>
        <p:spPr>
          <a:xfrm>
            <a:off x="990600" y="2990820"/>
            <a:ext cx="3403800" cy="1066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1E293B"/>
                </a:solidFill>
              </a:rPr>
              <a:t>“STRAWBERRY这个单词里有几个R?”</a:t>
            </a:r>
          </a:p>
          <a:p>
            <a:pPr marL="0" indent="0">
              <a:buNone/>
            </a:pPr>
            <a:r>
              <a:rPr lang="zh-CN" altLang="en-US" sz="1050" dirty="0">
                <a:solidFill>
                  <a:srgbClr val="64748B"/>
                </a:solidFill>
              </a:rPr>
              <a:t>让AI数字符来测试其智能。结果:大语言模型预测的是token,不是字符。</a:t>
            </a:r>
          </a:p>
        </p:txBody>
      </p:sp>
      <p:sp>
        <p:nvSpPr>
          <p:cNvPr id="16" name="RightCard1Bg"/>
          <p:cNvSpPr/>
          <p:nvPr/>
        </p:nvSpPr>
        <p:spPr>
          <a:xfrm>
            <a:off x="4662360" y="1733550"/>
            <a:ext cx="41148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BF7D0"/>
            </a:solidFill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RightIcon1"/>
          <p:cNvSpPr/>
          <p:nvPr/>
        </p:nvSpPr>
        <p:spPr>
          <a:xfrm>
            <a:off x="4830000" y="1809750"/>
            <a:ext cx="381000" cy="3810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ightIconTxt1"/>
          <p:cNvSpPr/>
          <p:nvPr/>
        </p:nvSpPr>
        <p:spPr>
          <a:xfrm>
            <a:off x="4830000" y="1803400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{ }</a:t>
            </a:r>
          </a:p>
        </p:txBody>
      </p:sp>
      <p:sp>
        <p:nvSpPr>
          <p:cNvPr id="19" name="RightCardContent1"/>
          <p:cNvSpPr/>
          <p:nvPr/>
        </p:nvSpPr>
        <p:spPr>
          <a:xfrm>
            <a:off x="5287200" y="1771620"/>
            <a:ext cx="3403800" cy="1066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1E293B"/>
                </a:solidFill>
              </a:rPr>
              <a:t>“写一个Python计算器函数”</a:t>
            </a:r>
          </a:p>
          <a:p>
            <a:pPr marL="0" indent="0">
              <a:buNone/>
            </a:pPr>
            <a:r>
              <a:rPr lang="zh-CN" altLang="en-US" sz="1050" dirty="0">
                <a:solidFill>
                  <a:srgbClr val="64748B"/>
                </a:solidFill>
              </a:rPr>
              <a:t>AI编写出确定性的代码,每次都能以100%的准确率完成任何计算。</a:t>
            </a:r>
          </a:p>
        </p:txBody>
      </p:sp>
      <p:sp>
        <p:nvSpPr>
          <p:cNvPr id="20" name="RightCard2Bg"/>
          <p:cNvSpPr/>
          <p:nvPr/>
        </p:nvSpPr>
        <p:spPr>
          <a:xfrm>
            <a:off x="4662360" y="2952750"/>
            <a:ext cx="41148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BF7D0"/>
            </a:solidFill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RightIcon2"/>
          <p:cNvSpPr/>
          <p:nvPr/>
        </p:nvSpPr>
        <p:spPr>
          <a:xfrm>
            <a:off x="4830000" y="3035300"/>
            <a:ext cx="381000" cy="3810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ightIconTxt2"/>
          <p:cNvSpPr/>
          <p:nvPr/>
        </p:nvSpPr>
        <p:spPr>
          <a:xfrm>
            <a:off x="4830000" y="3028950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f(x)</a:t>
            </a:r>
          </a:p>
        </p:txBody>
      </p:sp>
      <p:sp>
        <p:nvSpPr>
          <p:cNvPr id="23" name="RightCardContent2"/>
          <p:cNvSpPr/>
          <p:nvPr/>
        </p:nvSpPr>
        <p:spPr>
          <a:xfrm>
            <a:off x="5287200" y="2990820"/>
            <a:ext cx="3403800" cy="1066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1E293B"/>
                </a:solidFill>
              </a:rPr>
              <a:t>“写一个能统计任意字母的脚本”</a:t>
            </a:r>
          </a:p>
          <a:p>
            <a:pPr marL="0" indent="0">
              <a:buNone/>
            </a:pPr>
            <a:r>
              <a:rPr lang="zh-CN" altLang="en-US" sz="1050" dirty="0">
                <a:solidFill>
                  <a:srgbClr val="64748B"/>
                </a:solidFill>
              </a:rPr>
              <a:t>AI编写出一个可复用的脚本,能完美统计任意单词、句子或文章中的任意字符。</a:t>
            </a:r>
          </a:p>
        </p:txBody>
      </p:sp>
      <p:sp>
        <p:nvSpPr>
          <p:cNvPr id="24" name="VsDivider"/>
          <p:cNvSpPr/>
          <p:nvPr/>
        </p:nvSpPr>
        <p:spPr>
          <a:xfrm>
            <a:off x="4318800" y="2070100"/>
            <a:ext cx="406400" cy="4064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VsTxt"/>
          <p:cNvSpPr/>
          <p:nvPr/>
        </p:nvSpPr>
        <p:spPr>
          <a:xfrm>
            <a:off x="4318800" y="2063750"/>
            <a:ext cx="406400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26" name="VsDivider2"/>
          <p:cNvSpPr/>
          <p:nvPr/>
        </p:nvSpPr>
        <p:spPr>
          <a:xfrm>
            <a:off x="4318800" y="3295650"/>
            <a:ext cx="406400" cy="4064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VsTxt2"/>
          <p:cNvSpPr/>
          <p:nvPr/>
        </p:nvSpPr>
        <p:spPr>
          <a:xfrm>
            <a:off x="4318800" y="3289300"/>
            <a:ext cx="406400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28" name="InsightBg"/>
          <p:cNvSpPr/>
          <p:nvPr/>
        </p:nvSpPr>
        <p:spPr>
          <a:xfrm>
            <a:off x="365760" y="4210050"/>
            <a:ext cx="8411760" cy="609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InsightIcon"/>
          <p:cNvSpPr/>
          <p:nvPr/>
        </p:nvSpPr>
        <p:spPr>
          <a:xfrm>
            <a:off x="533400" y="4295250"/>
            <a:ext cx="381000" cy="381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InsightIconTxt"/>
          <p:cNvSpPr/>
          <p:nvPr/>
        </p:nvSpPr>
        <p:spPr>
          <a:xfrm>
            <a:off x="533400" y="4295250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31" name="InsightText"/>
          <p:cNvSpPr/>
          <p:nvPr/>
        </p:nvSpPr>
        <p:spPr>
          <a:xfrm>
            <a:off x="990600" y="4235250"/>
            <a:ext cx="770952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F59E0B"/>
                </a:solidFill>
              </a:rPr>
              <a:t>关键洞察:  </a:t>
            </a:r>
            <a:r>
              <a:rPr lang="zh-CN" altLang="en-US" sz="1100" dirty="0">
                <a:solidFill>
                  <a:srgbClr val="E2E8F0"/>
                </a:solidFill>
              </a:rPr>
              <a:t>大语言模型擅长编写确定性的Python代码,以完美的准确率处理计数与数学运算——交给它的应该是逻辑,而不仅仅是答案。</a:t>
            </a:r>
          </a:p>
        </p:txBody>
      </p:sp>
      <p:sp>
        <p:nvSpPr>
          <p:cNvPr id="32" name="Text 0">
            <a:extLst>
              <a:ext uri="{FF2B5EF4-FFF2-40B4-BE49-F238E27FC236}">
                <a16:creationId xmlns:a16="http://schemas.microsoft.com/office/drawing/2014/main" id="{02FFCB50-F4A9-C4DD-999F-364ADF9D21D5}"/>
              </a:ext>
            </a:extLst>
          </p:cNvPr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2400" b="1" dirty="0">
                <a:solidFill>
                  <a:srgbClr val="1E293B"/>
                </a:solidFill>
              </a:rPr>
              <a:t>指示AI构建工具——而不是直接执行任务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1E293B"/>
                </a:solidFill>
              </a:rPr>
              <a:t>AI真正的商业价值,远不止内容生成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6579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50" i="1" dirty="0">
                <a:solidFill>
                  <a:srgbClr val="64748B"/>
                </a:solidFill>
              </a:rPr>
              <a:t>最强大的AI应用不是内容工厂——而是战略情报放大器。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133384"/>
            <a:ext cx="272491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224824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700312"/>
            <a:ext cx="2542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1E293B"/>
                </a:solidFill>
              </a:rPr>
              <a:t>高管教练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02064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 dirty="0">
                <a:solidFill>
                  <a:srgbClr val="64748B"/>
                </a:solidFill>
              </a:rPr>
              <a:t>AI辅助的演讲教练能提升表达质量、节奏与说服力——并在整个领导梯队中规模化推广。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133384"/>
            <a:ext cx="272491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46120" y="1224824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37560" y="1700312"/>
            <a:ext cx="2542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1E293B"/>
                </a:solidFill>
              </a:rPr>
              <a:t>战略分析师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2002064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 dirty="0">
                <a:solidFill>
                  <a:srgbClr val="64748B"/>
                </a:solidFill>
              </a:rPr>
              <a:t>客观分析市场数据、客户情绪与竞争对手的弱点——挖掘出人类模式识别容易遗漏的洞察。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133384"/>
            <a:ext cx="272491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0" y="1224824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17920" y="1700312"/>
            <a:ext cx="2542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1E293B"/>
                </a:solidFill>
              </a:rPr>
              <a:t>信息测试器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2002064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 dirty="0">
                <a:solidFill>
                  <a:srgbClr val="64748B"/>
                </a:solidFill>
              </a:rPr>
              <a:t>对价值主张、产品话术与行动号召进行A/B测试,精准找出最能引起每个目标群体共鸣的内容。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916464"/>
            <a:ext cx="272491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007904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7200" y="3483392"/>
            <a:ext cx="2542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1E293B"/>
                </a:solidFill>
              </a:rPr>
              <a:t>市场情报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785144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 dirty="0">
                <a:solidFill>
                  <a:srgbClr val="64748B"/>
                </a:solidFill>
              </a:rPr>
              <a:t>实时追踪竞争对手动向、行业情绪与新兴市场变化——在颠覆来临前提前预警。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46120" y="2916464"/>
            <a:ext cx="272491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46120" y="3007904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337560" y="3483392"/>
            <a:ext cx="2542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1E293B"/>
                </a:solidFill>
              </a:rPr>
              <a:t>盲点揭示者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785144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 dirty="0">
                <a:solidFill>
                  <a:srgbClr val="64748B"/>
                </a:solidFill>
              </a:rPr>
              <a:t>指示AI扮演反方意见者或不满意的客户——揭露领导层一直忽视的关键战略问题。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2916464"/>
            <a:ext cx="272491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26480" y="3007904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217920" y="3483392"/>
            <a:ext cx="2542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1E293B"/>
                </a:solidFill>
              </a:rPr>
              <a:t>运营倍增器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3785144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 dirty="0">
                <a:solidFill>
                  <a:srgbClr val="64748B"/>
                </a:solidFill>
              </a:rPr>
              <a:t>自动化重复性的商业智能流程、报告生成与数据丰富化工作——把人才解放出来,投入需要高判断力、不可替代的工作。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7731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i="1" dirty="0">
                <a:solidFill>
                  <a:srgbClr val="64748B"/>
                </a:solidFill>
              </a:rPr>
              <a:t>AI最大的价值不是产出更多内容——而是帮助领导层发现自己实际在做什么。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7764" y="780289"/>
            <a:ext cx="440537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475569"/>
                </a:solidFill>
                <a:latin typeface="Aptos"/>
              </a:rPr>
              <a:t>在需要速度、广度与综合判断的地方,AI的价值最大。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4350" y="1191260"/>
            <a:ext cx="2263140" cy="1165860"/>
          </a:xfrm>
          <a:prstGeom prst="roundRect">
            <a:avLst/>
          </a:prstGeom>
          <a:solidFill>
            <a:srgbClr val="EDF6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76200" rIns="95250" bIns="76200" rtlCol="0" anchor="ctr"/>
          <a:lstStyle/>
          <a:p>
            <a:pPr algn="ctr">
              <a:spcAft>
                <a:spcPts val="300"/>
              </a:spcAft>
            </a:pPr>
            <a:r>
              <a:rPr sz="1350" b="1" dirty="0">
                <a:solidFill>
                  <a:srgbClr val="0F2240"/>
                </a:solidFill>
                <a:latin typeface="Aptos Display"/>
              </a:rPr>
              <a:t>销售</a:t>
            </a:r>
          </a:p>
          <a:p>
            <a:pPr>
              <a:defRPr sz="1200">
                <a:solidFill>
                  <a:srgbClr val="0F172A"/>
                </a:solidFill>
                <a:latin typeface="Aptos"/>
              </a:defRPr>
            </a:pPr>
            <a:r>
              <a:rPr sz="1200" dirty="0"/>
              <a:t>客户调研、通话准备、跟进文案起草、异议处理。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86100" y="1191260"/>
            <a:ext cx="2263140" cy="1165860"/>
          </a:xfrm>
          <a:prstGeom prst="roundRect">
            <a:avLst/>
          </a:prstGeom>
          <a:solidFill>
            <a:srgbClr val="ECFDF5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76200" rIns="95250" bIns="76200" rtlCol="0" anchor="ctr"/>
          <a:lstStyle/>
          <a:p>
            <a:pPr algn="ctr">
              <a:spcAft>
                <a:spcPts val="300"/>
              </a:spcAft>
            </a:pPr>
            <a:r>
              <a:rPr sz="1350" b="1" dirty="0">
                <a:solidFill>
                  <a:srgbClr val="0F2240"/>
                </a:solidFill>
                <a:latin typeface="Aptos Display"/>
              </a:rPr>
              <a:t>市场营销</a:t>
            </a:r>
          </a:p>
          <a:p>
            <a:pPr>
              <a:defRPr sz="1200">
                <a:solidFill>
                  <a:srgbClr val="0F172A"/>
                </a:solidFill>
                <a:latin typeface="Aptos"/>
              </a:defRPr>
            </a:pPr>
            <a:r>
              <a:rPr sz="1200" dirty="0"/>
              <a:t>信息测试、受众细分、内容变体、campaign创意。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57850" y="1191260"/>
            <a:ext cx="2263140" cy="1165860"/>
          </a:xfrm>
          <a:prstGeom prst="roundRect">
            <a:avLst/>
          </a:prstGeom>
          <a:solidFill>
            <a:srgbClr val="FFF7ED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76200" rIns="95250" bIns="76200" rtlCol="0" anchor="ctr"/>
          <a:lstStyle/>
          <a:p>
            <a:pPr algn="ctr">
              <a:spcAft>
                <a:spcPts val="300"/>
              </a:spcAft>
            </a:pPr>
            <a:r>
              <a:rPr sz="1350" b="1" dirty="0">
                <a:solidFill>
                  <a:srgbClr val="0F2240"/>
                </a:solidFill>
                <a:latin typeface="Aptos Display"/>
              </a:rPr>
              <a:t>运营</a:t>
            </a:r>
          </a:p>
          <a:p>
            <a:pPr>
              <a:defRPr sz="1200">
                <a:solidFill>
                  <a:srgbClr val="0F172A"/>
                </a:solidFill>
                <a:latin typeface="Aptos"/>
              </a:defRPr>
            </a:pPr>
            <a:r>
              <a:rPr sz="1200" dirty="0"/>
              <a:t>流程总结、SOP起草、知识检索、工作流自动化。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4350" y="2631440"/>
            <a:ext cx="2263140" cy="1165860"/>
          </a:xfrm>
          <a:prstGeom prst="roundRect">
            <a:avLst/>
          </a:prstGeom>
          <a:solidFill>
            <a:srgbClr val="F8FAFC"/>
          </a:solidFill>
          <a:ln w="13970"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76200" rIns="95250" bIns="76200" rtlCol="0" anchor="ctr"/>
          <a:lstStyle/>
          <a:p>
            <a:pPr algn="ctr">
              <a:spcAft>
                <a:spcPts val="300"/>
              </a:spcAft>
            </a:pPr>
            <a:r>
              <a:rPr sz="1350" b="1" dirty="0">
                <a:solidFill>
                  <a:srgbClr val="0F2240"/>
                </a:solidFill>
                <a:latin typeface="Aptos Display"/>
              </a:rPr>
              <a:t>产品</a:t>
            </a:r>
          </a:p>
          <a:p>
            <a:pPr>
              <a:defRPr sz="1200">
                <a:solidFill>
                  <a:srgbClr val="0F172A"/>
                </a:solidFill>
                <a:latin typeface="Aptos"/>
              </a:defRPr>
            </a:pPr>
            <a:r>
              <a:rPr sz="1200" dirty="0"/>
              <a:t>用户反馈整合、路线图假设、功能优先级排序。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86100" y="2631440"/>
            <a:ext cx="2263140" cy="1165860"/>
          </a:xfrm>
          <a:prstGeom prst="roundRect">
            <a:avLst/>
          </a:prstGeom>
          <a:solidFill>
            <a:srgbClr val="ECFDF5"/>
          </a:solidFill>
          <a:ln w="1397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76200" rIns="95250" bIns="76200" rtlCol="0" anchor="ctr"/>
          <a:lstStyle/>
          <a:p>
            <a:pPr algn="ctr">
              <a:spcAft>
                <a:spcPts val="300"/>
              </a:spcAft>
            </a:pPr>
            <a:r>
              <a:rPr sz="1350" b="1" dirty="0">
                <a:solidFill>
                  <a:srgbClr val="0F2240"/>
                </a:solidFill>
                <a:latin typeface="Aptos Display"/>
              </a:rPr>
              <a:t>质量与测试</a:t>
            </a:r>
          </a:p>
          <a:p>
            <a:pPr>
              <a:defRPr sz="1200">
                <a:solidFill>
                  <a:srgbClr val="0F172A"/>
                </a:solidFill>
                <a:latin typeface="Aptos"/>
              </a:defRPr>
            </a:pPr>
            <a:r>
              <a:rPr sz="1200" dirty="0"/>
              <a:t>测试骨架、边界场景、回归分级、缺陷总结。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57850" y="2631440"/>
            <a:ext cx="2263140" cy="1165860"/>
          </a:xfrm>
          <a:prstGeom prst="roundRect">
            <a:avLst/>
          </a:prstGeom>
          <a:solidFill>
            <a:srgbClr val="FFF7ED"/>
          </a:solidFill>
          <a:ln w="1397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76200" rIns="95250" bIns="76200" rtlCol="0" anchor="ctr"/>
          <a:lstStyle/>
          <a:p>
            <a:pPr algn="ctr">
              <a:spcAft>
                <a:spcPts val="300"/>
              </a:spcAft>
            </a:pPr>
            <a:r>
              <a:rPr sz="1350" b="1" dirty="0">
                <a:solidFill>
                  <a:srgbClr val="0F2240"/>
                </a:solidFill>
                <a:latin typeface="Aptos Display"/>
              </a:rPr>
              <a:t>竞争情报</a:t>
            </a:r>
          </a:p>
          <a:p>
            <a:pPr>
              <a:defRPr sz="1200">
                <a:solidFill>
                  <a:srgbClr val="0F172A"/>
                </a:solidFill>
                <a:latin typeface="Aptos"/>
              </a:defRPr>
            </a:pPr>
            <a:r>
              <a:rPr sz="1200" dirty="0"/>
              <a:t>市场扫描、情景规划、竞争对手定位。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350" y="4014470"/>
            <a:ext cx="8092440" cy="82981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76200" rIns="95250" bIns="76200" rtlCol="0" anchor="ctr"/>
          <a:lstStyle/>
          <a:p>
            <a:pPr algn="ctr">
              <a:spcAft>
                <a:spcPts val="300"/>
              </a:spcAft>
            </a:pPr>
            <a:r>
              <a:rPr sz="1350" b="1" dirty="0">
                <a:solidFill>
                  <a:srgbClr val="0F2240"/>
                </a:solidFill>
                <a:latin typeface="Aptos Display"/>
              </a:rPr>
              <a:t>应记住的模式</a:t>
            </a:r>
          </a:p>
          <a:p>
            <a:pPr>
              <a:defRPr sz="1200">
                <a:solidFill>
                  <a:srgbClr val="0F172A"/>
                </a:solidFill>
                <a:latin typeface="Aptos"/>
              </a:defRPr>
            </a:pPr>
            <a:r>
              <a:rPr sz="1200" dirty="0"/>
              <a:t>用聊天机器人做构思、分析和长篇思考;用AI智能体处理边界清晰的任务;确定性规则与审批关卡始终由人来掌控。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853" y="4848606"/>
            <a:ext cx="2250937" cy="2135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88" dirty="0">
                <a:solidFill>
                  <a:srgbClr val="475569"/>
                </a:solidFill>
                <a:latin typeface="Aptos"/>
              </a:rPr>
              <a:t>加速那些受益于综合整理的工作。</a:t>
            </a:r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2DBA4394-1759-C936-2EF3-9DFE65C657B2}"/>
              </a:ext>
            </a:extLst>
          </p:cNvPr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1E293B"/>
                </a:solidFill>
              </a:rPr>
              <a:t>AI在哪些地方为商业创造杠杆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2286000"/>
            <a:ext cx="5029200" cy="50292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000" b="1" kern="0" spc="300" dirty="0">
                <a:solidFill>
                  <a:srgbClr val="3B82F6"/>
                </a:solidFill>
              </a:rPr>
              <a:t>根本性的差距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3000" b="1" dirty="0">
                <a:solidFill>
                  <a:srgbClr val="FFFFFF"/>
                </a:solidFill>
              </a:rPr>
              <a:t>AI是其训练数据的镜子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3977640" cy="2743200"/>
          </a:xfrm>
          <a:prstGeom prst="roundRect">
            <a:avLst>
              <a:gd name="adj" fmla="val 3333"/>
            </a:avLst>
          </a:prstGeom>
          <a:solidFill>
            <a:srgbClr val="1A2E4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5270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0B981"/>
                </a:solidFill>
              </a:rPr>
              <a:t>AI擅长生成产出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0352" y="19659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50" dirty="0">
                <a:solidFill>
                  <a:srgbClr val="94A3B8"/>
                </a:solidFill>
              </a:rPr>
              <a:t>大语言模型是在浩瀚的人类知识库上训练而成的,这些知识库本就以创作与生成为重。它们擅长产出初稿、分析框架、代码骨架和高管摘要。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30352" y="31272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10B981"/>
                </a:solidFill>
              </a:rPr>
              <a:t>✓ 在生成、构思与重构方面表现出色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1389888"/>
            <a:ext cx="3977640" cy="2743200"/>
          </a:xfrm>
          <a:prstGeom prst="roundRect">
            <a:avLst>
              <a:gd name="adj" fmla="val 3333"/>
            </a:avLst>
          </a:prstGeom>
          <a:solidFill>
            <a:srgbClr val="1A2E45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65192" y="15270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EF4444"/>
                </a:solidFill>
              </a:rPr>
              <a:t>在验证与精确性方面表现欠佳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65192" y="19659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50" dirty="0">
                <a:solidFill>
                  <a:srgbClr val="94A3B8"/>
                </a:solidFill>
              </a:rPr>
              <a:t>AI是其训练数据的一面镜子。由于整个行业在验证文化上的投入本就不足,大语言模型也继承了同样的偏差——产出的内容可能流于浅表、脆弱,或悄无声息地出错。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65192" y="31272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EF4444"/>
                </a:solidFill>
              </a:rPr>
              <a:t>✗ 在确定性、可验证的产出方面表现薄弱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43159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i="1" dirty="0">
                <a:solidFill>
                  <a:srgbClr val="94A3B8"/>
                </a:solidFill>
              </a:rPr>
              <a:t>在任何零容错的领域——金融合规、安全攸关的系统、法律文件——AI的概率性本质是一种负担,而非优势。验证工作必须由人来掌控。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1E293B"/>
                </a:solidFill>
              </a:rPr>
              <a:t>案例研究#1——错误战略 × AI = 加速失败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EF4444"/>
                </a:solidFill>
              </a:rPr>
              <a:t>场景:竞争对手攻击型内容战略 × AI批量生产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00" dirty="0">
                <a:solidFill>
                  <a:srgbClr val="991B1B"/>
                </a:solidFill>
              </a:rPr>
              <a:t>某企业营销团队部署AI,在领英及社交渠道上批量生产攻击竞争对手的内容。而其底层战略本身已经引发了业内的强烈反弹。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F4444"/>
                </a:solidFill>
              </a:rPr>
              <a:t>😤</a:t>
            </a:r>
            <a:endParaRPr lang="en-US" sz="1250" dirty="0"/>
          </a:p>
          <a:p>
            <a:pPr marL="0" indent="0" algn="ctr">
              <a:buNone/>
            </a:pPr>
            <a:r>
              <a:rPr lang="zh-CN" altLang="en-US" sz="1250" b="1" dirty="0">
                <a:solidFill>
                  <a:srgbClr val="EF4444"/>
                </a:solidFill>
              </a:rPr>
              <a:t>攻击性</a:t>
            </a:r>
            <a:endParaRPr lang="en-US" sz="1250" dirty="0"/>
          </a:p>
          <a:p>
            <a:pPr marL="0" indent="0" algn="ctr">
              <a:buNone/>
            </a:pPr>
            <a:r>
              <a:rPr lang="zh-CN" altLang="en-US" sz="1250" b="1" dirty="0">
                <a:solidFill>
                  <a:srgbClr val="EF4444"/>
                </a:solidFill>
              </a:rPr>
              <a:t>话术战略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88920" y="2121408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4444"/>
                </a:solidFill>
              </a:rPr>
              <a:t>×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383280" y="20574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21031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F4444"/>
                </a:solidFill>
              </a:rPr>
              <a:t>🤖</a:t>
            </a:r>
            <a:endParaRPr lang="en-US" sz="1250" dirty="0"/>
          </a:p>
          <a:p>
            <a:pPr marL="0" indent="0" algn="ctr">
              <a:buNone/>
            </a:pPr>
            <a:r>
              <a:rPr lang="zh-CN" altLang="en-US" sz="1250" b="1" dirty="0">
                <a:solidFill>
                  <a:srgbClr val="EF4444"/>
                </a:solidFill>
              </a:rPr>
              <a:t>AI批量</a:t>
            </a:r>
            <a:endParaRPr lang="en-US" sz="1250" dirty="0"/>
          </a:p>
          <a:p>
            <a:pPr marL="0" indent="0" algn="ctr">
              <a:buNone/>
            </a:pPr>
            <a:r>
              <a:rPr lang="zh-CN" altLang="en-US" sz="1250" b="1" dirty="0">
                <a:solidFill>
                  <a:srgbClr val="EF4444"/>
                </a:solidFill>
              </a:rPr>
              <a:t>生产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06440" y="2121408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4444"/>
                </a:solidFill>
              </a:rPr>
              <a:t>=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0" y="20574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92240" y="21031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F4444"/>
                </a:solidFill>
              </a:rPr>
              <a:t>🔥</a:t>
            </a:r>
            <a:endParaRPr lang="en-US" sz="1250" dirty="0"/>
          </a:p>
          <a:p>
            <a:pPr marL="0" indent="0" algn="ctr">
              <a:buNone/>
            </a:pPr>
            <a:r>
              <a:rPr lang="zh-CN" altLang="en-US" sz="1250" b="1" dirty="0">
                <a:solidFill>
                  <a:srgbClr val="EF4444"/>
                </a:solidFill>
              </a:rPr>
              <a:t>放大的</a:t>
            </a:r>
            <a:endParaRPr lang="en-US" sz="1250" dirty="0"/>
          </a:p>
          <a:p>
            <a:pPr marL="0" indent="0" algn="ctr">
              <a:buNone/>
            </a:pPr>
            <a:r>
              <a:rPr lang="zh-CN" altLang="en-US" sz="1250" b="1" dirty="0">
                <a:solidFill>
                  <a:srgbClr val="EF4444"/>
                </a:solidFill>
              </a:rPr>
              <a:t>反弹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8412480" cy="1645920"/>
          </a:xfrm>
          <a:prstGeom prst="roundRect">
            <a:avLst>
              <a:gd name="adj" fmla="val 5556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21868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92400E"/>
                </a:solidFill>
              </a:rPr>
              <a:t>📌 核心商业教训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602736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00" dirty="0">
                <a:solidFill>
                  <a:srgbClr val="92400E"/>
                </a:solidFill>
              </a:rPr>
              <a:t>如果你的战略本就已经引发反弹,用AI生产得越多,负面效应只会被放大十倍。更多内容不等于更多影响力——而是更大规模的损害。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07822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92400E"/>
                </a:solidFill>
              </a:rPr>
              <a:t>更多 ≠ 更好。方向错误 × 速度更快 = 更快走向失败。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681728"/>
            <a:ext cx="8412480" cy="292608"/>
          </a:xfrm>
          <a:prstGeom prst="roundRect">
            <a:avLst>
              <a:gd name="adj" fmla="val 1562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681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FFFFFF"/>
                </a:solidFill>
              </a:rPr>
              <a:t>错误战略 × AI加速 = 加速失败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1E293B"/>
                </a:solidFill>
              </a:rPr>
              <a:t>案例研究#2——品牌联想陷阱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50" i="1" dirty="0">
                <a:solidFill>
                  <a:srgbClr val="64748B"/>
                </a:solidFill>
              </a:rPr>
              <a:t>一个优质产品或高管,与一个负面感知的品牌产生关联。AI内容会把错误的信号大规模放大。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166534"/>
                </a:solidFill>
              </a:rPr>
              <a:t>优质产品 / 高管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176272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zh-CN" altLang="en-US" sz="1100" dirty="0">
                <a:solidFill>
                  <a:srgbClr val="166534"/>
                </a:solidFill>
              </a:rPr>
              <a:t>✓ 出色的业绩记录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zh-CN" altLang="en-US" sz="1100" dirty="0">
                <a:solidFill>
                  <a:srgbClr val="166534"/>
                </a:solidFill>
              </a:rPr>
              <a:t>✓ 真实的客户价值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zh-CN" altLang="en-US" sz="1100" dirty="0">
                <a:solidFill>
                  <a:srgbClr val="166534"/>
                </a:solidFill>
              </a:rPr>
              <a:t>✓ 可信的过往记录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99923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 b="1" dirty="0">
                <a:solidFill>
                  <a:srgbClr val="166534"/>
                </a:solidFill>
              </a:rPr>
              <a:t>✅ 市场愿意参与互动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35808" y="2267712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</a:rPr>
              <a:t>➕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602736" y="1115568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02736" y="11887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🚫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94176" y="16916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EF4444"/>
                </a:solidFill>
              </a:rPr>
              <a:t>负面品牌联想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39896" y="2176272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zh-CN" altLang="en-US" sz="1100" dirty="0">
                <a:solidFill>
                  <a:srgbClr val="991B1B"/>
                </a:solidFill>
              </a:rPr>
              <a:t>✗ 已经是“拒之门外”的触发因素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zh-CN" altLang="en-US" sz="1100" dirty="0">
                <a:solidFill>
                  <a:srgbClr val="991B1B"/>
                </a:solidFill>
              </a:rPr>
              <a:t>✗ 关键细分群体拒绝互动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zh-CN" altLang="en-US" sz="1100" dirty="0">
                <a:solidFill>
                  <a:srgbClr val="991B1B"/>
                </a:solidFill>
              </a:rPr>
              <a:t>✗ 负面认知先于评估发生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39896" y="299923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 b="1" dirty="0">
                <a:solidFill>
                  <a:srgbClr val="EF4444"/>
                </a:solidFill>
              </a:rPr>
              <a:t>❌ 潜在客户尚未倾听就已抽身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72784" y="2267712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</a:rPr>
              <a:t>=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839712" y="1115568"/>
            <a:ext cx="1938528" cy="2834640"/>
          </a:xfrm>
          <a:prstGeom prst="roundRect">
            <a:avLst>
              <a:gd name="adj" fmla="val 4717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39712" y="1188720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📉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931152" y="1719072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92400E"/>
                </a:solidFill>
              </a:rPr>
              <a:t>AI让</a:t>
            </a:r>
            <a:endParaRPr lang="en-US" sz="1300" dirty="0"/>
          </a:p>
          <a:p>
            <a:pPr marL="0" indent="0" algn="ctr">
              <a:buNone/>
            </a:pPr>
            <a:r>
              <a:rPr lang="zh-CN" altLang="en-US" sz="1300" b="1" dirty="0">
                <a:solidFill>
                  <a:srgbClr val="92400E"/>
                </a:solidFill>
              </a:rPr>
              <a:t>情况更糟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31152" y="230428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000" dirty="0">
                <a:solidFill>
                  <a:srgbClr val="92400E"/>
                </a:solidFill>
              </a:rPr>
              <a:t>更多AI内容 =</a:t>
            </a:r>
            <a:endParaRPr lang="en-US" sz="1000" dirty="0"/>
          </a:p>
          <a:p>
            <a:pPr marL="0" indent="0" algn="ctr">
              <a:buNone/>
            </a:pPr>
            <a:r>
              <a:rPr lang="zh-CN" altLang="en-US" sz="1000" dirty="0">
                <a:solidFill>
                  <a:srgbClr val="92400E"/>
                </a:solidFill>
              </a:rPr>
              <a:t>更快的品牌损害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31152" y="2907792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100" b="1" dirty="0">
                <a:solidFill>
                  <a:srgbClr val="92400E"/>
                </a:solidFill>
              </a:rPr>
              <a:t>⚠️ 反向</a:t>
            </a:r>
            <a:endParaRPr lang="en-US" sz="1100" dirty="0"/>
          </a:p>
          <a:p>
            <a:pPr marL="0" indent="0" algn="ctr">
              <a:buNone/>
            </a:pPr>
            <a:r>
              <a:rPr lang="zh-CN" altLang="en-US" sz="1100" b="1" dirty="0">
                <a:solidFill>
                  <a:srgbClr val="92400E"/>
                </a:solidFill>
              </a:rPr>
              <a:t>放大效应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11480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4114800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FFF"/>
                </a:solidFill>
              </a:rPr>
              <a:t>先修复品牌信号。AI跑不赢一个定位问题——它只能加速损害的发生。</a:t>
            </a:r>
            <a:endParaRPr lang="en-US" sz="1300" dirty="0"/>
          </a:p>
          <a:p>
            <a:pPr marL="0" indent="0" algn="ctr">
              <a:buNone/>
            </a:pPr>
            <a:r>
              <a:rPr lang="zh-CN" altLang="en-US" sz="1300" b="1" dirty="0">
                <a:solidFill>
                  <a:srgbClr val="FFFFFF"/>
                </a:solidFill>
              </a:rPr>
              <a:t>重新定位必须先于放大进行。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2400" b="1" dirty="0">
                <a:solidFill>
                  <a:srgbClr val="1E293B"/>
                </a:solidFill>
              </a:rPr>
              <a:t>为什么基于统计的AI与商业逻辑会冲突的4个原因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50" i="1" dirty="0">
                <a:solidFill>
                  <a:srgbClr val="64748B"/>
                </a:solidFill>
              </a:rPr>
              <a:t>为什么将关键商业决策完全外包给AI会带来系统性风险——以及人类必须在哪些地方守住底线。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30352" y="1252728"/>
            <a:ext cx="502920" cy="5029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252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1143000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1E293B"/>
                </a:solidFill>
              </a:rPr>
              <a:t>确定性规则 与 概率性输出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1481328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64748B"/>
                </a:solidFill>
              </a:rPr>
              <a:t>构建商业流程是确定性的——你来定义规则,执行规则意味着零容错。而大语言模型是以概率方式运作,猜测什么是正确答案。对合规或定价规则的一次错误解读,就会污染下游的一切环节。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39112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30352" y="219456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70432" y="2084832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1E293B"/>
                </a:solidFill>
              </a:rPr>
              <a:t>对现实世界状态零实时感知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2423160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64748B"/>
                </a:solidFill>
              </a:rPr>
              <a:t>AI对你的商业环境没有实时感知。它基于可能已过时数月甚至数年的训练数据快照,自信地给出建议。它无法看到其训练截止日期之后的市场变化、监管调整或竞争对手动向。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80944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0352" y="3136392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352" y="3136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70432" y="3026664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1E293B"/>
                </a:solidFill>
              </a:rPr>
              <a:t>长决策链中的上下文漂移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3364992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64748B"/>
                </a:solidFill>
              </a:rPr>
              <a:t>复杂的商业决策涉及紧密耦合的链条:收入模型 → 定价 → 利润率 → 激励结构。随着链条变长,AI的上下文会发生漂移——第四步建立在第二步的错误假设之上。输出看似合乎逻辑,但结构上已经出了问题。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922776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30352" y="4078224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0352" y="40782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70432" y="3968496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1E293B"/>
                </a:solidFill>
              </a:rPr>
              <a:t>调试战略性错误的高昂代价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70432" y="4306824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64748B"/>
                </a:solidFill>
              </a:rPr>
              <a:t>与开发阶段就能被发现的软件缺陷不同,战略性的AI错误会在实际运行中不断累积——侵蚀市场地位、客户信任与财务表现——直到问题才显现出来。反馈周期很长,等错误浮出水面时,代价已经十分高昂。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12064" y="850139"/>
            <a:ext cx="323037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475569"/>
                </a:solidFill>
                <a:latin typeface="Aptos"/>
              </a:rPr>
              <a:t>AI很强大——但并非适用于所有类型的工作。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4351" y="1328420"/>
            <a:ext cx="2811779" cy="3360420"/>
          </a:xfrm>
          <a:prstGeom prst="roundRect">
            <a:avLst/>
          </a:prstGeom>
          <a:solidFill>
            <a:srgbClr val="FEF2F2"/>
          </a:solidFill>
          <a:ln w="1397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76200" rIns="95250" bIns="76200" rtlCol="0" anchor="ctr"/>
          <a:lstStyle/>
          <a:p>
            <a:pPr algn="ctr">
              <a:spcAft>
                <a:spcPts val="300"/>
              </a:spcAft>
            </a:pPr>
            <a:r>
              <a:rPr sz="1275" b="1" dirty="0">
                <a:solidFill>
                  <a:srgbClr val="0F2240"/>
                </a:solidFill>
                <a:latin typeface="Aptos Display"/>
              </a:rPr>
              <a:t>让AI保持在辅助角色</a:t>
            </a:r>
          </a:p>
          <a:p>
            <a:pPr marL="214313" indent="-214313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  <a:latin typeface="Aptos"/>
              </a:defRPr>
            </a:pPr>
            <a:r>
              <a:rPr sz="1200" dirty="0"/>
              <a:t>确定性的定价规则</a:t>
            </a:r>
            <a:endParaRPr lang="en-US" sz="1200" dirty="0"/>
          </a:p>
          <a:p>
            <a:pPr marL="214313" indent="-214313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  <a:latin typeface="Aptos"/>
              </a:defRPr>
            </a:pPr>
            <a:r>
              <a:rPr sz="1200" dirty="0"/>
              <a:t>合规与法务审批</a:t>
            </a:r>
            <a:endParaRPr lang="en-US" sz="1200" dirty="0"/>
          </a:p>
          <a:p>
            <a:pPr marL="214313" indent="-214313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  <a:latin typeface="Aptos"/>
              </a:defRPr>
            </a:pPr>
            <a:r>
              <a:rPr sz="1200" dirty="0"/>
              <a:t>财务管控</a:t>
            </a:r>
            <a:endParaRPr lang="en-US" sz="1200" dirty="0"/>
          </a:p>
          <a:p>
            <a:pPr marL="214313" indent="-214313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  <a:latin typeface="Aptos"/>
              </a:defRPr>
            </a:pPr>
            <a:r>
              <a:rPr sz="1200" dirty="0"/>
              <a:t>发布关卡与</a:t>
            </a:r>
            <a:r>
              <a:rPr lang="zh-CN" altLang="en-US" sz="1200" dirty="0"/>
              <a:t>质量</a:t>
            </a:r>
            <a:r>
              <a:rPr sz="1200" dirty="0"/>
              <a:t>审批</a:t>
            </a:r>
            <a:endParaRPr lang="en-US" sz="1200" dirty="0"/>
          </a:p>
          <a:p>
            <a:pPr marL="214313" indent="-214313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  <a:latin typeface="Aptos"/>
              </a:defRPr>
            </a:pPr>
            <a:r>
              <a:rPr sz="1200" dirty="0"/>
              <a:t>安全敏感的工作流</a:t>
            </a:r>
            <a:br>
              <a:rPr sz="1200" dirty="0"/>
            </a:br>
            <a:br>
              <a:rPr sz="1200" dirty="0"/>
            </a:br>
            <a:r>
              <a:rPr sz="1200" dirty="0"/>
              <a:t>这些领域需要可审计性与可预测的结果。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8210" y="1328420"/>
            <a:ext cx="4800600" cy="1577340"/>
          </a:xfrm>
          <a:prstGeom prst="roundRect">
            <a:avLst/>
          </a:prstGeom>
          <a:solidFill>
            <a:srgbClr val="EDF6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76200" rIns="95250" bIns="76200" rtlCol="0" anchor="ctr"/>
          <a:lstStyle/>
          <a:p>
            <a:pPr algn="ctr">
              <a:spcAft>
                <a:spcPts val="300"/>
              </a:spcAft>
            </a:pPr>
            <a:r>
              <a:rPr sz="1350" b="1" dirty="0">
                <a:solidFill>
                  <a:srgbClr val="0F2240"/>
                </a:solidFill>
                <a:latin typeface="Aptos Display"/>
              </a:rPr>
              <a:t>软件测试自动化的经验</a:t>
            </a:r>
          </a:p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rPr sz="1125" dirty="0"/>
              <a:t>大语言模型非常擅长生成骨架代码、检索语法和起草变体方案。但在验证选择器、时序、边界场景与根因准确性方面相对薄弱——这些确定性的部分仍然属于人类的职责。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8210" y="3077210"/>
            <a:ext cx="4800600" cy="1611630"/>
          </a:xfrm>
          <a:prstGeom prst="roundRect">
            <a:avLst/>
          </a:prstGeom>
          <a:solidFill>
            <a:srgbClr val="ECFDF5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76200" rIns="95250" bIns="76200" rtlCol="0" anchor="ctr"/>
          <a:lstStyle/>
          <a:p>
            <a:pPr algn="ctr">
              <a:spcAft>
                <a:spcPts val="300"/>
              </a:spcAft>
            </a:pPr>
            <a:r>
              <a:rPr sz="1350" b="1" dirty="0">
                <a:solidFill>
                  <a:srgbClr val="0F2240"/>
                </a:solidFill>
                <a:latin typeface="Aptos Display"/>
              </a:rPr>
              <a:t>这为何对商业很重要</a:t>
            </a:r>
          </a:p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rPr sz="1125" dirty="0"/>
              <a:t>快但错误的工作流不是竞争优势。决策越敏感,验证逻辑、数据与最终判断就越重要。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8446" y="4848606"/>
            <a:ext cx="2148345" cy="2135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88" dirty="0">
                <a:solidFill>
                  <a:srgbClr val="475569"/>
                </a:solidFill>
                <a:latin typeface="Aptos"/>
              </a:rPr>
              <a:t>AI负责加速。问责始终在人。</a:t>
            </a: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4A015B0E-91BF-2F23-BE92-54770C58766C}"/>
              </a:ext>
            </a:extLst>
          </p:cNvPr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2400" b="1" dirty="0">
                <a:solidFill>
                  <a:srgbClr val="1E293B"/>
                </a:solidFill>
              </a:rPr>
              <a:t>人类必须掌控的领域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1E293B"/>
                </a:solidFill>
              </a:rPr>
              <a:t>最大化AI覆盖面:多模型策略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50" i="1" dirty="0">
                <a:solidFill>
                  <a:srgbClr val="64748B"/>
                </a:solidFill>
              </a:rPr>
              <a:t>聪明的组织不会依赖单一的AI模型——它们会运营一个模型组合,以最大化质量、覆盖面与抗风险能力。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2724912" cy="342900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2724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🔄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1E293B"/>
                </a:solidFill>
              </a:rPr>
              <a:t>工具轮换策略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12848"/>
            <a:ext cx="2542032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64748B"/>
                </a:solidFill>
              </a:rPr>
              <a:t>同时维持对多个AI工具的免费版与付费版的使用权限。各工具的额度按不同周期重置。交叉比对多个模型的输出能显著提升质量,并发现单一模型本身就容易遗漏的战略盲点。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115568"/>
            <a:ext cx="2724912" cy="342900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46120" y="1207008"/>
            <a:ext cx="2724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🧩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37560" y="1783080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1E293B"/>
                </a:solidFill>
              </a:rPr>
              <a:t>跨模型工作流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2212848"/>
            <a:ext cx="2542032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64748B"/>
                </a:solidFill>
              </a:rPr>
              <a:t>当一个模型在复杂问题上卡住时,把上下文粘贴到另一个大语言模型中,进行独立分析。再把它给出的建议带回你的主工作流。这种“洞察注入”技巧能打破僵局,同时不丢失已积累的上下文与项目历史。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115568"/>
            <a:ext cx="2724912" cy="342900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0" y="1207008"/>
            <a:ext cx="2724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17920" y="1783080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1E293B"/>
                </a:solidFill>
              </a:rPr>
              <a:t>多模型验证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2212848"/>
            <a:ext cx="2542032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64748B"/>
                </a:solidFill>
              </a:rPr>
              <a:t>对战略规划、财务模型、合规文件等高风险产出,至少用两个独立的AI模型进行验证。这一点对基于文本资料的检索、研究与归纳总结类任务尤为重要——单一模型的推理始终存在局限。建议用同一提示词在多个模型上运行,再复制或导出为Word/PDF文档加以整合比对,以拓宽内容的广度与深度。模型间出现分歧,提示该处需要人工判断;结果一致,则提升置信度。但两者都不能替代管理者对最终决策的所有权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681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rgbClr val="64748B"/>
                </a:solidFill>
              </a:rPr>
              <a:t>已在战略、分析、代码、沟通与商业智能等工作流中测试过这些模型。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18288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E293B"/>
                </a:solidFill>
              </a:rPr>
              <a:t>Google NotebookLM 实战指南:多模型交叉验证工作流</a:t>
            </a:r>
            <a:endParaRPr lang="en-US" sz="2200" dirty="0"/>
          </a:p>
        </p:txBody>
      </p:sp>
      <p:sp>
        <p:nvSpPr>
          <p:cNvPr id="3" name="Subtitle"/>
          <p:cNvSpPr/>
          <p:nvPr/>
        </p:nvSpPr>
        <p:spPr>
          <a:xfrm>
            <a:off x="457200" y="6888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50" i="1" dirty="0">
                <a:solidFill>
                  <a:srgbClr val="64748B"/>
                </a:solidFill>
              </a:rPr>
              <a:t>不要止步于单一AI模型的总结与结论——用同一提示词在多个模型间交叉验证,才能拓宽内容的广度与深度。</a:t>
            </a:r>
            <a:endParaRPr lang="en-US" sz="1250" dirty="0"/>
          </a:p>
        </p:txBody>
      </p:sp>
      <p:sp>
        <p:nvSpPr>
          <p:cNvPr id="4" name="LimitCard"/>
          <p:cNvSpPr/>
          <p:nvPr/>
        </p:nvSpPr>
        <p:spPr>
          <a:xfrm>
            <a:off x="457200" y="1240536"/>
            <a:ext cx="3200400" cy="352044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txBody>
          <a:bodyPr wrap="square" lIns="173736" tIns="146304" rIns="173736" bIns="146304" rtlCol="0" anchor="t"/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991B1B"/>
                </a:solidFill>
              </a:rPr>
              <a:t>⚠ 单一AI模型局限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zh-CN" altLang="en-US" sz="1150" dirty="0">
                <a:solidFill>
                  <a:srgbClr val="450A0A"/>
                </a:solidFill>
              </a:rPr>
              <a:t>推理路径受训练数据限制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zh-CN" altLang="en-US" sz="1150" dirty="0">
                <a:solidFill>
                  <a:srgbClr val="450A0A"/>
                </a:solidFill>
              </a:rPr>
              <a:t>检索范围可能存在遗漏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zh-CN" altLang="en-US" sz="1150" dirty="0">
                <a:solidFill>
                  <a:srgbClr val="450A0A"/>
                </a:solidFill>
              </a:rPr>
              <a:t>总结过程存在压缩偏差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zh-CN" altLang="en-US" sz="1150" dirty="0">
                <a:solidFill>
                  <a:srgbClr val="450A0A"/>
                </a:solidFill>
              </a:rPr>
              <a:t>研究结论可能忽略反方观点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zh-CN" altLang="en-US" sz="1150" dirty="0" err="1">
                <a:solidFill>
                  <a:srgbClr val="450A0A"/>
                </a:solidFill>
              </a:rPr>
              <a:t>幻觉与事实错误无法完全避免</a:t>
            </a:r>
            <a:endParaRPr lang="en-US" sz="1150" dirty="0">
              <a:solidFill>
                <a:srgbClr val="450A0A"/>
              </a:solidFill>
            </a:endParaRP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endParaRPr lang="en-US" sz="1150" dirty="0">
              <a:solidFill>
                <a:srgbClr val="450A0A"/>
              </a:solidFill>
            </a:endParaRP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endParaRPr lang="en-US" sz="1150" dirty="0">
              <a:solidFill>
                <a:srgbClr val="450A0A"/>
              </a:solidFill>
            </a:endParaRPr>
          </a:p>
          <a:p>
            <a:pPr>
              <a:spcAft>
                <a:spcPts val="900"/>
              </a:spcAft>
            </a:pPr>
            <a:r>
              <a:rPr lang="en-US" sz="1200" b="1" dirty="0">
                <a:solidFill>
                  <a:srgbClr val="991B1B"/>
                </a:solidFill>
              </a:rPr>
              <a:t>Google </a:t>
            </a:r>
            <a:r>
              <a:rPr lang="en-US" sz="1200" b="1" dirty="0" err="1">
                <a:solidFill>
                  <a:srgbClr val="991B1B"/>
                </a:solidFill>
              </a:rPr>
              <a:t>NotebookLM</a:t>
            </a:r>
            <a:r>
              <a:rPr lang="zh-CN" altLang="en-US" sz="1200" b="1" dirty="0">
                <a:solidFill>
                  <a:srgbClr val="991B1B"/>
                </a:solidFill>
              </a:rPr>
              <a:t>链接</a:t>
            </a:r>
            <a:r>
              <a:rPr lang="en-US" altLang="zh-CN" sz="1200" b="1" dirty="0">
                <a:solidFill>
                  <a:srgbClr val="991B1B"/>
                </a:solidFill>
              </a:rPr>
              <a:t>:</a:t>
            </a:r>
            <a:endParaRPr lang="en-US" sz="1200" b="1" dirty="0">
              <a:solidFill>
                <a:srgbClr val="991B1B"/>
              </a:solidFill>
            </a:endParaRPr>
          </a:p>
          <a:p>
            <a:pPr>
              <a:spcAft>
                <a:spcPts val="900"/>
              </a:spcAft>
            </a:pPr>
            <a:r>
              <a:rPr lang="en-US" sz="1200" dirty="0">
                <a:hlinkClick r:id="rId2"/>
              </a:rPr>
              <a:t>https://notebooklm.google.com/</a:t>
            </a:r>
            <a:endParaRPr lang="en-US" sz="1150" dirty="0">
              <a:solidFill>
                <a:srgbClr val="450A0A"/>
              </a:solidFill>
            </a:endParaRPr>
          </a:p>
        </p:txBody>
      </p:sp>
      <p:sp>
        <p:nvSpPr>
          <p:cNvPr id="5" name="StepsLabel"/>
          <p:cNvSpPr/>
          <p:nvPr/>
        </p:nvSpPr>
        <p:spPr>
          <a:xfrm>
            <a:off x="3840480" y="1240536"/>
            <a:ext cx="4846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0F2240"/>
                </a:solidFill>
              </a:rPr>
              <a:t>六步工作流</a:t>
            </a:r>
            <a:endParaRPr lang="en-US" sz="1300" dirty="0"/>
          </a:p>
        </p:txBody>
      </p:sp>
      <p:sp>
        <p:nvSpPr>
          <p:cNvPr id="6" name="StepRow1Circle"/>
          <p:cNvSpPr/>
          <p:nvPr/>
        </p:nvSpPr>
        <p:spPr>
          <a:xfrm>
            <a:off x="3840480" y="1571688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StepRow1Text"/>
          <p:cNvSpPr/>
          <p:nvPr/>
        </p:nvSpPr>
        <p:spPr>
          <a:xfrm>
            <a:off x="4297680" y="1636968"/>
            <a:ext cx="4389120" cy="381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200" dirty="0"/>
              <a:t>导入</a:t>
            </a:r>
            <a:r>
              <a:rPr lang="en-US" sz="1200" dirty="0"/>
              <a:t>PDF</a:t>
            </a:r>
            <a:r>
              <a:rPr lang="zh-CN" altLang="en-US" sz="1200" dirty="0"/>
              <a:t>、</a:t>
            </a:r>
            <a:r>
              <a:rPr lang="en-US" sz="1200" dirty="0"/>
              <a:t>Word</a:t>
            </a:r>
            <a:r>
              <a:rPr lang="zh-CN" altLang="en-US" sz="1200" dirty="0"/>
              <a:t>、研究报告、搜素结果等资料至</a:t>
            </a:r>
            <a:r>
              <a:rPr lang="en-US" sz="1200" dirty="0" err="1"/>
              <a:t>NotebookLM</a:t>
            </a:r>
            <a:r>
              <a:rPr lang="zh-CN" altLang="en-US" sz="1200" dirty="0"/>
              <a:t>数据源。</a:t>
            </a:r>
            <a:endParaRPr lang="en-US" sz="1200" dirty="0"/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8" name="StepRow2Circle"/>
          <p:cNvSpPr/>
          <p:nvPr/>
        </p:nvSpPr>
        <p:spPr>
          <a:xfrm>
            <a:off x="3840480" y="2503488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StepRow2Text"/>
          <p:cNvSpPr/>
          <p:nvPr/>
        </p:nvSpPr>
        <p:spPr>
          <a:xfrm>
            <a:off x="4297680" y="3427416"/>
            <a:ext cx="4389120" cy="381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150" dirty="0">
                <a:solidFill>
                  <a:srgbClr val="1E293B"/>
                </a:solidFill>
              </a:rPr>
              <a:t>在</a:t>
            </a:r>
            <a:r>
              <a:rPr lang="en-US" sz="1150" dirty="0" err="1">
                <a:solidFill>
                  <a:srgbClr val="1E293B"/>
                </a:solidFill>
              </a:rPr>
              <a:t>NotebookLM</a:t>
            </a:r>
            <a:r>
              <a:rPr lang="zh-CN" altLang="en-US" sz="1150" dirty="0">
                <a:solidFill>
                  <a:srgbClr val="1E293B"/>
                </a:solidFill>
              </a:rPr>
              <a:t>右侧的 </a:t>
            </a:r>
            <a:r>
              <a:rPr lang="en-US" altLang="zh-CN" sz="1150" dirty="0">
                <a:solidFill>
                  <a:srgbClr val="1E293B"/>
                </a:solidFill>
              </a:rPr>
              <a:t>Studio</a:t>
            </a:r>
            <a:r>
              <a:rPr lang="zh-CN" altLang="en-US" sz="1150" dirty="0">
                <a:solidFill>
                  <a:srgbClr val="1E293B"/>
                </a:solidFill>
              </a:rPr>
              <a:t>（工作室）面板中，一键将交叉验证后的更丰富、更全面的数据集生成为精美的最终报告。</a:t>
            </a:r>
            <a:endParaRPr lang="en-US" sz="1150" dirty="0"/>
          </a:p>
        </p:txBody>
      </p:sp>
      <p:sp>
        <p:nvSpPr>
          <p:cNvPr id="10" name="StepRow3Circle"/>
          <p:cNvSpPr/>
          <p:nvPr/>
        </p:nvSpPr>
        <p:spPr>
          <a:xfrm>
            <a:off x="3840480" y="2047494"/>
            <a:ext cx="365760" cy="3657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StepRow3Text"/>
          <p:cNvSpPr/>
          <p:nvPr/>
        </p:nvSpPr>
        <p:spPr>
          <a:xfrm>
            <a:off x="4297680" y="2016378"/>
            <a:ext cx="4389120" cy="381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991B1B"/>
                </a:solidFill>
              </a:rPr>
              <a:t>不要直接接受单一模型结论</a:t>
            </a:r>
            <a:endParaRPr lang="en-US" sz="1150" dirty="0"/>
          </a:p>
        </p:txBody>
      </p:sp>
      <p:sp>
        <p:nvSpPr>
          <p:cNvPr id="12" name="StepRow4Circle"/>
          <p:cNvSpPr/>
          <p:nvPr/>
        </p:nvSpPr>
        <p:spPr>
          <a:xfrm>
            <a:off x="3840480" y="2964816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StepRow4Text"/>
          <p:cNvSpPr/>
          <p:nvPr/>
        </p:nvSpPr>
        <p:spPr>
          <a:xfrm>
            <a:off x="4297680" y="2430336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50" dirty="0" err="1">
                <a:solidFill>
                  <a:srgbClr val="1E293B"/>
                </a:solidFill>
              </a:rPr>
              <a:t>使用同一Prompt在ChatGPT、Gemini、Claude、DeepSeek等模型重复执行</a:t>
            </a:r>
            <a:r>
              <a:rPr lang="zh-CN" altLang="en-US" sz="1150" dirty="0">
                <a:solidFill>
                  <a:srgbClr val="1E293B"/>
                </a:solidFill>
              </a:rPr>
              <a:t>对话。</a:t>
            </a:r>
            <a:endParaRPr lang="en-US" sz="1150" dirty="0"/>
          </a:p>
        </p:txBody>
      </p:sp>
      <p:sp>
        <p:nvSpPr>
          <p:cNvPr id="14" name="StepRow5Circle"/>
          <p:cNvSpPr/>
          <p:nvPr/>
        </p:nvSpPr>
        <p:spPr>
          <a:xfrm>
            <a:off x="3840480" y="3443544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" name="StepRow5Text"/>
          <p:cNvSpPr/>
          <p:nvPr/>
        </p:nvSpPr>
        <p:spPr>
          <a:xfrm>
            <a:off x="4297680" y="2952624"/>
            <a:ext cx="4389120" cy="381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150" dirty="0">
                <a:solidFill>
                  <a:srgbClr val="1E293B"/>
                </a:solidFill>
              </a:rPr>
              <a:t>把不同</a:t>
            </a:r>
            <a:r>
              <a:rPr lang="en-US" altLang="zh-CN" sz="1150" dirty="0">
                <a:solidFill>
                  <a:srgbClr val="1E293B"/>
                </a:solidFill>
              </a:rPr>
              <a:t>AI</a:t>
            </a:r>
            <a:r>
              <a:rPr lang="zh-CN" altLang="en-US" sz="1150" dirty="0">
                <a:solidFill>
                  <a:srgbClr val="1E293B"/>
                </a:solidFill>
              </a:rPr>
              <a:t>模型针对</a:t>
            </a:r>
            <a:r>
              <a:rPr lang="en-US" altLang="zh-CN" sz="1150" dirty="0">
                <a:solidFill>
                  <a:srgbClr val="1E293B"/>
                </a:solidFill>
              </a:rPr>
              <a:t>Prompt</a:t>
            </a:r>
            <a:r>
              <a:rPr lang="zh-CN" altLang="en-US" sz="1150" dirty="0">
                <a:solidFill>
                  <a:srgbClr val="1E293B"/>
                </a:solidFill>
              </a:rPr>
              <a:t>的文本答案，</a:t>
            </a:r>
            <a:r>
              <a:rPr lang="zh-CN" altLang="en-US" sz="1150" dirty="0" err="1">
                <a:solidFill>
                  <a:srgbClr val="1E293B"/>
                </a:solidFill>
              </a:rPr>
              <a:t>复制粘贴或导出</a:t>
            </a:r>
            <a:r>
              <a:rPr lang="zh-CN" altLang="en-US" sz="1150" dirty="0">
                <a:solidFill>
                  <a:srgbClr val="1E293B"/>
                </a:solidFill>
              </a:rPr>
              <a:t>成为</a:t>
            </a:r>
            <a:r>
              <a:rPr lang="en-US" sz="1150" dirty="0">
                <a:solidFill>
                  <a:srgbClr val="1E293B"/>
                </a:solidFill>
              </a:rPr>
              <a:t>Word/PDF</a:t>
            </a:r>
            <a:r>
              <a:rPr lang="zh-CN" altLang="en-US" sz="1150" dirty="0">
                <a:solidFill>
                  <a:srgbClr val="1E293B"/>
                </a:solidFill>
              </a:rPr>
              <a:t>，输入</a:t>
            </a:r>
            <a:r>
              <a:rPr lang="en-US" sz="1100" dirty="0" err="1"/>
              <a:t>NotebookLM</a:t>
            </a:r>
            <a:r>
              <a:rPr lang="zh-CN" altLang="en-US" sz="1100" dirty="0"/>
              <a:t>数据源。</a:t>
            </a:r>
            <a:endParaRPr lang="en-US" sz="1150" dirty="0"/>
          </a:p>
        </p:txBody>
      </p:sp>
      <p:sp>
        <p:nvSpPr>
          <p:cNvPr id="16" name="StepRow6Circle"/>
          <p:cNvSpPr/>
          <p:nvPr/>
        </p:nvSpPr>
        <p:spPr>
          <a:xfrm>
            <a:off x="3840480" y="3907920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7" name="StepRow6Text"/>
          <p:cNvSpPr/>
          <p:nvPr/>
        </p:nvSpPr>
        <p:spPr>
          <a:xfrm>
            <a:off x="4297680" y="3841368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150" dirty="0" err="1">
                <a:solidFill>
                  <a:srgbClr val="1E293B"/>
                </a:solidFill>
              </a:rPr>
              <a:t>使用NotebookLM进行总结、研究、问答与洞察提炼</a:t>
            </a:r>
            <a:r>
              <a:rPr lang="zh-CN" altLang="en-US" sz="1150" dirty="0">
                <a:solidFill>
                  <a:srgbClr val="1E293B"/>
                </a:solidFill>
              </a:rPr>
              <a:t> 。</a:t>
            </a:r>
            <a:endParaRPr lang="en-US" sz="1150" dirty="0"/>
          </a:p>
          <a:p>
            <a:r>
              <a:rPr lang="zh-CN" altLang="en-US" sz="1150" dirty="0" err="1">
                <a:solidFill>
                  <a:srgbClr val="1E293B"/>
                </a:solidFill>
              </a:rPr>
              <a:t>比较分歧与共识,提炼更丰富、更全面的结论</a:t>
            </a:r>
            <a:r>
              <a:rPr lang="zh-CN" altLang="en-US" sz="1150" dirty="0">
                <a:solidFill>
                  <a:srgbClr val="1E293B"/>
                </a:solidFill>
              </a:rPr>
              <a:t> 。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/>
          <p:cNvSpPr/>
          <p:nvPr/>
        </p:nvSpPr>
        <p:spPr>
          <a:xfrm>
            <a:off x="457200" y="6126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</a:rPr>
              <a:t>NotebookLM </a:t>
            </a:r>
            <a:r>
              <a:rPr lang="en-US" sz="1150" i="1" dirty="0" err="1">
                <a:solidFill>
                  <a:srgbClr val="64748B"/>
                </a:solidFill>
              </a:rPr>
              <a:t>的核心优势在于“以</a:t>
            </a:r>
            <a:r>
              <a:rPr lang="zh-CN" altLang="en-US" sz="1150" i="1" dirty="0">
                <a:solidFill>
                  <a:srgbClr val="64748B"/>
                </a:solidFill>
              </a:rPr>
              <a:t>资料</a:t>
            </a:r>
            <a:r>
              <a:rPr lang="en-US" sz="1150" i="1" dirty="0" err="1">
                <a:solidFill>
                  <a:srgbClr val="64748B"/>
                </a:solidFill>
              </a:rPr>
              <a:t>来源为依据”的分析。将多模型交叉验证</a:t>
            </a:r>
            <a:r>
              <a:rPr lang="en-US" sz="1150" i="1" dirty="0">
                <a:solidFill>
                  <a:srgbClr val="64748B"/>
                </a:solidFill>
              </a:rPr>
              <a:t>(Cross-Model Validation)工作流整合进 notebooklm.google,可彻底打破单一模型的认知盲点,提炼出更客观、全面的深度洞察。</a:t>
            </a:r>
            <a:endParaRPr lang="en-US" sz="1150" dirty="0"/>
          </a:p>
        </p:txBody>
      </p:sp>
      <p:sp>
        <p:nvSpPr>
          <p:cNvPr id="4" name="Row1Label"/>
          <p:cNvSpPr/>
          <p:nvPr/>
        </p:nvSpPr>
        <p:spPr>
          <a:xfrm>
            <a:off x="457200" y="114300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240"/>
                </a:solidFill>
              </a:rPr>
              <a:t>第一步 – 第二步:建立基准与原则</a:t>
            </a:r>
            <a:endParaRPr lang="en-US" sz="1150" dirty="0"/>
          </a:p>
        </p:txBody>
      </p:sp>
      <p:sp>
        <p:nvSpPr>
          <p:cNvPr id="5" name="Step1Card"/>
          <p:cNvSpPr/>
          <p:nvPr/>
        </p:nvSpPr>
        <p:spPr>
          <a:xfrm>
            <a:off x="457200" y="1380744"/>
            <a:ext cx="4023360" cy="832104"/>
          </a:xfrm>
          <a:prstGeom prst="roundRect">
            <a:avLst>
              <a:gd name="adj" fmla="val 4500"/>
            </a:avLst>
          </a:prstGeom>
          <a:solidFill>
            <a:srgbClr val="EDF6FF"/>
          </a:solidFill>
          <a:ln w="12700">
            <a:solidFill>
              <a:srgbClr val="2563EB"/>
            </a:solidFill>
          </a:ln>
        </p:spPr>
        <p:txBody>
          <a:bodyPr wrap="square" lIns="146304" tIns="100584" rIns="146304" bIns="100584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2240"/>
                </a:solidFill>
              </a:rPr>
              <a:t>1️⃣ 构建初始知识库(基准数据源)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在NotebookLM新建笔记本,导入PDF、Word、研究报告、Markdown;支持YouTube、音频、网页等多模态源;可用内置Discover Sources补充最新网络结果。</a:t>
            </a:r>
            <a:endParaRPr lang="en-US" sz="1050" dirty="0"/>
          </a:p>
        </p:txBody>
      </p:sp>
      <p:sp>
        <p:nvSpPr>
          <p:cNvPr id="6" name="Step2Card"/>
          <p:cNvSpPr/>
          <p:nvPr/>
        </p:nvSpPr>
        <p:spPr>
          <a:xfrm>
            <a:off x="4663440" y="1380744"/>
            <a:ext cx="4023360" cy="832104"/>
          </a:xfrm>
          <a:prstGeom prst="roundRect">
            <a:avLst>
              <a:gd name="adj" fmla="val 4500"/>
            </a:avLst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txBody>
          <a:bodyPr wrap="square" lIns="146304" tIns="100584" rIns="146304" bIns="100584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991B1B"/>
                </a:solidFill>
              </a:rPr>
              <a:t>2️⃣ 确立“不盲信”原则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450A0A"/>
                </a:solidFill>
              </a:rPr>
              <a:t>核心思维:拒绝直接接受任何单一模型的推论或结论。规避风险:单一模型存在特定语料偏见、逻辑定式或潜在的轻微幻觉。</a:t>
            </a:r>
            <a:endParaRPr lang="en-US" sz="1050" dirty="0"/>
          </a:p>
        </p:txBody>
      </p:sp>
      <p:sp>
        <p:nvSpPr>
          <p:cNvPr id="7" name="Row2Label"/>
          <p:cNvSpPr/>
          <p:nvPr/>
        </p:nvSpPr>
        <p:spPr>
          <a:xfrm>
            <a:off x="457200" y="245668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240"/>
                </a:solidFill>
              </a:rPr>
              <a:t>第三步:多模型并行测试(多脑风暴)— 同一Prompt,同时发给:</a:t>
            </a:r>
            <a:endParaRPr lang="en-US" sz="1150" dirty="0"/>
          </a:p>
        </p:txBody>
      </p:sp>
      <p:sp>
        <p:nvSpPr>
          <p:cNvPr id="12" name="Row3Label"/>
          <p:cNvSpPr/>
          <p:nvPr/>
        </p:nvSpPr>
        <p:spPr>
          <a:xfrm>
            <a:off x="457200" y="348996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240"/>
                </a:solidFill>
              </a:rPr>
              <a:t>第四步 – 第六步:汇总、对齐与提炼</a:t>
            </a:r>
            <a:endParaRPr lang="en-US" sz="1150" dirty="0"/>
          </a:p>
        </p:txBody>
      </p:sp>
      <p:sp>
        <p:nvSpPr>
          <p:cNvPr id="13" name="Step4Card"/>
          <p:cNvSpPr/>
          <p:nvPr/>
        </p:nvSpPr>
        <p:spPr>
          <a:xfrm>
            <a:off x="457200" y="3745992"/>
            <a:ext cx="2621280" cy="83210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 wrap="square" lIns="118872" tIns="91440" rIns="118872" bIns="9144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2240"/>
                </a:solidFill>
              </a:rPr>
              <a:t>4️⃣ 汇总模型答复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导出/另存为Word·PDF,或直接复制文本,用NotebookLM的“Copy Text”创建新来源。</a:t>
            </a:r>
            <a:endParaRPr lang="en-US" sz="1000" dirty="0"/>
          </a:p>
        </p:txBody>
      </p:sp>
      <p:sp>
        <p:nvSpPr>
          <p:cNvPr id="14" name="Step5Card"/>
          <p:cNvSpPr/>
          <p:nvPr/>
        </p:nvSpPr>
        <p:spPr>
          <a:xfrm>
            <a:off x="3261360" y="3745992"/>
            <a:ext cx="2621280" cy="83210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 wrap="square" lIns="118872" tIns="91440" rIns="118872" bIns="9144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2240"/>
                </a:solidFill>
              </a:rPr>
              <a:t>5️⃣ 启动深度对齐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一键摘要梳理各模型脉络;多源问答“各模型切入点有何不同?”</a:t>
            </a:r>
            <a:endParaRPr lang="en-US" sz="1000" dirty="0"/>
          </a:p>
        </p:txBody>
      </p:sp>
      <p:sp>
        <p:nvSpPr>
          <p:cNvPr id="15" name="Step6Card"/>
          <p:cNvSpPr/>
          <p:nvPr/>
        </p:nvSpPr>
        <p:spPr>
          <a:xfrm>
            <a:off x="6065520" y="3745992"/>
            <a:ext cx="2621280" cy="832104"/>
          </a:xfrm>
          <a:prstGeom prst="roundRect">
            <a:avLst>
              <a:gd name="adj" fmla="val 4500"/>
            </a:avLst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 wrap="square" lIns="118872" tIns="91440" rIns="118872" bIns="9144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4532D"/>
                </a:solidFill>
              </a:rPr>
              <a:t>6️⃣ 提炼共识与分歧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</a:rPr>
              <a:t>凝练共识为稳固基石,剖析分歧定位灰色地带,在Studio面板一键生成最终报告。</a:t>
            </a:r>
            <a:endParaRPr lang="en-US" sz="1000" dirty="0"/>
          </a:p>
        </p:txBody>
      </p:sp>
      <p:sp>
        <p:nvSpPr>
          <p:cNvPr id="16" name="BestPracticeBar"/>
          <p:cNvSpPr/>
          <p:nvPr/>
        </p:nvSpPr>
        <p:spPr>
          <a:xfrm>
            <a:off x="457200" y="4632960"/>
            <a:ext cx="8229600" cy="384048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>
            <a:noFill/>
          </a:ln>
        </p:spPr>
        <p:txBody>
          <a:bodyPr wrap="square" lIns="182880" tIns="36576" rIns="182880" bIns="36576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最佳实践: </a:t>
            </a:r>
            <a:r>
              <a:rPr lang="en-US" sz="1150" dirty="0">
                <a:solidFill>
                  <a:srgbClr val="CADCFC"/>
                </a:solidFill>
              </a:rPr>
              <a:t>多模型 + 多来源文档 + 人工验证 = 更高质量研究成果</a:t>
            </a:r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370657D4-AFA6-83AE-AA93-5D430B331639}"/>
              </a:ext>
            </a:extLst>
          </p:cNvPr>
          <p:cNvSpPr/>
          <p:nvPr/>
        </p:nvSpPr>
        <p:spPr>
          <a:xfrm>
            <a:off x="457200" y="18288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E293B"/>
                </a:solidFill>
              </a:rPr>
              <a:t>Google NotebookLM 实战指南:多模型交叉验证工作流</a:t>
            </a:r>
            <a:endParaRPr lang="en-US" sz="2200" dirty="0"/>
          </a:p>
        </p:txBody>
      </p:sp>
      <p:sp>
        <p:nvSpPr>
          <p:cNvPr id="18" name="ModelBadge1"/>
          <p:cNvSpPr/>
          <p:nvPr/>
        </p:nvSpPr>
        <p:spPr>
          <a:xfrm>
            <a:off x="457200" y="2712720"/>
            <a:ext cx="1530096" cy="5394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 wrap="square" lIns="91440" tIns="54864" rIns="91440" bIns="54864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ChatGPT</a:t>
            </a:r>
          </a:p>
          <a:p>
            <a:pPr algn="ctr">
              <a:buNone/>
            </a:pPr>
            <a:r>
              <a:rPr lang="en-US" sz="950" dirty="0">
                <a:solidFill>
                  <a:srgbClr val="64748B"/>
                </a:solidFill>
              </a:rPr>
              <a:t>长文本逻辑推理与框架构建</a:t>
            </a:r>
            <a:endParaRPr lang="en-US" sz="950" dirty="0"/>
          </a:p>
        </p:txBody>
      </p:sp>
      <p:sp>
        <p:nvSpPr>
          <p:cNvPr id="19" name="ModelBadge2"/>
          <p:cNvSpPr/>
          <p:nvPr/>
        </p:nvSpPr>
        <p:spPr>
          <a:xfrm>
            <a:off x="2158746" y="2708148"/>
            <a:ext cx="1530096" cy="5394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 wrap="square" lIns="91440" tIns="54864" rIns="91440" bIns="54864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Gemini</a:t>
            </a:r>
          </a:p>
          <a:p>
            <a:pPr algn="ctr">
              <a:buNone/>
            </a:pPr>
            <a:r>
              <a:rPr lang="en-US" sz="950" dirty="0">
                <a:solidFill>
                  <a:srgbClr val="64748B"/>
                </a:solidFill>
              </a:rPr>
              <a:t>谷歌生态优势,注重多模态关联</a:t>
            </a:r>
            <a:endParaRPr lang="en-US" sz="950" dirty="0"/>
          </a:p>
        </p:txBody>
      </p:sp>
      <p:sp>
        <p:nvSpPr>
          <p:cNvPr id="20" name="ModelBadge3"/>
          <p:cNvSpPr/>
          <p:nvPr/>
        </p:nvSpPr>
        <p:spPr>
          <a:xfrm>
            <a:off x="3880104" y="2717292"/>
            <a:ext cx="1530096" cy="5394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 wrap="square" lIns="91440" tIns="54864" rIns="91440" bIns="54864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Claude</a:t>
            </a:r>
          </a:p>
          <a:p>
            <a:pPr algn="ctr">
              <a:buNone/>
            </a:pPr>
            <a:r>
              <a:rPr lang="en-US" sz="950" dirty="0">
                <a:solidFill>
                  <a:srgbClr val="64748B"/>
                </a:solidFill>
              </a:rPr>
              <a:t>细腻文本语感,深度学术与行业分析</a:t>
            </a:r>
            <a:endParaRPr lang="en-US" sz="950" dirty="0"/>
          </a:p>
        </p:txBody>
      </p:sp>
      <p:sp>
        <p:nvSpPr>
          <p:cNvPr id="21" name="ModelBadge4"/>
          <p:cNvSpPr/>
          <p:nvPr/>
        </p:nvSpPr>
        <p:spPr>
          <a:xfrm>
            <a:off x="5513832" y="2685288"/>
            <a:ext cx="1530096" cy="5394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 wrap="square" lIns="91440" tIns="54864" rIns="91440" bIns="54864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DeepSeek</a:t>
            </a:r>
          </a:p>
          <a:p>
            <a:pPr algn="ctr">
              <a:buNone/>
            </a:pPr>
            <a:r>
              <a:rPr lang="en-US" sz="950" dirty="0">
                <a:solidFill>
                  <a:srgbClr val="64748B"/>
                </a:solidFill>
              </a:rPr>
              <a:t>超高性价比的深度思考与高难度推理</a:t>
            </a:r>
            <a:endParaRPr lang="en-US" sz="950" dirty="0"/>
          </a:p>
        </p:txBody>
      </p:sp>
      <p:sp>
        <p:nvSpPr>
          <p:cNvPr id="22" name="ModelBadge4">
            <a:extLst>
              <a:ext uri="{FF2B5EF4-FFF2-40B4-BE49-F238E27FC236}">
                <a16:creationId xmlns:a16="http://schemas.microsoft.com/office/drawing/2014/main" id="{80B0D8AB-4967-C453-4C0A-6A9FDC244BEC}"/>
              </a:ext>
            </a:extLst>
          </p:cNvPr>
          <p:cNvSpPr/>
          <p:nvPr/>
        </p:nvSpPr>
        <p:spPr>
          <a:xfrm>
            <a:off x="7147560" y="2683764"/>
            <a:ext cx="1418082" cy="5394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 wrap="square" lIns="91440" tIns="54864" rIns="91440" bIns="54864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Qwen</a:t>
            </a:r>
          </a:p>
          <a:p>
            <a:pPr algn="ctr">
              <a:buNone/>
            </a:pPr>
            <a:r>
              <a:rPr lang="zh-CN" altLang="en-US" sz="950" dirty="0">
                <a:solidFill>
                  <a:srgbClr val="64748B"/>
                </a:solidFill>
              </a:rPr>
              <a:t>卓越中文语境理解，全面开源与多模态生态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1E293B"/>
                </a:solidFill>
              </a:rPr>
              <a:t>AI驱动的战略评估:100问框架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50" i="1" dirty="0">
                <a:solidFill>
                  <a:srgbClr val="64748B"/>
                </a:solidFill>
              </a:rPr>
              <a:t>适用于任何业务单元的结构化诊断工具——输入给AI,用于对照市场现实进行全面的差距分析。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427939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38912" y="1133856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1133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05840" y="106070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1E293B"/>
                </a:solidFill>
              </a:rPr>
              <a:t>客户需求与痛点  Q1–Q10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344168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50" dirty="0">
                <a:solidFill>
                  <a:srgbClr val="64748B"/>
                </a:solidFill>
              </a:rPr>
              <a:t>存在哪些未被满足的需求?哪些细分群体服务不足?最大的满意度差距在哪里?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024128"/>
            <a:ext cx="427939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28032" y="1133856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28032" y="1133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II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394960" y="106070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1E293B"/>
                </a:solidFill>
              </a:rPr>
              <a:t>竞争威胁评估  Q11–Q20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1344168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50" dirty="0">
                <a:solidFill>
                  <a:srgbClr val="64748B"/>
                </a:solidFill>
              </a:rPr>
              <a:t>哪些细分市场最容易受到颠覆?竞争对手在哪里增长最快?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1819656"/>
            <a:ext cx="427939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8912" y="1929384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" y="1929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III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05840" y="185623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1E293B"/>
                </a:solidFill>
              </a:rPr>
              <a:t>品牌与产品定位  Q21–Q30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139696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50" dirty="0">
                <a:solidFill>
                  <a:srgbClr val="64748B"/>
                </a:solidFill>
              </a:rPr>
              <a:t>客户认同的是品牌还是产品本身?哪些联想会先于评估出现?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1819656"/>
            <a:ext cx="427939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28032" y="1929384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28032" y="1929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IV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185623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1E293B"/>
                </a:solidFill>
              </a:rPr>
              <a:t>客户互动效能  Q31–Q40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139696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50" dirty="0">
                <a:solidFill>
                  <a:srgbClr val="64748B"/>
                </a:solidFill>
              </a:rPr>
              <a:t>满意度与问题解决率如何?哪些渠道带来转化?资源浪费在哪里?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615184"/>
            <a:ext cx="427939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38912" y="2724912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8912" y="2724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V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05840" y="26517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1E293B"/>
                </a:solidFill>
              </a:rPr>
              <a:t>资源投资回报与活动效率  Q41–Q50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2935224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50" dirty="0">
                <a:solidFill>
                  <a:srgbClr val="64748B"/>
                </a:solidFill>
              </a:rPr>
              <a:t>哪些活动成本最高、回报最低?哪些只是习惯性支出?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2615184"/>
            <a:ext cx="427939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28032" y="2724912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28032" y="2724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VI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394960" y="26517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1E293B"/>
                </a:solidFill>
              </a:rPr>
              <a:t>数字化与AI准备度  Q51–Q60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2935224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50" dirty="0">
                <a:solidFill>
                  <a:srgbClr val="64748B"/>
                </a:solidFill>
              </a:rPr>
              <a:t>团队是被AI增强,还是依赖AI?最大的自动化机会在哪里?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3410712"/>
            <a:ext cx="427939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38912" y="352044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38912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VII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05840" y="344728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1E293B"/>
                </a:solidFill>
              </a:rPr>
              <a:t>内容与信息共鸣  Q61–Q70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05840" y="3730752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50" dirty="0">
                <a:solidFill>
                  <a:srgbClr val="64748B"/>
                </a:solidFill>
              </a:rPr>
              <a:t>是客户在主动互动,还是只有内部团队在互相转发?什么会触发负面反应?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410712"/>
            <a:ext cx="427939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28032" y="352044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28032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VIII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394960" y="344728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1E293B"/>
                </a:solidFill>
              </a:rPr>
              <a:t>组织智能  Q71–Q80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94960" y="3730752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50" dirty="0">
                <a:solidFill>
                  <a:srgbClr val="64748B"/>
                </a:solidFill>
              </a:rPr>
              <a:t>是否有统一的知识库?带分析功能的CRM?风险看板与预警系统?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5760" y="4206240"/>
            <a:ext cx="427939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38912" y="4315968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38912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IX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05840" y="424281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1E293B"/>
                </a:solidFill>
              </a:rPr>
              <a:t>一线能力与人才接续  Q81–Q90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005840" y="4526280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50" dirty="0">
                <a:solidFill>
                  <a:srgbClr val="64748B"/>
                </a:solidFill>
              </a:rPr>
              <a:t>哪里存在关键人物依赖?核心技能缺口与接续风险在哪里?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54880" y="4206240"/>
            <a:ext cx="427939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828032" y="4315968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28032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X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394960" y="424281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1E293B"/>
                </a:solidFill>
              </a:rPr>
              <a:t>红队与对抗性分析  Q91–Q100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394960" y="4526280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50" dirty="0">
                <a:solidFill>
                  <a:srgbClr val="64748B"/>
                </a:solidFill>
              </a:rPr>
              <a:t>如果竞争对手发起攻击,最可能的角度是什么?我们最大的三个弱点是什么?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65760" y="4974336"/>
            <a:ext cx="8412480" cy="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050" i="1" dirty="0">
                <a:solidFill>
                  <a:srgbClr val="3B82F6"/>
                </a:solidFill>
              </a:rPr>
              <a:t>💡 把这100个问题连同公司的市场数据一起喂给AI,要求其输出“客户期望与现实差距分析”。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1828800"/>
            <a:ext cx="4114800" cy="4114800"/>
          </a:xfrm>
          <a:prstGeom prst="ellipse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000" b="1" kern="0" spc="300" dirty="0">
                <a:solidFill>
                  <a:srgbClr val="3B82F6"/>
                </a:solidFill>
              </a:rPr>
              <a:t>AI红队分析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2800" b="1" dirty="0">
                <a:solidFill>
                  <a:srgbClr val="FFFFFF"/>
                </a:solidFill>
              </a:rPr>
              <a:t>让AI扮演你竞争对手的CEO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300" i="1" dirty="0">
                <a:solidFill>
                  <a:srgbClr val="94A3B8"/>
                </a:solidFill>
              </a:rPr>
              <a:t>在竞争对手之前,强迫AI找出你最容易被利用的弱点。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279392" cy="777240"/>
          </a:xfrm>
          <a:prstGeom prst="roundRect">
            <a:avLst>
              <a:gd name="adj" fmla="val 9412"/>
            </a:avLst>
          </a:prstGeom>
          <a:solidFill>
            <a:srgbClr val="1A2E4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73352"/>
            <a:ext cx="4096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94A3B8"/>
                </a:solidFill>
              </a:rPr>
              <a:t>🔴 如果我们的头号竞争对手下季度发起一场攻势性的campaign,他们最具破坏力的角度会是什么?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600200"/>
            <a:ext cx="4279392" cy="777240"/>
          </a:xfrm>
          <a:prstGeom prst="roundRect">
            <a:avLst>
              <a:gd name="adj" fmla="val 9412"/>
            </a:avLst>
          </a:prstGeom>
          <a:solidFill>
            <a:srgbClr val="1A2E4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1673352"/>
            <a:ext cx="4096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94A3B8"/>
                </a:solidFill>
              </a:rPr>
              <a:t>🔴 资金充足的对手现在就能利用的三个最该被防守的弱点是什么?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496312"/>
            <a:ext cx="4279392" cy="777240"/>
          </a:xfrm>
          <a:prstGeom prst="roundRect">
            <a:avLst>
              <a:gd name="adj" fmla="val 9412"/>
            </a:avLst>
          </a:prstGeom>
          <a:solidFill>
            <a:srgbClr val="1A2E4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569464"/>
            <a:ext cx="4096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94A3B8"/>
                </a:solidFill>
              </a:rPr>
              <a:t>⚠️ 当下哪个市场细分群体最容易被竞争对手的报价拿下?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496312"/>
            <a:ext cx="4279392" cy="777240"/>
          </a:xfrm>
          <a:prstGeom prst="roundRect">
            <a:avLst>
              <a:gd name="adj" fmla="val 9412"/>
            </a:avLst>
          </a:prstGeom>
          <a:solidFill>
            <a:srgbClr val="1A2E4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2569464"/>
            <a:ext cx="4096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94A3B8"/>
                </a:solidFill>
              </a:rPr>
              <a:t>⚠️ 哪些话题或立场让我们最难公开自辩——为什么?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392424"/>
            <a:ext cx="4279392" cy="777240"/>
          </a:xfrm>
          <a:prstGeom prst="roundRect">
            <a:avLst>
              <a:gd name="adj" fmla="val 9412"/>
            </a:avLst>
          </a:prstGeom>
          <a:solidFill>
            <a:srgbClr val="1A2E4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465576"/>
            <a:ext cx="4096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94A3B8"/>
                </a:solidFill>
              </a:rPr>
              <a:t>🎯 新进入市场的对手会用什么不同打法来抢走我们最大的客户群?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392424"/>
            <a:ext cx="4279392" cy="777240"/>
          </a:xfrm>
          <a:prstGeom prst="roundRect">
            <a:avLst>
              <a:gd name="adj" fmla="val 9412"/>
            </a:avLst>
          </a:prstGeom>
          <a:solidFill>
            <a:srgbClr val="1A2E4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3465576"/>
            <a:ext cx="4096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94A3B8"/>
                </a:solidFill>
              </a:rPr>
              <a:t>🎯 我们正在做的哪些战略假设最有可能是错的?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434840"/>
            <a:ext cx="8412480" cy="548640"/>
          </a:xfrm>
          <a:prstGeom prst="roundRect">
            <a:avLst>
              <a:gd name="adj" fmla="val 1166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4434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🔴 </a:t>
            </a:r>
            <a:r>
              <a:rPr lang="zh-CN" altLang="en-US" sz="1100" dirty="0" err="1">
                <a:solidFill>
                  <a:srgbClr val="FFFFFF"/>
                </a:solidFill>
              </a:rPr>
              <a:t>把这些问题连同公司的公开数据一起喂给AI</a:t>
            </a:r>
            <a:r>
              <a:rPr lang="en-US" altLang="zh-CN" sz="1100" dirty="0">
                <a:solidFill>
                  <a:srgbClr val="FFFFFF"/>
                </a:solidFill>
              </a:rPr>
              <a:t>——</a:t>
            </a:r>
            <a:r>
              <a:rPr lang="zh-CN" altLang="en-US" sz="1100" dirty="0" err="1">
                <a:solidFill>
                  <a:srgbClr val="FFFFFF"/>
                </a:solidFill>
              </a:rPr>
              <a:t>指示它扮演敌对竞争对手的战略总监,找出你最脆弱的三个攻击面</a:t>
            </a:r>
            <a:r>
              <a:rPr lang="en-US" sz="1100" dirty="0">
                <a:solidFill>
                  <a:srgbClr val="FFFFFF"/>
                </a:solidFill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1E293B"/>
                </a:solidFill>
              </a:rPr>
              <a:t>AI时代的资源重新配置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50" i="1" dirty="0">
                <a:solidFill>
                  <a:srgbClr val="64748B"/>
                </a:solidFill>
              </a:rPr>
              <a:t>多数团队把80%的精力花在AI能胜任的工作上——只剩20%留给需要高判断力、高影响力的工作。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5074920" cy="3401568"/>
          </a:xfrm>
          <a:prstGeom prst="roundRect">
            <a:avLst>
              <a:gd name="adj" fmla="val 2688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126187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EF4444"/>
                </a:solidFill>
              </a:rPr>
              <a:t>团队精力的80%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0352" y="166420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i="1" dirty="0">
                <a:solidFill>
                  <a:srgbClr val="991B1B"/>
                </a:solidFill>
              </a:rPr>
              <a:t>目前大部分精力流向了这里: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zh-CN" altLang="en-US" sz="1200" dirty="0">
                <a:solidFill>
                  <a:srgbClr val="991B1B"/>
                </a:solidFill>
              </a:rPr>
              <a:t>人工编制报告与数据格式化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zh-CN" altLang="en-US" sz="1200" dirty="0">
                <a:solidFill>
                  <a:srgbClr val="991B1B"/>
                </a:solidFill>
              </a:rPr>
              <a:t>重复性的竞争监测与数据汇总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zh-CN" altLang="en-US" sz="1200" dirty="0">
                <a:solidFill>
                  <a:srgbClr val="991B1B"/>
                </a:solidFill>
              </a:rPr>
              <a:t>起草日常沟通文案、提案与模板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zh-CN" altLang="en-US" sz="1200" dirty="0">
                <a:solidFill>
                  <a:srgbClr val="991B1B"/>
                </a:solidFill>
              </a:rPr>
              <a:t>大语言模型能瞬间完成的基础市场调研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zh-CN" altLang="en-US" sz="1200" dirty="0">
                <a:solidFill>
                  <a:srgbClr val="991B1B"/>
                </a:solidFill>
              </a:rPr>
              <a:t>会议总结与状态更新的生成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zh-CN" altLang="en-US" sz="1200" dirty="0">
                <a:solidFill>
                  <a:srgbClr val="991B1B"/>
                </a:solidFill>
              </a:rPr>
              <a:t>对已有信息进行排版与打包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1115568"/>
            <a:ext cx="3200400" cy="3401568"/>
          </a:xfrm>
          <a:prstGeom prst="roundRect">
            <a:avLst>
              <a:gd name="adj" fmla="val 2857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15000" y="1261872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166534"/>
                </a:solidFill>
              </a:rPr>
              <a:t>精力的20%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1664208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i="1" dirty="0">
                <a:solidFill>
                  <a:srgbClr val="166534"/>
                </a:solidFill>
              </a:rPr>
              <a:t>真正建立竞争</a:t>
            </a:r>
            <a:endParaRPr lang="en-US" sz="1100" dirty="0"/>
          </a:p>
          <a:p>
            <a:pPr marL="0" indent="0">
              <a:buNone/>
            </a:pPr>
            <a:r>
              <a:rPr lang="zh-CN" altLang="en-US" sz="1100" i="1" dirty="0">
                <a:solidFill>
                  <a:srgbClr val="166534"/>
                </a:solidFill>
              </a:rPr>
              <a:t>优势的地方: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0" y="2176272"/>
            <a:ext cx="2834640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zh-CN" altLang="en-US" sz="1200" dirty="0">
                <a:solidFill>
                  <a:srgbClr val="166534"/>
                </a:solidFill>
              </a:rPr>
              <a:t>战略假设的生成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zh-CN" altLang="en-US" sz="1200" dirty="0">
                <a:solidFill>
                  <a:srgbClr val="166534"/>
                </a:solidFill>
              </a:rPr>
              <a:t>客户洞察的整合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zh-CN" altLang="en-US" sz="1200" dirty="0">
                <a:solidFill>
                  <a:srgbClr val="166534"/>
                </a:solidFill>
              </a:rPr>
              <a:t>高判断力的决策制定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zh-CN" altLang="en-US" sz="1200" dirty="0">
                <a:solidFill>
                  <a:srgbClr val="166534"/>
                </a:solidFill>
              </a:rPr>
              <a:t>利益相关方关系建设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zh-CN" altLang="en-US" sz="1200" dirty="0">
                <a:solidFill>
                  <a:srgbClr val="166534"/>
                </a:solidFill>
              </a:rPr>
              <a:t>AI系统设计与治理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4645152"/>
            <a:ext cx="8412480" cy="411480"/>
          </a:xfrm>
          <a:prstGeom prst="roundRect">
            <a:avLst>
              <a:gd name="adj" fmla="val 1555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4645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FFFFFF"/>
                </a:solidFill>
              </a:rPr>
              <a:t>问:当AI吸收了那80%之后,哪些战略投资能再带来1% · 3% · 5% · 10%的额外竞争优势?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1E293B"/>
                </a:solidFill>
              </a:rPr>
              <a:t>来自AI生产环境使用的4个关键观察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50" i="1" dirty="0">
                <a:solidFill>
                  <a:srgbClr val="64748B"/>
                </a:solidFill>
              </a:rPr>
              <a:t>在长期、多模型AI辅助的运营与开发工作中得来的宝贵经验。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427939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5488" y="1225296"/>
            <a:ext cx="502920" cy="5029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2252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" y="1225296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1E293B"/>
                </a:solidFill>
              </a:rPr>
              <a:t>需求会随时间漂移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09928"/>
            <a:ext cx="40050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64748B"/>
                </a:solidFill>
              </a:rPr>
              <a:t>随着AI交互的累积,上下文会在冗长的提示线程中变得碎片化。模型会逐渐偏离最初的战略目标,引入倒退,并打破与最初需求的一致性。务必时常回到第一原则,并对照最初的问题陈述进行校验。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15568"/>
            <a:ext cx="427939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64608" y="1225296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64608" y="12252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04688" y="1225296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1E293B"/>
                </a:solidFill>
              </a:rPr>
              <a:t>AI模型天生并非为质量而优化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709928"/>
            <a:ext cx="40050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64748B"/>
                </a:solidFill>
              </a:rPr>
              <a:t>这些模型并非为精确验证而训练或调优。它们会自信地产出有缺陷的分析或错误的结果,并声称已经过充分审查。务必在每一个高风险决策节点上建立明确的人工验证环节。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27939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" y="3127248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3127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5568" y="3127248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1E293B"/>
                </a:solidFill>
              </a:rPr>
              <a:t>有广度没有深度——浅层输出陷阱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611880"/>
            <a:ext cx="40050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64748B"/>
                </a:solidFill>
              </a:rPr>
              <a:t>AI的输出往往覆盖面令人印象深刻,却遗漏了决定现实结果的具体边界场景与细微差别。一个漂亮的战略框架,无法替代严谨、深入的领域分析。深度需要独立验证。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427939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64608" y="3127248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64608" y="3127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04688" y="3127248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1E293B"/>
                </a:solidFill>
              </a:rPr>
              <a:t>完全放手的陷阱——有速度没有准确性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611880"/>
            <a:ext cx="40050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64748B"/>
                </a:solidFill>
              </a:rPr>
              <a:t>把战略与执行都完全交给AI的团队,或许能很快产出结果——但无法保证其正确性或战略上的合理性。速度与准确性不是一回事。外包战略,和委派一项任务,完全不是同一件事。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ield Insight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2286000"/>
            <a:ext cx="5029200" cy="50292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000" b="1" kern="0" spc="300" dirty="0">
                <a:solidFill>
                  <a:srgbClr val="3B82F6"/>
                </a:solidFill>
              </a:rPr>
              <a:t>实战心得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3000" b="1" dirty="0">
                <a:solidFill>
                  <a:srgbClr val="FFFFFF"/>
                </a:solidFill>
              </a:rPr>
              <a:t>护栏需要,但留白同样重要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3977640" cy="2743200"/>
          </a:xfrm>
          <a:prstGeom prst="roundRect">
            <a:avLst>
              <a:gd name="adj" fmla="val 3333"/>
            </a:avLst>
          </a:prstGeom>
          <a:solidFill>
            <a:srgbClr val="1A2E4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5270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0B981"/>
                </a:solidFill>
              </a:rPr>
              <a:t>护栏不可或缺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0352" y="19659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50" dirty="0">
                <a:solidFill>
                  <a:srgbClr val="94A3B8"/>
                </a:solidFill>
              </a:rPr>
              <a:t>自2022年底起持续使用ChatGPT等AI模型以来,我体会到:组织需要围绕AI系统构建强健的护栏,以及确定性、规则化的机制,来缓解幻觉问题,以及概率统计模型固有的风险。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30352" y="31272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10B981"/>
                </a:solidFill>
              </a:rPr>
              <a:t>✓ 用规则机制管控幻觉与概率性风险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1389888"/>
            <a:ext cx="3977640" cy="2743200"/>
          </a:xfrm>
          <a:prstGeom prst="roundRect">
            <a:avLst>
              <a:gd name="adj" fmla="val 3333"/>
            </a:avLst>
          </a:prstGeom>
          <a:solidFill>
            <a:srgbClr val="1A2E4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65192" y="15270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F59E0B"/>
                </a:solidFill>
              </a:rPr>
              <a:t>但别管得太死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65192" y="19659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50" dirty="0">
                <a:solidFill>
                  <a:srgbClr val="94A3B8"/>
                </a:solidFill>
              </a:rPr>
              <a:t>但同样重要的是,不能把AI管得太死。应时常尝试开放式、非结构化的提示词——这类探索常常让人类与AI都措手不及,却也最容易催生意想不到的洞察、新颖关联与创造性成果。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65192" y="31272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rgbClr val="F59E0B"/>
                </a:solidFill>
                <a:latin typeface="+mj-lt"/>
              </a:rPr>
              <a:t>★ </a:t>
            </a:r>
            <a:r>
              <a:rPr lang="zh-CN" altLang="en-US" sz="1150" b="1" dirty="0" err="1">
                <a:solidFill>
                  <a:srgbClr val="F59E0B"/>
                </a:solidFill>
                <a:latin typeface="+mj-lt"/>
              </a:rPr>
              <a:t>留白</a:t>
            </a:r>
            <a:r>
              <a:rPr lang="zh-CN" altLang="en-US" sz="1150" b="1" dirty="0">
                <a:solidFill>
                  <a:srgbClr val="92D050"/>
                </a:solidFill>
              </a:rPr>
              <a:t>（具有模糊性的开放式语境）</a:t>
            </a:r>
            <a:r>
              <a:rPr lang="en-US" sz="1150" b="1" dirty="0">
                <a:solidFill>
                  <a:srgbClr val="F59E0B"/>
                </a:solidFill>
                <a:latin typeface="+mj-lt"/>
              </a:rPr>
              <a:t>,</a:t>
            </a:r>
            <a:r>
              <a:rPr lang="zh-CN" altLang="en-US" sz="1150" b="1" dirty="0" err="1">
                <a:solidFill>
                  <a:srgbClr val="F59E0B"/>
                </a:solidFill>
                <a:latin typeface="+mj-lt"/>
              </a:rPr>
              <a:t>往往催生最意外的洞察</a:t>
            </a:r>
            <a:endParaRPr lang="en-US" sz="1150" dirty="0"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43159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i="1" dirty="0">
                <a:solidFill>
                  <a:srgbClr val="94A3B8"/>
                </a:solidFill>
              </a:rPr>
              <a:t>AI真正的价值,不仅在于它能在明确边界内可靠运作,更在于它能揭示出用户与系统事先都未曾预料到的可能性。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457200"/>
            <a:ext cx="4572000" cy="45720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000" b="1" kern="0" spc="300" dirty="0">
                <a:solidFill>
                  <a:srgbClr val="3B82F6"/>
                </a:solidFill>
              </a:rPr>
              <a:t>减法原则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3200" b="1" dirty="0">
                <a:solidFill>
                  <a:srgbClr val="FFFFFF"/>
                </a:solidFill>
              </a:rPr>
              <a:t>当AI在做加法时,人类必须做减法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50" i="1" dirty="0">
                <a:solidFill>
                  <a:srgbClr val="94A3B8"/>
                </a:solidFill>
              </a:rPr>
              <a:t>在错误的轨道上投入更多算力,只是朝错误方向的暴力蛮干。AI需要的是重置——而不是更多token。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956816"/>
            <a:ext cx="8412480" cy="865130"/>
          </a:xfrm>
          <a:prstGeom prst="roundRect">
            <a:avLst>
              <a:gd name="adj" fmla="val 10000"/>
            </a:avLst>
          </a:prstGeom>
          <a:solidFill>
            <a:srgbClr val="1A2E4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200076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10B981"/>
                </a:solidFill>
              </a:rPr>
              <a:t>重置到干净状态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3116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 dirty="0">
                <a:solidFill>
                  <a:srgbClr val="94A3B8"/>
                </a:solidFill>
              </a:rPr>
              <a:t>当一次AI会话脱离轨道时,恢复到上一个稳定基线——一份干净的需求说明、一个已验证的输出,或一个已知有效的提示词。从坚实的基础重新开始,而不是在已经出问题的基础上继续累积错误决策。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35040" y="2172586"/>
            <a:ext cx="2560320" cy="4572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80760" y="21660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50" i="1" dirty="0">
                <a:solidFill>
                  <a:srgbClr val="10B981"/>
                </a:solidFill>
              </a:rPr>
              <a:t>恢复上一个稳定版本  ·  从已知有效的状态重新开始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964754"/>
            <a:ext cx="8412480" cy="846896"/>
          </a:xfrm>
          <a:prstGeom prst="roundRect">
            <a:avLst>
              <a:gd name="adj" fmla="val 10000"/>
            </a:avLst>
          </a:prstGeom>
          <a:solidFill>
            <a:srgbClr val="1A2E45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300133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3B82F6"/>
                </a:solidFill>
              </a:rPr>
              <a:t>切换模型,获得全新视角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331222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 dirty="0">
                <a:solidFill>
                  <a:srgbClr val="94A3B8"/>
                </a:solidFill>
              </a:rPr>
              <a:t>换一个大语言模型,往往能突破瓶颈。把有问题的上下文粘贴到另一个模型中进行独立分析。这种“局外人视角”能可靠地发现卡住的模型在同一上下文窗口内看不到的问题。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3153417"/>
            <a:ext cx="2560320" cy="492833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80760" y="315341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B82F6"/>
                </a:solidFill>
              </a:rPr>
              <a:t>Gemini → Claude → C</a:t>
            </a:r>
            <a:r>
              <a:rPr lang="en-US" altLang="zh-CN" sz="950" i="1" dirty="0">
                <a:solidFill>
                  <a:srgbClr val="3B82F6"/>
                </a:solidFill>
              </a:rPr>
              <a:t>hatGPT</a:t>
            </a:r>
            <a:r>
              <a:rPr lang="zh-CN" altLang="en-US" sz="950" i="1" dirty="0">
                <a:solidFill>
                  <a:srgbClr val="3B82F6"/>
                </a:solidFill>
              </a:rPr>
              <a:t> → 重复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945585"/>
            <a:ext cx="8412480" cy="823749"/>
          </a:xfrm>
          <a:prstGeom prst="roundRect">
            <a:avLst>
              <a:gd name="adj" fmla="val 10000"/>
            </a:avLst>
          </a:prstGeom>
          <a:solidFill>
            <a:srgbClr val="1A2E45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" y="398216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22D3EE"/>
                </a:solidFill>
              </a:rPr>
              <a:t>把外部洞察带回来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" y="429305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 dirty="0">
                <a:solidFill>
                  <a:srgbClr val="94A3B8"/>
                </a:solidFill>
              </a:rPr>
              <a:t>把第三方模型给出的建议带回你的主工作流。这种“洞察注入”技巧能解除停滞会话的阻塞,同时不丢失已经积累的上下文与组织知识。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4134250"/>
            <a:ext cx="2560320" cy="4572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80760" y="41408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50" i="1" dirty="0">
                <a:solidFill>
                  <a:srgbClr val="22D3EE"/>
                </a:solidFill>
              </a:rPr>
              <a:t>复制洞察 → 注入主工作流 → 继续推进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1E293B"/>
                </a:solidFill>
              </a:rPr>
              <a:t>复利效应:构建长期的AI护城河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50" i="1" dirty="0">
                <a:solidFill>
                  <a:srgbClr val="64748B"/>
                </a:solidFill>
              </a:rPr>
              <a:t>AI带来的优势并非一成不变——它会复利累积。先行者建立的领先优势,后来者即便投入再多预算也难以追平。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3383280"/>
            <a:ext cx="1965960" cy="1517904"/>
          </a:xfrm>
          <a:prstGeom prst="roundRect">
            <a:avLst>
              <a:gd name="adj" fmla="val 4819"/>
            </a:avLst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34564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000" b="1" dirty="0">
                <a:solidFill>
                  <a:srgbClr val="FFFFFF"/>
                </a:solidFill>
              </a:rPr>
              <a:t>第1–3个月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712464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FFFFFF"/>
                </a:solidFill>
              </a:rPr>
              <a:t>AI采用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096512"/>
            <a:ext cx="1783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FFFFFF"/>
                </a:solidFill>
              </a:rPr>
              <a:t>部署AI工具,建立提示词库,搭建初始工作流。小而可见的收益开始显现。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2743200"/>
            <a:ext cx="1965960" cy="2157984"/>
          </a:xfrm>
          <a:prstGeom prst="roundRect">
            <a:avLst>
              <a:gd name="adj" fmla="val 3721"/>
            </a:avLst>
          </a:prstGeom>
          <a:solidFill>
            <a:srgbClr val="22D3EE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4600" y="281635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000" b="1" dirty="0">
                <a:solidFill>
                  <a:srgbClr val="FFFFFF"/>
                </a:solidFill>
              </a:rPr>
              <a:t>第4–6个月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14600" y="3072384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FFFFFF"/>
                </a:solidFill>
              </a:rPr>
              <a:t>AI融合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6040" y="3456432"/>
            <a:ext cx="178308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FFFFFF"/>
                </a:solidFill>
              </a:rPr>
              <a:t>AI被嵌入核心流程,组织知识被沉淀下来,团队能力开始复利累积。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103120"/>
            <a:ext cx="1965960" cy="2798064"/>
          </a:xfrm>
          <a:prstGeom prst="roundRect">
            <a:avLst>
              <a:gd name="adj" fmla="val 3721"/>
            </a:avLst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217627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000" b="1" dirty="0">
                <a:solidFill>
                  <a:srgbClr val="FFFFFF"/>
                </a:solidFill>
              </a:rPr>
              <a:t>第7–12个月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2432304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FFFFFF"/>
                </a:solidFill>
              </a:rPr>
              <a:t>AI系统化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816352"/>
            <a:ext cx="1783080" cy="1883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FFFFFF"/>
                </a:solidFill>
              </a:rPr>
              <a:t>各AI系统相互反哺。客户数据反哺产品,销售数据反哺内容战略。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1463040"/>
            <a:ext cx="1965960" cy="3438144"/>
          </a:xfrm>
          <a:prstGeom prst="roundRect">
            <a:avLst>
              <a:gd name="adj" fmla="val 3721"/>
            </a:avLst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12280" y="15361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000" b="1" dirty="0">
                <a:solidFill>
                  <a:srgbClr val="FFFFFF"/>
                </a:solidFill>
              </a:rPr>
              <a:t>第2年以上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12280" y="1792224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FFFFFF"/>
                </a:solidFill>
              </a:rPr>
              <a:t>AI复利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03720" y="2176272"/>
            <a:ext cx="1783080" cy="2523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FFFFFF"/>
                </a:solidFill>
              </a:rPr>
              <a:t>指数级的数据护城河,自我强化的反馈循环。竞争对手再投入也难以用合理成本追平差距。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700016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4754880"/>
            <a:ext cx="2724912" cy="256032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950" b="1" dirty="0">
                <a:solidFill>
                  <a:srgbClr val="FFFFFF"/>
                </a:solidFill>
              </a:rPr>
              <a:t>数据护城河  ·  历史数据 → 随时间产出更优的AI结果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46120" y="4754880"/>
            <a:ext cx="2724912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37560" y="47548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950" b="1" dirty="0">
                <a:solidFill>
                  <a:srgbClr val="FFFFFF"/>
                </a:solidFill>
              </a:rPr>
              <a:t>工作流护城河  ·  嵌入式AI提高了对手的转换成本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26480" y="4754880"/>
            <a:ext cx="2724912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17920" y="47548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950" b="1" dirty="0">
                <a:solidFill>
                  <a:srgbClr val="FFFFFF"/>
                </a:solidFill>
              </a:rPr>
              <a:t>速度护城河  ·  周期时间的领先复利累积为市场地位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1E293B"/>
                </a:solidFill>
              </a:rPr>
              <a:t>AI增强型团队的4个实战原则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50" i="1" dirty="0">
                <a:solidFill>
                  <a:srgbClr val="64748B"/>
                </a:solidFill>
              </a:rPr>
              <a:t>在生产环境中持续进行多模型AI辅助工作所得来的宝贵经验。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427939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1207008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5568" y="1225296"/>
            <a:ext cx="3401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1E293B"/>
                </a:solidFill>
              </a:rPr>
              <a:t>01  当AI失控时,重置到干净状态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09928"/>
            <a:ext cx="40050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64748B"/>
                </a:solidFill>
              </a:rPr>
              <a:t>当AI不断累积错误决策时,恢复到上一个稳定的需求说明,而不是继续延伸这条对话线程。在错误轨道上投入更多token,只是朝错误方向的暴力蛮干。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15568"/>
            <a:ext cx="427939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64608" y="1207008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🔀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504688" y="1225296"/>
            <a:ext cx="3401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1E293B"/>
                </a:solidFill>
              </a:rPr>
              <a:t>02  切换模型,获得全新视角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709928"/>
            <a:ext cx="40050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64748B"/>
                </a:solidFill>
              </a:rPr>
              <a:t>换一个大语言模型,往往能突破瓶颈。把有问题的上下文粘贴到另一个模型中进行独立分析,再把它的洞察带回你的主工作流。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35808"/>
            <a:ext cx="427939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" y="3127248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🏗️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15568" y="3145536"/>
            <a:ext cx="3401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1E293B"/>
                </a:solidFill>
              </a:rPr>
              <a:t>03  尽早把核心逻辑打牢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630168"/>
            <a:ext cx="40050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64748B"/>
                </a:solidFill>
              </a:rPr>
              <a:t>如果早期迭代中的基础战略框架本身就不牢固,即便恢复到稳定基线也会持续累积漂移。AI擅长做原型,但尚不是可靠的战略重构伙伴。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035808"/>
            <a:ext cx="427939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64608" y="3127248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504688" y="3145536"/>
            <a:ext cx="3401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1E293B"/>
                </a:solidFill>
              </a:rPr>
              <a:t>04  掌控战略——而不只是提示词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630168"/>
            <a:ext cx="40050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64748B"/>
                </a:solidFill>
              </a:rPr>
              <a:t>用AI来加速分析、框架生成与知识检索——但战略逻辑、关键假设与质量标准,始终要由你自己来掌控。没有正确性的速度,是一种负担。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CBF8A-E48E-3A00-3772-3C2E9565F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62387A-0EEE-EEAF-BD67-2D7992114D30}"/>
              </a:ext>
            </a:extLst>
          </p:cNvPr>
          <p:cNvSpPr txBox="1"/>
          <p:nvPr/>
        </p:nvSpPr>
        <p:spPr>
          <a:xfrm>
            <a:off x="467614" y="691389"/>
            <a:ext cx="473559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475569"/>
                </a:solidFill>
                <a:latin typeface="Aptos"/>
              </a:rPr>
              <a:t>用一个简单的领导力循环,把AI变成复利优势。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878DECD-4786-57EB-23DB-3713C631B567}"/>
              </a:ext>
            </a:extLst>
          </p:cNvPr>
          <p:cNvSpPr/>
          <p:nvPr/>
        </p:nvSpPr>
        <p:spPr>
          <a:xfrm>
            <a:off x="548640" y="1096010"/>
            <a:ext cx="308610" cy="30861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713ADA0-9E0F-A287-1630-B9A5478AFC71}"/>
              </a:ext>
            </a:extLst>
          </p:cNvPr>
          <p:cNvSpPr/>
          <p:nvPr/>
        </p:nvSpPr>
        <p:spPr>
          <a:xfrm>
            <a:off x="925830" y="1058800"/>
            <a:ext cx="7680960" cy="4251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76200" rIns="95250" bIns="76200" rtlCol="0" anchor="t"/>
          <a:lstStyle/>
          <a:p>
            <a:pPr>
              <a:defRPr sz="1100">
                <a:solidFill>
                  <a:srgbClr val="0F172A"/>
                </a:solidFill>
                <a:latin typeface="Aptos"/>
              </a:defRPr>
            </a:pPr>
            <a:r>
              <a:rPr sz="1200" dirty="0"/>
              <a:t>先明确市场、客户与问题本身。</a:t>
            </a:r>
            <a:r>
              <a:rPr lang="en-US" sz="1200" b="1" dirty="0">
                <a:solidFill>
                  <a:srgbClr val="0F2240"/>
                </a:solidFill>
                <a:latin typeface="Aptos Display"/>
              </a:rPr>
              <a:t> </a:t>
            </a:r>
            <a:r>
              <a:rPr lang="en-US" sz="1050" b="1" dirty="0">
                <a:solidFill>
                  <a:srgbClr val="0F2240"/>
                </a:solidFill>
                <a:latin typeface="Aptos Display"/>
              </a:rPr>
              <a:t>		</a:t>
            </a:r>
            <a:r>
              <a:rPr lang="zh-CN" altLang="en-US" sz="1200" b="1" dirty="0" err="1">
                <a:solidFill>
                  <a:srgbClr val="0F2240"/>
                </a:solidFill>
                <a:latin typeface="Aptos Display"/>
              </a:rPr>
              <a:t>厘清战略</a:t>
            </a:r>
            <a:endParaRPr sz="105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B3AB8A-0E8B-C490-56CD-7264E2CAAFC2}"/>
              </a:ext>
            </a:extLst>
          </p:cNvPr>
          <p:cNvSpPr/>
          <p:nvPr/>
        </p:nvSpPr>
        <p:spPr>
          <a:xfrm>
            <a:off x="548640" y="1753870"/>
            <a:ext cx="308610" cy="30861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F4295BA-D278-3FBC-1EA8-E8C5E150590F}"/>
              </a:ext>
            </a:extLst>
          </p:cNvPr>
          <p:cNvSpPr/>
          <p:nvPr/>
        </p:nvSpPr>
        <p:spPr>
          <a:xfrm>
            <a:off x="548640" y="2373629"/>
            <a:ext cx="308610" cy="30861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54D9660-7AF1-2440-F5EE-91F057139379}"/>
              </a:ext>
            </a:extLst>
          </p:cNvPr>
          <p:cNvSpPr/>
          <p:nvPr/>
        </p:nvSpPr>
        <p:spPr>
          <a:xfrm>
            <a:off x="548640" y="3006090"/>
            <a:ext cx="308610" cy="30861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5AF4335-AD32-90DB-62CF-FE236AAFA579}"/>
              </a:ext>
            </a:extLst>
          </p:cNvPr>
          <p:cNvSpPr/>
          <p:nvPr/>
        </p:nvSpPr>
        <p:spPr>
          <a:xfrm>
            <a:off x="548640" y="3651250"/>
            <a:ext cx="308610" cy="30861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C5E48C4-1BD2-FBFB-3E4A-6C2077EEBF8E}"/>
              </a:ext>
            </a:extLst>
          </p:cNvPr>
          <p:cNvSpPr/>
          <p:nvPr/>
        </p:nvSpPr>
        <p:spPr>
          <a:xfrm>
            <a:off x="582930" y="4217670"/>
            <a:ext cx="7955280" cy="514350"/>
          </a:xfrm>
          <a:prstGeom prst="roundRect">
            <a:avLst/>
          </a:prstGeom>
          <a:solidFill>
            <a:srgbClr val="0F2240"/>
          </a:solidFill>
          <a:ln w="1397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76200" rIns="95250" bIns="76200" rtlCol="0" anchor="ctr"/>
          <a:lstStyle/>
          <a:p>
            <a:pPr algn="ctr">
              <a:spcAft>
                <a:spcPts val="300"/>
              </a:spcAft>
            </a:pPr>
            <a:r>
              <a:rPr sz="1200" b="1" dirty="0">
                <a:solidFill>
                  <a:srgbClr val="FFFFFF"/>
                </a:solidFill>
                <a:latin typeface="Aptos Display"/>
              </a:rPr>
              <a:t>结语</a:t>
            </a:r>
          </a:p>
          <a:p>
            <a:pPr>
              <a:defRPr sz="1400">
                <a:solidFill>
                  <a:srgbClr val="E2E8F0"/>
                </a:solidFill>
                <a:latin typeface="Aptos"/>
              </a:defRPr>
            </a:pPr>
            <a:r>
              <a:rPr sz="1050" dirty="0"/>
              <a:t>AI不能替代战略。它是清晰度、纪律性与执行力的force multiplier(力量倍增器)。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CC711C-D0A7-12AD-86D1-0010324A861F}"/>
              </a:ext>
            </a:extLst>
          </p:cNvPr>
          <p:cNvSpPr txBox="1"/>
          <p:nvPr/>
        </p:nvSpPr>
        <p:spPr>
          <a:xfrm>
            <a:off x="7239108" y="4848606"/>
            <a:ext cx="1367682" cy="2135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88" dirty="0">
                <a:solidFill>
                  <a:srgbClr val="475569"/>
                </a:solidFill>
                <a:latin typeface="Aptos"/>
              </a:rPr>
              <a:t>企业竞争</a:t>
            </a:r>
            <a:r>
              <a:rPr lang="zh-CN" altLang="en-US" sz="788" dirty="0">
                <a:solidFill>
                  <a:srgbClr val="475569"/>
                </a:solidFill>
                <a:latin typeface="Aptos"/>
              </a:rPr>
              <a:t>力</a:t>
            </a:r>
            <a:endParaRPr sz="788" dirty="0">
              <a:solidFill>
                <a:srgbClr val="475569"/>
              </a:solidFill>
              <a:latin typeface="Aptos"/>
            </a:endParaRPr>
          </a:p>
        </p:txBody>
      </p:sp>
      <p:sp>
        <p:nvSpPr>
          <p:cNvPr id="18" name="Rounded Rectangle 6">
            <a:extLst>
              <a:ext uri="{FF2B5EF4-FFF2-40B4-BE49-F238E27FC236}">
                <a16:creationId xmlns:a16="http://schemas.microsoft.com/office/drawing/2014/main" id="{5ED4BC28-EE73-B05A-9CF4-69F018E12FFA}"/>
              </a:ext>
            </a:extLst>
          </p:cNvPr>
          <p:cNvSpPr/>
          <p:nvPr/>
        </p:nvSpPr>
        <p:spPr>
          <a:xfrm>
            <a:off x="925830" y="1702055"/>
            <a:ext cx="7680960" cy="4251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76200" rIns="95250" bIns="76200" rtlCol="0" anchor="t"/>
          <a:lstStyle/>
          <a:p>
            <a:pPr>
              <a:defRPr sz="1100">
                <a:solidFill>
                  <a:srgbClr val="0F172A"/>
                </a:solidFill>
                <a:latin typeface="Aptos"/>
              </a:defRPr>
            </a:pPr>
            <a:r>
              <a:rPr lang="zh-CN" altLang="en-US" sz="1200" dirty="0"/>
              <a:t>让它去挑战假设,揭示你遗漏了什么。</a:t>
            </a:r>
            <a:r>
              <a:rPr lang="en-US" sz="1200" b="1" dirty="0">
                <a:solidFill>
                  <a:srgbClr val="0F2240"/>
                </a:solidFill>
                <a:latin typeface="Aptos Display"/>
              </a:rPr>
              <a:t> </a:t>
            </a:r>
            <a:r>
              <a:rPr lang="en-US" sz="1050" b="1" dirty="0">
                <a:solidFill>
                  <a:srgbClr val="0F2240"/>
                </a:solidFill>
                <a:latin typeface="Aptos Display"/>
              </a:rPr>
              <a:t>		</a:t>
            </a:r>
            <a:r>
              <a:rPr lang="zh-CN" altLang="en-US" sz="1200" b="1" dirty="0">
                <a:solidFill>
                  <a:srgbClr val="0F2240"/>
                </a:solidFill>
                <a:latin typeface="Aptos Display"/>
              </a:rPr>
              <a:t>用AI揭示盲点</a:t>
            </a:r>
            <a:endParaRPr sz="1050" dirty="0"/>
          </a:p>
        </p:txBody>
      </p:sp>
      <p:sp>
        <p:nvSpPr>
          <p:cNvPr id="19" name="Rounded Rectangle 6">
            <a:extLst>
              <a:ext uri="{FF2B5EF4-FFF2-40B4-BE49-F238E27FC236}">
                <a16:creationId xmlns:a16="http://schemas.microsoft.com/office/drawing/2014/main" id="{DC450312-0BE0-FC19-0580-8BE41A7D3E0D}"/>
              </a:ext>
            </a:extLst>
          </p:cNvPr>
          <p:cNvSpPr/>
          <p:nvPr/>
        </p:nvSpPr>
        <p:spPr>
          <a:xfrm>
            <a:off x="925830" y="2343546"/>
            <a:ext cx="7680960" cy="4251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76200" rIns="95250" bIns="76200" rtlCol="0" anchor="t"/>
          <a:lstStyle/>
          <a:p>
            <a:pPr>
              <a:defRPr sz="1100">
                <a:solidFill>
                  <a:srgbClr val="0F172A"/>
                </a:solidFill>
                <a:latin typeface="Aptos"/>
              </a:defRPr>
            </a:pPr>
            <a:r>
              <a:rPr lang="zh-CN" altLang="en-US" sz="1200" dirty="0"/>
              <a:t>快速进行实验、比较变体并衡量结果。</a:t>
            </a:r>
            <a:r>
              <a:rPr lang="en-US" sz="1200" b="1" dirty="0">
                <a:solidFill>
                  <a:srgbClr val="0F2240"/>
                </a:solidFill>
                <a:latin typeface="Aptos Display"/>
              </a:rPr>
              <a:t> </a:t>
            </a:r>
            <a:r>
              <a:rPr lang="en-US" sz="1050" b="1" dirty="0">
                <a:solidFill>
                  <a:srgbClr val="0F2240"/>
                </a:solidFill>
                <a:latin typeface="Aptos Display"/>
              </a:rPr>
              <a:t>		</a:t>
            </a:r>
            <a:r>
              <a:rPr lang="zh-CN" altLang="en-US" sz="1200" b="1" dirty="0">
                <a:solidFill>
                  <a:srgbClr val="0F2240"/>
                </a:solidFill>
                <a:latin typeface="Aptos Display"/>
              </a:rPr>
              <a:t>用小循环快速测试</a:t>
            </a:r>
            <a:endParaRPr lang="en-US" sz="1050" dirty="0"/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89EE10C2-A7E1-3445-D11E-FBE37FF438DC}"/>
              </a:ext>
            </a:extLst>
          </p:cNvPr>
          <p:cNvSpPr/>
          <p:nvPr/>
        </p:nvSpPr>
        <p:spPr>
          <a:xfrm>
            <a:off x="925830" y="2975738"/>
            <a:ext cx="7680960" cy="4251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76200" rIns="95250" bIns="76200" rtlCol="0" anchor="t"/>
          <a:lstStyle/>
          <a:p>
            <a:pPr>
              <a:defRPr sz="1100">
                <a:solidFill>
                  <a:srgbClr val="0F172A"/>
                </a:solidFill>
                <a:latin typeface="Aptos"/>
              </a:defRPr>
            </a:pPr>
            <a:r>
              <a:rPr lang="zh-CN" altLang="en-US" sz="1200" dirty="0"/>
              <a:t>把成功的模式转化为模板、检查清单与工作流。</a:t>
            </a:r>
            <a:r>
              <a:rPr lang="en-US" sz="1200" b="1" dirty="0">
                <a:solidFill>
                  <a:srgbClr val="0F2240"/>
                </a:solidFill>
                <a:latin typeface="Aptos Display"/>
              </a:rPr>
              <a:t> </a:t>
            </a:r>
            <a:r>
              <a:rPr lang="en-US" sz="1050" b="1" dirty="0">
                <a:solidFill>
                  <a:srgbClr val="0F2240"/>
                </a:solidFill>
                <a:latin typeface="Aptos Display"/>
              </a:rPr>
              <a:t>	</a:t>
            </a:r>
            <a:r>
              <a:rPr lang="zh-CN" altLang="en-US" sz="1200" b="1" dirty="0" err="1">
                <a:solidFill>
                  <a:srgbClr val="0F2240"/>
                </a:solidFill>
                <a:latin typeface="Aptos Display"/>
              </a:rPr>
              <a:t>把有效的做法固化下来</a:t>
            </a:r>
            <a:endParaRPr lang="en-US" sz="1050" dirty="0"/>
          </a:p>
        </p:txBody>
      </p:sp>
      <p:sp>
        <p:nvSpPr>
          <p:cNvPr id="21" name="Rounded Rectangle 6">
            <a:extLst>
              <a:ext uri="{FF2B5EF4-FFF2-40B4-BE49-F238E27FC236}">
                <a16:creationId xmlns:a16="http://schemas.microsoft.com/office/drawing/2014/main" id="{406E7A55-2B63-DCA3-A264-D88AAA38B372}"/>
              </a:ext>
            </a:extLst>
          </p:cNvPr>
          <p:cNvSpPr/>
          <p:nvPr/>
        </p:nvSpPr>
        <p:spPr>
          <a:xfrm>
            <a:off x="925830" y="3592957"/>
            <a:ext cx="7680960" cy="4251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76200" rIns="95250" bIns="76200" rtlCol="0" anchor="t"/>
          <a:lstStyle/>
          <a:p>
            <a:pPr>
              <a:defRPr sz="1100">
                <a:solidFill>
                  <a:srgbClr val="0F172A"/>
                </a:solidFill>
                <a:latin typeface="Aptos"/>
              </a:defRPr>
            </a:pPr>
            <a:r>
              <a:rPr lang="zh-CN" altLang="en-US" sz="1200" dirty="0"/>
              <a:t>战略、判断、风险与最终审批,始终留在团队手中。</a:t>
            </a:r>
            <a:r>
              <a:rPr lang="en-US" sz="1200" b="1" dirty="0">
                <a:solidFill>
                  <a:srgbClr val="0F2240"/>
                </a:solidFill>
                <a:latin typeface="Aptos Display"/>
              </a:rPr>
              <a:t> </a:t>
            </a:r>
            <a:r>
              <a:rPr lang="en-US" sz="1050" b="1" dirty="0">
                <a:solidFill>
                  <a:srgbClr val="0F2240"/>
                </a:solidFill>
                <a:latin typeface="Aptos Display"/>
              </a:rPr>
              <a:t>	</a:t>
            </a:r>
            <a:r>
              <a:rPr lang="zh-CN" altLang="en-US" sz="1200" b="1" dirty="0" err="1">
                <a:solidFill>
                  <a:srgbClr val="0F2240"/>
                </a:solidFill>
                <a:latin typeface="Aptos Display"/>
              </a:rPr>
              <a:t>确保问责始终在人</a:t>
            </a:r>
            <a:endParaRPr lang="en-US" sz="1050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104B41C0-6212-C91A-6D35-06671BA62230}"/>
              </a:ext>
            </a:extLst>
          </p:cNvPr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1E293B"/>
                </a:solidFill>
              </a:rPr>
              <a:t>一份实用的操作手册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785450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1E293B"/>
                </a:solidFill>
              </a:rPr>
              <a:t>Vibe Coding实战:已构建的AI增强工具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50" i="1" dirty="0">
                <a:solidFill>
                  <a:srgbClr val="64748B"/>
                </a:solidFill>
              </a:rPr>
              <a:t>真实世界中AI辅助构建的工具,展示了放大器效应在实践中的体现。它们是为解决真实的测试与生产力问题而搭建的。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4206240" cy="3675888"/>
          </a:xfrm>
          <a:prstGeom prst="roundRect">
            <a:avLst>
              <a:gd name="adj" fmla="val 298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126187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(A)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BugGenie AI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0352" y="1975104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i="1" dirty="0">
                <a:solidFill>
                  <a:srgbClr val="64748B"/>
                </a:solidFill>
              </a:rPr>
              <a:t>由Google Gemini驱动的缺陷工单起草工具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230428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1E293B"/>
                </a:solidFill>
              </a:rPr>
              <a:t>BugGenie AI能把截图和相关材料直接在浏览器中转化为结构化的专业缺陷报告——无需后端,无需安装。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99923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3B82F6"/>
                </a:solidFill>
              </a:rPr>
              <a:t>✓ 通过AI Studio由Google Gemini驱动</a:t>
            </a:r>
            <a:endParaRPr lang="en-US" sz="1100" dirty="0"/>
          </a:p>
          <a:p>
            <a:pPr marL="0" indent="0">
              <a:buNone/>
            </a:pPr>
            <a:r>
              <a:rPr lang="zh-CN" altLang="en-US" sz="1100" dirty="0">
                <a:solidFill>
                  <a:srgbClr val="3B82F6"/>
                </a:solidFill>
              </a:rPr>
              <a:t>✓ 基于浏览器——无需安装,无需构建步骤</a:t>
            </a:r>
            <a:endParaRPr lang="en-US" sz="1100" dirty="0"/>
          </a:p>
          <a:p>
            <a:pPr marL="0" indent="0">
              <a:buNone/>
            </a:pPr>
            <a:r>
              <a:rPr lang="zh-CN" altLang="en-US" sz="1100" dirty="0">
                <a:solidFill>
                  <a:srgbClr val="3B82F6"/>
                </a:solidFill>
              </a:rPr>
              <a:t>✓ 支持上传截图与相关材料</a:t>
            </a:r>
            <a:endParaRPr lang="en-US" sz="1100" dirty="0"/>
          </a:p>
          <a:p>
            <a:pPr marL="0" indent="0">
              <a:buNone/>
            </a:pPr>
            <a:r>
              <a:rPr lang="zh-CN" altLang="en-US" sz="1100" dirty="0">
                <a:solidFill>
                  <a:srgbClr val="3B82F6"/>
                </a:solidFill>
              </a:rPr>
              <a:t>✓ 输出结构化、可直接提交的缺陷工单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4005072"/>
            <a:ext cx="3980688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chemeClr val="accent2"/>
                </a:solidFill>
              </a:rPr>
              <a:t>Github</a:t>
            </a:r>
            <a:r>
              <a:rPr lang="zh-CN" altLang="en-US" sz="950" b="1" dirty="0">
                <a:solidFill>
                  <a:schemeClr val="accent2"/>
                </a:solidFill>
              </a:rPr>
              <a:t>代码链接</a:t>
            </a:r>
            <a:r>
              <a:rPr lang="en-US" altLang="zh-CN" sz="950" b="1" dirty="0">
                <a:solidFill>
                  <a:schemeClr val="accent2"/>
                </a:solidFill>
              </a:rPr>
              <a:t>: </a:t>
            </a:r>
            <a:r>
              <a:rPr lang="en-US" sz="950" dirty="0">
                <a:solidFill>
                  <a:srgbClr val="64748B"/>
                </a:solidFill>
                <a:hlinkClick r:id="rId3"/>
              </a:rPr>
              <a:t>github.com/hockchiyeer/ai-powered-auto-bug-ticket-logger</a:t>
            </a:r>
            <a:endParaRPr lang="en-US" sz="950" dirty="0">
              <a:solidFill>
                <a:srgbClr val="64748B"/>
              </a:solidFill>
            </a:endParaRPr>
          </a:p>
          <a:p>
            <a:r>
              <a:rPr lang="zh-CN" altLang="en-US" sz="950" b="1" dirty="0">
                <a:solidFill>
                  <a:schemeClr val="accent2"/>
                </a:solidFill>
              </a:rPr>
              <a:t>应用链接</a:t>
            </a:r>
            <a:r>
              <a:rPr lang="en-US" altLang="zh-CN" sz="950" b="1">
                <a:solidFill>
                  <a:schemeClr val="accent2"/>
                </a:solidFill>
              </a:rPr>
              <a:t>: </a:t>
            </a:r>
            <a:r>
              <a:rPr lang="en-US" altLang="zh-CN" sz="900">
                <a:hlinkClick r:id="rId4"/>
              </a:rPr>
              <a:t>aistudio.google.com/apps/ce12cbda-aa17-405d-9018-96a8ef249d29?showPreview=true&amp;showAssistant=true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1115568"/>
            <a:ext cx="4206240" cy="3675888"/>
          </a:xfrm>
          <a:prstGeom prst="roundRect">
            <a:avLst>
              <a:gd name="adj" fmla="val 2985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36592" y="126187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(B)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36592" y="1536192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800" b="1" dirty="0">
                <a:solidFill>
                  <a:srgbClr val="1E293B"/>
                </a:solidFill>
              </a:rPr>
              <a:t>敏捷成熟度</a:t>
            </a:r>
            <a:endParaRPr lang="en-US" sz="1800" dirty="0"/>
          </a:p>
          <a:p>
            <a:pPr marL="0" indent="0">
              <a:buNone/>
            </a:pPr>
            <a:r>
              <a:rPr lang="zh-CN" altLang="en-US" sz="1800" b="1" dirty="0">
                <a:solidFill>
                  <a:srgbClr val="1E293B"/>
                </a:solidFill>
              </a:rPr>
              <a:t>评估应用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36592" y="221284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i="1" dirty="0">
                <a:solidFill>
                  <a:srgbClr val="64748B"/>
                </a:solidFill>
              </a:rPr>
              <a:t>原生浏览器静态JavaScript应用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36592" y="2542032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1E293B"/>
                </a:solidFill>
              </a:rPr>
              <a:t>一个完全自包含的敏捷成熟度评估应用,只需打开index.html即可运行——无需构建步骤、无需安装包、无需开发服务器、无需任何部署封装。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73168" y="318211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10B981"/>
                </a:solidFill>
              </a:rPr>
              <a:t>✓ 100%原生浏览器运行——纯HTML、CSS与JS</a:t>
            </a:r>
            <a:endParaRPr lang="en-US" sz="1100" dirty="0"/>
          </a:p>
          <a:p>
            <a:pPr marL="0" indent="0">
              <a:buNone/>
            </a:pPr>
            <a:r>
              <a:rPr lang="zh-CN" altLang="en-US" sz="1100" dirty="0">
                <a:solidFill>
                  <a:srgbClr val="10B981"/>
                </a:solidFill>
              </a:rPr>
              <a:t>✓ 零依赖:无需npm、无需打包工具、无需服务器</a:t>
            </a:r>
            <a:endParaRPr lang="en-US" sz="1100" dirty="0"/>
          </a:p>
          <a:p>
            <a:pPr marL="0" indent="0">
              <a:buNone/>
            </a:pPr>
            <a:r>
              <a:rPr lang="zh-CN" altLang="en-US" sz="1100" dirty="0">
                <a:solidFill>
                  <a:srgbClr val="10B981"/>
                </a:solidFill>
              </a:rPr>
              <a:t>✓ 直接打开index.html即可本地运行</a:t>
            </a:r>
            <a:endParaRPr lang="en-US" sz="1100" dirty="0"/>
          </a:p>
          <a:p>
            <a:pPr marL="0" indent="0">
              <a:buNone/>
            </a:pPr>
            <a:r>
              <a:rPr lang="zh-CN" altLang="en-US" sz="1100" dirty="0">
                <a:solidFill>
                  <a:srgbClr val="10B981"/>
                </a:solidFill>
              </a:rPr>
              <a:t>✓ 一步即可部署到GitHub Pages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36592" y="4133088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 err="1">
                <a:solidFill>
                  <a:schemeClr val="accent2"/>
                </a:solidFill>
              </a:rPr>
              <a:t>Github</a:t>
            </a:r>
            <a:r>
              <a:rPr lang="zh-CN" altLang="en-US" sz="950" b="1" dirty="0">
                <a:solidFill>
                  <a:schemeClr val="accent2"/>
                </a:solidFill>
              </a:rPr>
              <a:t>代码链接</a:t>
            </a:r>
            <a:r>
              <a:rPr lang="en-US" altLang="zh-CN" sz="950" b="1" dirty="0">
                <a:solidFill>
                  <a:schemeClr val="accent2"/>
                </a:solidFill>
              </a:rPr>
              <a:t>: </a:t>
            </a:r>
            <a:r>
              <a:rPr lang="en-US" sz="950" dirty="0">
                <a:solidFill>
                  <a:srgbClr val="64748B"/>
                </a:solidFill>
                <a:hlinkClick r:id="rId5"/>
              </a:rPr>
              <a:t>github.com/hockchiyeer/google-ai-studio-generated-agile-maturity-assessment-app</a:t>
            </a:r>
            <a:endParaRPr lang="en-US" sz="950" dirty="0">
              <a:solidFill>
                <a:srgbClr val="64748B"/>
              </a:solidFill>
            </a:endParaRPr>
          </a:p>
          <a:p>
            <a:r>
              <a:rPr lang="zh-CN" altLang="en-US" sz="950" b="1" dirty="0">
                <a:solidFill>
                  <a:schemeClr val="accent2"/>
                </a:solidFill>
              </a:rPr>
              <a:t>应用链接</a:t>
            </a:r>
            <a:r>
              <a:rPr lang="en-US" altLang="zh-CN" sz="950" b="1" dirty="0">
                <a:solidFill>
                  <a:schemeClr val="accent2"/>
                </a:solidFill>
              </a:rPr>
              <a:t>: </a:t>
            </a:r>
            <a:r>
              <a:rPr lang="en-US" altLang="zh-CN" sz="900" dirty="0">
                <a:hlinkClick r:id="rId6"/>
              </a:rPr>
              <a:t>https://hockchiyeer.github.io/google-ai-studio-generated-agile-maturity-assessment-app</a:t>
            </a:r>
            <a:endParaRPr lang="en-US" sz="900" dirty="0">
              <a:solidFill>
                <a:srgbClr val="64748B"/>
              </a:solidFill>
            </a:endParaRPr>
          </a:p>
          <a:p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000" b="1" kern="0" spc="300" dirty="0">
                <a:solidFill>
                  <a:srgbClr val="3B82F6"/>
                </a:solidFill>
              </a:rPr>
              <a:t>AI VIBE CODING生产力工具排名(个人体验)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2100" b="1" dirty="0">
                <a:solidFill>
                  <a:srgbClr val="FFFFFF"/>
                </a:solidFill>
              </a:rPr>
              <a:t>针对 </a:t>
            </a:r>
            <a:r>
              <a:rPr lang="en-US" altLang="zh-CN" sz="2100" b="1" dirty="0">
                <a:solidFill>
                  <a:srgbClr val="FFFFFF"/>
                </a:solidFill>
              </a:rPr>
              <a:t>Vibe</a:t>
            </a:r>
            <a:r>
              <a:rPr lang="zh-CN" altLang="en-US" sz="2100" b="1" dirty="0">
                <a:solidFill>
                  <a:srgbClr val="FFFFFF"/>
                </a:solidFill>
              </a:rPr>
              <a:t> </a:t>
            </a:r>
            <a:r>
              <a:rPr lang="en-US" altLang="zh-CN" sz="2100" b="1" dirty="0">
                <a:solidFill>
                  <a:srgbClr val="FFFFFF"/>
                </a:solidFill>
              </a:rPr>
              <a:t>Coding </a:t>
            </a:r>
            <a:r>
              <a:rPr lang="zh-CN" altLang="en-US" sz="2100" b="1" dirty="0">
                <a:solidFill>
                  <a:srgbClr val="FFFFFF"/>
                </a:solidFill>
              </a:rPr>
              <a:t>任务的效率、准确性与输出质量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100" i="1" dirty="0">
                <a:solidFill>
                  <a:srgbClr val="94A3B8"/>
                </a:solidFill>
              </a:rPr>
              <a:t>排名基于在Java、TypeScript、JavaScript、Python、HTML与PostgreSQL项目中的个人体验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563624"/>
            <a:ext cx="7406640" cy="566928"/>
          </a:xfrm>
          <a:prstGeom prst="roundRect">
            <a:avLst>
              <a:gd name="adj" fmla="val 967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618488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6184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8562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GPT-5.5 Ultra High Thinking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09560" y="1600200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</a:rPr>
              <a:t>9.0 /10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2267712"/>
            <a:ext cx="6400800" cy="566928"/>
          </a:xfrm>
          <a:prstGeom prst="roundRect">
            <a:avLst>
              <a:gd name="adj" fmla="val 9677"/>
            </a:avLst>
          </a:prstGeom>
          <a:solidFill>
            <a:srgbClr val="3B82F6">
              <a:alpha val="7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322576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3225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560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Claude Sonnet 4.6 High Thinking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09560" y="2304288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82F6"/>
                </a:solidFill>
              </a:rPr>
              <a:t>7.8 /10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5577840" cy="566928"/>
          </a:xfrm>
          <a:prstGeom prst="roundRect">
            <a:avLst>
              <a:gd name="adj" fmla="val 9677"/>
            </a:avLst>
          </a:prstGeom>
          <a:solidFill>
            <a:srgbClr val="22D3EE">
              <a:alpha val="75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026664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0266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2644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cursor.com/agents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909560" y="3008376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</a:rPr>
              <a:t>6.8 /10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65760" y="3675888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3730752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7307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396849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GPT-4.1 mini model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909560" y="3712464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</a:rPr>
              <a:t>5.8 /10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65760" y="4379976"/>
            <a:ext cx="4572000" cy="566928"/>
          </a:xfrm>
          <a:prstGeom prst="roundRect">
            <a:avLst>
              <a:gd name="adj" fmla="val 9677"/>
            </a:avLst>
          </a:prstGeom>
          <a:solidFill>
            <a:srgbClr val="94A3B8">
              <a:alpha val="75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4434840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4434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05840" y="4672584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Gemini Pro 3.1 High Thinking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909560" y="4416552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4A3B8"/>
                </a:solidFill>
              </a:rPr>
              <a:t>5.6 /10</a:t>
            </a:r>
            <a:endParaRPr lang="en-US" sz="1500" dirty="0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FFD6D935-1C2E-F4BF-5210-B28D91C70258}"/>
              </a:ext>
            </a:extLst>
          </p:cNvPr>
          <p:cNvSpPr/>
          <p:nvPr/>
        </p:nvSpPr>
        <p:spPr>
          <a:xfrm>
            <a:off x="1005839" y="1581912"/>
            <a:ext cx="713232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Codex</a:t>
            </a:r>
            <a:r>
              <a:rPr lang="en-US" sz="1300" b="1" dirty="0">
                <a:solidFill>
                  <a:schemeClr val="bg1"/>
                </a:solidFill>
              </a:rPr>
              <a:t>		                                                  </a:t>
            </a:r>
            <a:r>
              <a:rPr lang="en-US" sz="105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https://openai.com/codex/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C887E551-5B2D-0006-AEC3-CFE6BC8AA375}"/>
              </a:ext>
            </a:extLst>
          </p:cNvPr>
          <p:cNvSpPr/>
          <p:nvPr/>
        </p:nvSpPr>
        <p:spPr>
          <a:xfrm>
            <a:off x="1005839" y="2286000"/>
            <a:ext cx="63715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Antigravity</a:t>
            </a:r>
            <a:r>
              <a:rPr lang="en-US" sz="1300" b="1" dirty="0">
                <a:solidFill>
                  <a:schemeClr val="bg1"/>
                </a:solidFill>
              </a:rPr>
              <a:t>			         </a:t>
            </a:r>
            <a:r>
              <a:rPr lang="en-US" sz="105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https://antigravity.google/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2F94CE8D-9B80-FEF2-7FAF-94E9F1935C57}"/>
              </a:ext>
            </a:extLst>
          </p:cNvPr>
          <p:cNvSpPr/>
          <p:nvPr/>
        </p:nvSpPr>
        <p:spPr>
          <a:xfrm>
            <a:off x="1005840" y="3096559"/>
            <a:ext cx="5705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Cursor Agents</a:t>
            </a:r>
            <a:r>
              <a:rPr lang="en-US" sz="1300" b="1" dirty="0">
                <a:solidFill>
                  <a:schemeClr val="bg1"/>
                </a:solidFill>
              </a:rPr>
              <a:t>		           </a:t>
            </a:r>
            <a:r>
              <a:rPr lang="en-US" sz="1050" dirty="0">
                <a:solidFill>
                  <a:srgbClr val="FFFFFF"/>
                </a:solidFill>
              </a:rPr>
              <a:t>https://cursor.com/agents</a:t>
            </a:r>
            <a:endParaRPr lang="en-US" sz="1600" dirty="0"/>
          </a:p>
          <a:p>
            <a:pPr marL="0" indent="0">
              <a:buNone/>
            </a:pP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39" name="Text 25">
            <a:extLst>
              <a:ext uri="{FF2B5EF4-FFF2-40B4-BE49-F238E27FC236}">
                <a16:creationId xmlns:a16="http://schemas.microsoft.com/office/drawing/2014/main" id="{FB4E38F3-E467-3AC8-DA01-4663B5B4571E}"/>
              </a:ext>
            </a:extLst>
          </p:cNvPr>
          <p:cNvSpPr/>
          <p:nvPr/>
        </p:nvSpPr>
        <p:spPr>
          <a:xfrm>
            <a:off x="1005840" y="3694176"/>
            <a:ext cx="5705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Copilot Free</a:t>
            </a:r>
            <a:r>
              <a:rPr lang="en-US" sz="1300" b="1" dirty="0">
                <a:solidFill>
                  <a:schemeClr val="bg1"/>
                </a:solidFill>
              </a:rPr>
              <a:t>	     </a:t>
            </a:r>
            <a:r>
              <a:rPr lang="en-US" sz="10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https://github.com/features/copilot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40" name="Text 31">
            <a:extLst>
              <a:ext uri="{FF2B5EF4-FFF2-40B4-BE49-F238E27FC236}">
                <a16:creationId xmlns:a16="http://schemas.microsoft.com/office/drawing/2014/main" id="{ABB96F39-CCA5-E252-308D-5DD1401B36D9}"/>
              </a:ext>
            </a:extLst>
          </p:cNvPr>
          <p:cNvSpPr/>
          <p:nvPr/>
        </p:nvSpPr>
        <p:spPr>
          <a:xfrm>
            <a:off x="1005840" y="4473420"/>
            <a:ext cx="5705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Antigravity</a:t>
            </a:r>
            <a:r>
              <a:rPr lang="en-US" sz="1300" b="1" dirty="0">
                <a:solidFill>
                  <a:schemeClr val="bg1"/>
                </a:solidFill>
              </a:rPr>
              <a:t>	           </a:t>
            </a:r>
            <a:r>
              <a:rPr lang="en-US" sz="10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https://antigravity.google/ </a:t>
            </a:r>
            <a:r>
              <a:rPr lang="en-US" sz="1300" b="1" dirty="0">
                <a:solidFill>
                  <a:schemeClr val="bg1"/>
                </a:solidFill>
              </a:rPr>
              <a:t>			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943600" cy="59436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1828800"/>
            <a:ext cx="5029200" cy="5029200"/>
          </a:xfrm>
          <a:prstGeom prst="ellipse">
            <a:avLst/>
          </a:prstGeom>
          <a:solidFill>
            <a:srgbClr val="22D3EE">
              <a:alpha val="9000"/>
            </a:srgbClr>
          </a:solidFill>
          <a:ln w="12700">
            <a:solidFill>
              <a:srgbClr val="22D3EE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000" b="1" kern="0" spc="300" dirty="0">
                <a:solidFill>
                  <a:srgbClr val="22D3EE"/>
                </a:solidFill>
              </a:rPr>
              <a:t>最关键的问题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6751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3600" b="1" dirty="0">
                <a:solidFill>
                  <a:srgbClr val="FFFFFF"/>
                </a:solidFill>
              </a:rPr>
              <a:t>只有一个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94360" y="1353312"/>
            <a:ext cx="7955280" cy="2331720"/>
          </a:xfrm>
          <a:prstGeom prst="roundRect">
            <a:avLst>
              <a:gd name="adj" fmla="val 4706"/>
            </a:avLst>
          </a:prstGeom>
          <a:solidFill>
            <a:srgbClr val="1A2E45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444752"/>
            <a:ext cx="75895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400" dirty="0">
                <a:solidFill>
                  <a:srgbClr val="F1F5F9"/>
                </a:solidFill>
              </a:rPr>
              <a:t>如果你的团队完全停止把时间花在被动反应式的任务上——回应竞争对手的公告、生成常规报告、处理低价值的沟通工作——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zh-CN" altLang="en-US" sz="1400" dirty="0">
                <a:solidFill>
                  <a:srgbClr val="F1F5F9"/>
                </a:solidFill>
              </a:rPr>
              <a:t>并把释放出来的精力,投入到AI增强的战略性工作中,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zh-CN" altLang="en-US" sz="1400" dirty="0">
                <a:solidFill>
                  <a:srgbClr val="F1F5F9"/>
                </a:solidFill>
              </a:rPr>
              <a:t>哪些投资能带来额外的</a:t>
            </a:r>
            <a:endParaRPr lang="en-US" sz="1400" dirty="0"/>
          </a:p>
          <a:p>
            <a:pPr marL="0" indent="0" algn="ctr">
              <a:buNone/>
            </a:pPr>
            <a:r>
              <a:rPr lang="zh-CN" altLang="en-US" sz="1400" dirty="0">
                <a:solidFill>
                  <a:srgbClr val="F1F5F9"/>
                </a:solidFill>
              </a:rPr>
              <a:t>1% · 3% · 5% 甚至 10% 的竞争领先优势?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8221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rgbClr val="94A3B8"/>
                </a:solidFill>
              </a:rPr>
              <a:t>这个问题几乎总是比以下问题,更接近竞争优势的真正来源: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160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300" i="1" dirty="0">
                <a:solidFill>
                  <a:srgbClr val="F59E0B"/>
                </a:solidFill>
              </a:rPr>
              <a:t>“我们该如何应对竞争对手最新的产品发布?”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3000" b="1" dirty="0">
                <a:solidFill>
                  <a:srgbClr val="1E293B"/>
                </a:solidFill>
              </a:rPr>
              <a:t>核心要点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84632" y="941832"/>
            <a:ext cx="493776" cy="49377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84632" y="94183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15568" y="886968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50" b="1" dirty="0">
                <a:solidFill>
                  <a:srgbClr val="1E293B"/>
                </a:solidFill>
              </a:rPr>
              <a:t>AI是放大器——方向最重要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15568" y="1207008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64748B"/>
                </a:solidFill>
              </a:rPr>
              <a:t>AI不会决定结果——你的战略才会。正确的战略被放大,会产生超额回报;有缺陷的战略被放大,会加速走向失败。先把方向修正好。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" y="1746504"/>
            <a:ext cx="493776" cy="49377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" y="174650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✖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5568" y="1691640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50" b="1" dirty="0">
                <a:solidFill>
                  <a:srgbClr val="1E293B"/>
                </a:solidFill>
              </a:rPr>
              <a:t>倍增器是双向的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15568" y="2011680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64748B"/>
                </a:solidFill>
              </a:rPr>
              <a:t>每一次AI部署都是力量倍增器。大规模生产有缺陷的话术不是力量——而是规模化的弱点。唯有清晰的战略经AI倍增,才是通往持久优势的道路。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450592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4632" y="2551176"/>
            <a:ext cx="493776" cy="49377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" y="255117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▲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15568" y="2496312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50" b="1" dirty="0">
                <a:solidFill>
                  <a:srgbClr val="1E293B"/>
                </a:solidFill>
              </a:rPr>
              <a:t>复利器奖励先行者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15568" y="2816352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64748B"/>
                </a:solidFill>
              </a:rPr>
              <a:t>AI的优势通过数据、工作流与速度护城河实现复利累积。今天构建AI系统的团队,会建立起后来者无论投入多少预算都难以追平的领先优势。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55264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4632" y="3355848"/>
            <a:ext cx="493776" cy="49377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" y="335584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◆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15568" y="3300984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50" b="1" dirty="0">
                <a:solidFill>
                  <a:srgbClr val="1E293B"/>
                </a:solidFill>
              </a:rPr>
              <a:t>掌控战略——用AI来加速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15568" y="3621024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64748B"/>
                </a:solidFill>
              </a:rPr>
              <a:t>用AI来生成框架、检索知识、分析数据并规模化执行。但战略逻辑、核心假设与质量标准,始终要由你自己掌控。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59936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4632" y="4160520"/>
            <a:ext cx="493776" cy="49377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" y="416052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15568" y="4105656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50" b="1" dirty="0">
                <a:solidFill>
                  <a:srgbClr val="1E293B"/>
                </a:solidFill>
              </a:rPr>
              <a:t>减法原则:重置,而非放大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15568" y="4425696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64748B"/>
                </a:solidFill>
              </a:rPr>
              <a:t>当AI失控时——重置到干净状态,切换模型,注入新的视角。在错误轨道上投入更多算力,只是朝错误方向的暴力蛮干。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71450" cy="514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ectangle 2"/>
          <p:cNvSpPr/>
          <p:nvPr/>
        </p:nvSpPr>
        <p:spPr>
          <a:xfrm>
            <a:off x="8846820" y="0"/>
            <a:ext cx="294894" cy="514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TextBox 3"/>
          <p:cNvSpPr txBox="1"/>
          <p:nvPr/>
        </p:nvSpPr>
        <p:spPr>
          <a:xfrm>
            <a:off x="548639" y="720090"/>
            <a:ext cx="6997081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</a:pPr>
            <a:r>
              <a:rPr sz="2800" b="1" dirty="0">
                <a:solidFill>
                  <a:srgbClr val="FFFFFF"/>
                </a:solidFill>
                <a:latin typeface="Aptos Display"/>
              </a:rPr>
              <a:t>AI:放大器、倍增器与复利器</a:t>
            </a:r>
            <a:endParaRPr lang="en-US" sz="2800" b="1" dirty="0">
              <a:solidFill>
                <a:srgbClr val="FFFFFF"/>
              </a:solidFill>
              <a:latin typeface="Aptos Display"/>
            </a:endParaRPr>
          </a:p>
          <a:p>
            <a:r>
              <a:rPr lang="zh-CN" altLang="en-US" sz="1600" dirty="0">
                <a:solidFill>
                  <a:srgbClr val="E2E8F0"/>
                </a:solidFill>
                <a:latin typeface="Aptos"/>
              </a:rPr>
              <a:t>AI会强化你企业已经在做的事——无论好坏。</a:t>
            </a:r>
            <a:endParaRPr lang="en-US" sz="1200" dirty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82930" y="2488378"/>
            <a:ext cx="1543050" cy="329184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FFFFFF"/>
                </a:solidFill>
                <a:latin typeface="Aptos"/>
              </a:rPr>
              <a:t>以目标为导向</a:t>
            </a:r>
            <a:endParaRPr sz="14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331720" y="2488378"/>
            <a:ext cx="1543050" cy="32918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战略为先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80509" y="2488378"/>
            <a:ext cx="172862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执行在后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930" y="3669030"/>
            <a:ext cx="6073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FFFFFF"/>
                </a:solidFill>
                <a:latin typeface="Aptos Display"/>
              </a:rPr>
              <a:t>用AI来拓宽你的优势——而不是把糟糕的判断自动化。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-1828800"/>
            <a:ext cx="6858000" cy="6858000"/>
          </a:xfrm>
          <a:prstGeom prst="ellipse">
            <a:avLst/>
          </a:prstGeom>
          <a:solidFill>
            <a:srgbClr val="3B82F6">
              <a:alpha val="13000"/>
            </a:srgbClr>
          </a:solidFill>
          <a:ln w="12700">
            <a:solidFill>
              <a:srgbClr val="3B82F6">
                <a:alpha val="13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286000" y="2286000"/>
            <a:ext cx="5029200" cy="502920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000" b="1" kern="0" spc="300" dirty="0">
                <a:solidFill>
                  <a:srgbClr val="3B82F6"/>
                </a:solidFill>
              </a:rPr>
              <a:t>你的AI之旅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4200" b="1" dirty="0">
                <a:solidFill>
                  <a:srgbClr val="FFFFFF"/>
                </a:solidFill>
              </a:rPr>
              <a:t>从这里开始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029968"/>
            <a:ext cx="7680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600" i="1" dirty="0">
                <a:solidFill>
                  <a:srgbClr val="94A3B8"/>
                </a:solidFill>
              </a:rPr>
              <a:t>不是用AI说更多的话</a:t>
            </a:r>
            <a:endParaRPr lang="en-US" sz="1600" dirty="0"/>
          </a:p>
          <a:p>
            <a:pPr marL="0" indent="0" algn="ctr">
              <a:buNone/>
            </a:pPr>
            <a:r>
              <a:rPr lang="zh-CN" altLang="en-US" sz="1600" i="1" dirty="0">
                <a:solidFill>
                  <a:srgbClr val="94A3B8"/>
                </a:solidFill>
              </a:rPr>
              <a:t>而是用AI更清楚地看清你究竟在做什么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3035808"/>
            <a:ext cx="2377440" cy="1115568"/>
          </a:xfrm>
          <a:prstGeom prst="roundRect">
            <a:avLst>
              <a:gd name="adj" fmla="val 8197"/>
            </a:avLst>
          </a:prstGeom>
          <a:solidFill>
            <a:srgbClr val="1A2E45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76822" y="312724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rgbClr val="22D3EE"/>
                </a:solidFill>
              </a:rPr>
              <a:t>→ 放大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rgbClr val="94A3B8"/>
                </a:solidFill>
              </a:rPr>
              <a:t>正确的战略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49042" y="3035808"/>
            <a:ext cx="2377440" cy="1115568"/>
          </a:xfrm>
          <a:prstGeom prst="roundRect">
            <a:avLst>
              <a:gd name="adj" fmla="val 8197"/>
            </a:avLst>
          </a:prstGeom>
          <a:solidFill>
            <a:srgbClr val="1A2E45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23990" y="312724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rgbClr val="22D3EE"/>
                </a:solidFill>
              </a:rPr>
              <a:t>→ 倍增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49042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rgbClr val="94A3B8"/>
                </a:solidFill>
              </a:rPr>
              <a:t>有效的执行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71158" y="3035808"/>
            <a:ext cx="2377440" cy="1115568"/>
          </a:xfrm>
          <a:prstGeom prst="roundRect">
            <a:avLst>
              <a:gd name="adj" fmla="val 8197"/>
            </a:avLst>
          </a:prstGeom>
          <a:solidFill>
            <a:srgbClr val="1A2E45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58424" y="312724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rgbClr val="22D3EE"/>
                </a:solidFill>
              </a:rPr>
              <a:t>→ 复利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89739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rgbClr val="94A3B8"/>
                </a:solidFill>
              </a:rPr>
              <a:t>竞争优势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94A3B8"/>
                </a:solidFill>
              </a:rPr>
              <a:t>Er Hock Chiye  |  </a:t>
            </a:r>
            <a:r>
              <a:rPr lang="en-US" sz="1200" b="1" dirty="0">
                <a:solidFill>
                  <a:srgbClr val="94A3B8"/>
                </a:solidFill>
                <a:latin typeface="+mj-lt"/>
              </a:rPr>
              <a:t>AI</a:t>
            </a:r>
            <a:r>
              <a:rPr lang="zh-CN" altLang="en-US" sz="1200" b="1" dirty="0">
                <a:solidFill>
                  <a:srgbClr val="94A3B8"/>
                </a:solidFill>
                <a:latin typeface="+mj-lt"/>
              </a:rPr>
              <a:t>日常用例</a:t>
            </a:r>
            <a:r>
              <a:rPr lang="zh-CN" altLang="en-US" sz="1200" dirty="0">
                <a:solidFill>
                  <a:srgbClr val="94A3B8"/>
                </a:solidFill>
                <a:latin typeface="+mj-lt"/>
              </a:rPr>
              <a:t>实践者</a:t>
            </a:r>
          </a:p>
        </p:txBody>
      </p:sp>
      <p:sp>
        <p:nvSpPr>
          <p:cNvPr id="17" name="Text 15"/>
          <p:cNvSpPr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82F6"/>
                </a:solidFill>
              </a:rPr>
              <a:t>github.com/hockchiyeer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icrosoft YaHei">
      <a:majorFont>
        <a:latin typeface="Arial Black"/>
        <a:ea typeface="微软雅黑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Microsoft Ya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Microsoft Ya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9822</Words>
  <Application>Microsoft Office PowerPoint</Application>
  <PresentationFormat>On-screen Show (16:9)</PresentationFormat>
  <Paragraphs>642</Paragraphs>
  <Slides>35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× Corporate Strategy: Amplifier, Multiplier &amp; Compounder</dc:title>
  <dc:subject>PptxGenJS Presentation</dc:subject>
  <dc:creator>Er Hock Chiye</dc:creator>
  <cp:lastModifiedBy>Yu Fuqi Fuqi</cp:lastModifiedBy>
  <cp:revision>58</cp:revision>
  <dcterms:created xsi:type="dcterms:W3CDTF">2026-06-13T07:00:14Z</dcterms:created>
  <dcterms:modified xsi:type="dcterms:W3CDTF">2026-06-19T06:14:51Z</dcterms:modified>
</cp:coreProperties>
</file>